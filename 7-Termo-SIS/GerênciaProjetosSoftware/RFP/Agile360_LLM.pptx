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20878-580C-01A6-3346-B20364FF5837}" v="270" dt="2026-05-26T02:09:30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D1B2A"/>
                </a:solidFill>
                <a:latin typeface="Arial"/>
              </a:rPr>
              <a:t>Custo mensal estimado (10M tokens)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estimado (USD)</c:v>
                </c:pt>
              </c:strCache>
            </c:strRef>
          </c:tx>
          <c:spPr>
            <a:solidFill>
              <a:srgbClr val="C9644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64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58-4913-B991-61C5223F4A7F}"/>
              </c:ext>
            </c:extLst>
          </c:dPt>
          <c:dPt>
            <c:idx val="1"/>
            <c:invertIfNegative val="0"/>
            <c:bubble3D val="0"/>
            <c:spPr>
              <a:solidFill>
                <a:srgbClr val="10A3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58-4913-B991-61C5223F4A7F}"/>
              </c:ext>
            </c:extLst>
          </c:dPt>
          <c:dPt>
            <c:idx val="2"/>
            <c:invertIfNegative val="0"/>
            <c:bubble3D val="0"/>
            <c:spPr>
              <a:solidFill>
                <a:srgbClr val="4285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58-4913-B991-61C5223F4A7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Anthropic
(Claude)</c:v>
                </c:pt>
                <c:pt idx="1">
                  <c:v>OpenAI
(GPT)</c:v>
                </c:pt>
                <c:pt idx="2">
                  <c:v>Google
(Gemini)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350</c:v>
                </c:pt>
                <c:pt idx="2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58-4913-B991-61C5223F4A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851C6-EB5E-4F01-BC48-AF7F913494B1}" type="datetimeFigureOut"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318EE-6B94-4F30-8365-F3B19E92B25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95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58437"/>
            <a:ext cx="822960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400" b="1" dirty="0">
                <a:ea typeface="+mn-lt"/>
                <a:cs typeface="+mn-lt"/>
              </a:rPr>
              <a:t>Avaliação de Fornecedores de IA Generativa para o Agile360</a:t>
            </a:r>
            <a:endParaRPr lang="pt-BR" b="1" dirty="0">
              <a:ea typeface="+mn-lt"/>
              <a:cs typeface="+mn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302329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Análise comparativa: Anthropic (Claude) × OpenAI (GPT) × Google (Gemini)</a:t>
            </a:r>
            <a:endParaRPr lang="en-US" sz="1700">
              <a:solidFill>
                <a:schemeClr val="tx1">
                  <a:lumMod val="49000"/>
                  <a:lumOff val="51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7700" y="4662441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dirty="0">
                <a:latin typeface="Calibri"/>
                <a:ea typeface="Calibri"/>
                <a:cs typeface="Calibri"/>
              </a:rPr>
              <a:t>Agile Desenvolvimento e Tecnologia  |  RFP 2026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0" y="3474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23348" y="2927713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GPT</a:t>
            </a:r>
            <a:endParaRPr lang="en-US" sz="1400" dirty="0"/>
          </a:p>
        </p:txBody>
      </p:sp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42C9D9D7-F57D-4840-C2C0-193726CC3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997" y="3114676"/>
            <a:ext cx="1394973" cy="128587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516173D-7D5F-44C2-8B7C-74A49C625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9243" y="3151413"/>
            <a:ext cx="1118508" cy="1151165"/>
          </a:xfrm>
          <a:prstGeom prst="rect">
            <a:avLst/>
          </a:prstGeom>
        </p:spPr>
      </p:pic>
      <p:pic>
        <p:nvPicPr>
          <p:cNvPr id="16" name="Imagem 15" descr="Logotipo, Ícone&#10;&#10;O conteúdo gerado por IA pode estar incorreto.">
            <a:extLst>
              <a:ext uri="{FF2B5EF4-FFF2-40B4-BE49-F238E27FC236}">
                <a16:creationId xmlns:a16="http://schemas.microsoft.com/office/drawing/2014/main" id="{DA8C2E85-540F-BA84-9DDE-55DDCCD6C9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072" y="3151414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Agile360 precisa de IA?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Tempo </a:t>
            </a:r>
            <a:r>
              <a:rPr lang="en-US" sz="1500" b="1" dirty="0" err="1">
                <a:solidFill>
                  <a:srgbClr val="0D1B2A"/>
                </a:solidFill>
              </a:rPr>
              <a:t>perdido</a:t>
            </a:r>
            <a:endParaRPr lang="en-US" sz="1500" dirty="0" err="1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4748B"/>
                </a:solidFill>
              </a:rPr>
              <a:t>Advogados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gastam</a:t>
            </a:r>
            <a:r>
              <a:rPr lang="en-US" sz="1600" dirty="0">
                <a:solidFill>
                  <a:srgbClr val="64748B"/>
                </a:solidFill>
              </a:rPr>
              <a:t> horas </a:t>
            </a:r>
            <a:r>
              <a:rPr lang="en-US" sz="1600" dirty="0" err="1">
                <a:solidFill>
                  <a:srgbClr val="64748B"/>
                </a:solidFill>
              </a:rPr>
              <a:t>redigindo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petições</a:t>
            </a:r>
            <a:r>
              <a:rPr lang="en-US" sz="1600" dirty="0">
                <a:solidFill>
                  <a:srgbClr val="64748B"/>
                </a:solidFill>
              </a:rPr>
              <a:t> e </a:t>
            </a:r>
            <a:r>
              <a:rPr lang="en-US" sz="1600" dirty="0" err="1">
                <a:solidFill>
                  <a:srgbClr val="64748B"/>
                </a:solidFill>
              </a:rPr>
              <a:t>resumindo</a:t>
            </a:r>
            <a:r>
              <a:rPr lang="en-US" sz="1600" dirty="0">
                <a:solidFill>
                  <a:srgbClr val="64748B"/>
                </a:solidFill>
              </a:rPr>
              <a:t> processos </a:t>
            </a:r>
            <a:r>
              <a:rPr lang="en-US" sz="1600" dirty="0" err="1">
                <a:solidFill>
                  <a:srgbClr val="64748B"/>
                </a:solidFill>
              </a:rPr>
              <a:t>manualmente</a:t>
            </a:r>
            <a:r>
              <a:rPr lang="en-US" sz="1600" dirty="0">
                <a:solidFill>
                  <a:srgbClr val="64748B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98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Volume de </a:t>
            </a:r>
            <a:r>
              <a:rPr lang="en-US" sz="1500" b="1" dirty="0" err="1">
                <a:solidFill>
                  <a:srgbClr val="0D1B2A"/>
                </a:solidFill>
              </a:rPr>
              <a:t>documentos</a:t>
            </a:r>
            <a:endParaRPr lang="en-US" sz="1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71907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4748B"/>
                </a:solidFill>
              </a:rPr>
              <a:t>Contratos</a:t>
            </a:r>
            <a:r>
              <a:rPr lang="en-US" sz="1600" dirty="0">
                <a:solidFill>
                  <a:srgbClr val="64748B"/>
                </a:solidFill>
              </a:rPr>
              <a:t>, </a:t>
            </a:r>
            <a:r>
              <a:rPr lang="en-US" sz="1600" dirty="0" err="1">
                <a:solidFill>
                  <a:srgbClr val="64748B"/>
                </a:solidFill>
              </a:rPr>
              <a:t>atas</a:t>
            </a:r>
            <a:r>
              <a:rPr lang="en-US" sz="1600" dirty="0">
                <a:solidFill>
                  <a:srgbClr val="64748B"/>
                </a:solidFill>
              </a:rPr>
              <a:t> e </a:t>
            </a:r>
            <a:r>
              <a:rPr lang="en-US" sz="1600" dirty="0" err="1">
                <a:solidFill>
                  <a:srgbClr val="64748B"/>
                </a:solidFill>
              </a:rPr>
              <a:t>petições</a:t>
            </a:r>
            <a:r>
              <a:rPr lang="en-US" sz="1600" dirty="0">
                <a:solidFill>
                  <a:srgbClr val="64748B"/>
                </a:solidFill>
              </a:rPr>
              <a:t> se </a:t>
            </a:r>
            <a:r>
              <a:rPr lang="en-US" sz="1600" dirty="0" err="1">
                <a:solidFill>
                  <a:srgbClr val="64748B"/>
                </a:solidFill>
              </a:rPr>
              <a:t>acumulam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sem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análise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estruturada</a:t>
            </a:r>
            <a:r>
              <a:rPr lang="en-US" sz="1600" dirty="0">
                <a:solidFill>
                  <a:srgbClr val="64748B"/>
                </a:solidFill>
              </a:rPr>
              <a:t>.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35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  </a:t>
            </a:r>
            <a:r>
              <a:rPr lang="en-US" sz="1500" b="1" dirty="0" err="1">
                <a:solidFill>
                  <a:srgbClr val="0D1B2A"/>
                </a:solidFill>
              </a:rPr>
              <a:t>Cliente</a:t>
            </a:r>
            <a:r>
              <a:rPr lang="en-US" sz="1500" b="1" dirty="0">
                <a:solidFill>
                  <a:srgbClr val="0D1B2A"/>
                </a:solidFill>
              </a:rPr>
              <a:t> no </a:t>
            </a:r>
            <a:r>
              <a:rPr lang="en-US" sz="1500" b="1" dirty="0" err="1">
                <a:solidFill>
                  <a:srgbClr val="0D1B2A"/>
                </a:solidFill>
              </a:rPr>
              <a:t>escuro</a:t>
            </a:r>
            <a:endParaRPr lang="en-US" sz="1500" dirty="0" err="1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4748B"/>
                </a:solidFill>
              </a:rPr>
              <a:t>Clientes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não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entendem</a:t>
            </a:r>
            <a:r>
              <a:rPr lang="en-US" sz="1600" dirty="0">
                <a:solidFill>
                  <a:srgbClr val="64748B"/>
                </a:solidFill>
              </a:rPr>
              <a:t> o "</a:t>
            </a:r>
            <a:r>
              <a:rPr lang="en-US" sz="1600" dirty="0" err="1">
                <a:solidFill>
                  <a:srgbClr val="64748B"/>
                </a:solidFill>
              </a:rPr>
              <a:t>juridiquês</a:t>
            </a:r>
            <a:r>
              <a:rPr lang="en-US" sz="1600" dirty="0">
                <a:solidFill>
                  <a:srgbClr val="64748B"/>
                </a:solidFill>
              </a:rPr>
              <a:t>" das </a:t>
            </a:r>
            <a:r>
              <a:rPr lang="en-US" sz="1600" dirty="0" err="1">
                <a:solidFill>
                  <a:srgbClr val="64748B"/>
                </a:solidFill>
              </a:rPr>
              <a:t>movimentações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processuais</a:t>
            </a:r>
            <a:r>
              <a:rPr lang="en-US" sz="1600" dirty="0">
                <a:solidFill>
                  <a:srgbClr val="64748B"/>
                </a:solidFill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035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Prazos </a:t>
            </a:r>
            <a:r>
              <a:rPr lang="en-US" sz="1500" b="1" dirty="0" err="1">
                <a:solidFill>
                  <a:srgbClr val="0D1B2A"/>
                </a:solidFill>
              </a:rPr>
              <a:t>críticos</a:t>
            </a:r>
            <a:endParaRPr lang="en-US" sz="1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34564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64748B"/>
                </a:solidFill>
              </a:rPr>
              <a:t>Perder</a:t>
            </a:r>
            <a:r>
              <a:rPr lang="en-US" sz="1600" dirty="0">
                <a:solidFill>
                  <a:srgbClr val="64748B"/>
                </a:solidFill>
              </a:rPr>
              <a:t> um </a:t>
            </a:r>
            <a:r>
              <a:rPr lang="en-US" sz="1600" dirty="0" err="1">
                <a:solidFill>
                  <a:srgbClr val="64748B"/>
                </a:solidFill>
              </a:rPr>
              <a:t>prazo</a:t>
            </a:r>
            <a:r>
              <a:rPr lang="en-US" sz="1600" dirty="0">
                <a:solidFill>
                  <a:srgbClr val="64748B"/>
                </a:solidFill>
              </a:rPr>
              <a:t> processual </a:t>
            </a:r>
            <a:r>
              <a:rPr lang="en-US" sz="1600" dirty="0" err="1">
                <a:solidFill>
                  <a:srgbClr val="64748B"/>
                </a:solidFill>
              </a:rPr>
              <a:t>pode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custar</a:t>
            </a:r>
            <a:r>
              <a:rPr lang="en-US" sz="1600" dirty="0">
                <a:solidFill>
                  <a:srgbClr val="64748B"/>
                </a:solidFill>
              </a:rPr>
              <a:t> o </a:t>
            </a:r>
            <a:r>
              <a:rPr lang="en-US" sz="1600" dirty="0" err="1">
                <a:solidFill>
                  <a:srgbClr val="64748B"/>
                </a:solidFill>
              </a:rPr>
              <a:t>caso</a:t>
            </a:r>
            <a:r>
              <a:rPr lang="en-US" sz="1600" dirty="0">
                <a:solidFill>
                  <a:srgbClr val="64748B"/>
                </a:solidFill>
              </a:rPr>
              <a:t> e a </a:t>
            </a:r>
            <a:r>
              <a:rPr lang="en-US" sz="1600" dirty="0" err="1">
                <a:solidFill>
                  <a:srgbClr val="64748B"/>
                </a:solidFill>
              </a:rPr>
              <a:t>confiança</a:t>
            </a:r>
            <a:r>
              <a:rPr lang="en-US" sz="1600" dirty="0">
                <a:solidFill>
                  <a:srgbClr val="64748B"/>
                </a:solidFill>
              </a:rPr>
              <a:t> do </a:t>
            </a:r>
            <a:r>
              <a:rPr lang="en-US" sz="1600" dirty="0" err="1">
                <a:solidFill>
                  <a:srgbClr val="64748B"/>
                </a:solidFill>
              </a:rPr>
              <a:t>cliente</a:t>
            </a:r>
            <a:r>
              <a:rPr lang="en-US" sz="1600" dirty="0">
                <a:solidFill>
                  <a:srgbClr val="64748B"/>
                </a:solidFill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incorporar um LLM ao Agile360 para automatizar essas tarefas.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Agile360 vai ganhar com a 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502920" cy="548640"/>
          </a:xfrm>
          <a:prstGeom prst="rect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Assistente jurídico conversacional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2"/>
                </a:solidFill>
              </a:rPr>
              <a:t>O advogado pergunta em português e o sistema responde sobre processos, prazos e clientes.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56232"/>
            <a:ext cx="502920" cy="548640"/>
          </a:xfrm>
          <a:prstGeom prst="rect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56232"/>
            <a:ext cx="5029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Módulo de IA jurídica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2"/>
                </a:solidFill>
              </a:rPr>
              <a:t>Redige petições iniciais, analisa contratos e interpreta atas de audiência automaticamente.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15184"/>
            <a:ext cx="502920" cy="548640"/>
          </a:xfrm>
          <a:prstGeom prst="rect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15184"/>
            <a:ext cx="5029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Agente de monitoramento processual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8895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2"/>
                </a:solidFill>
              </a:rPr>
              <a:t>Detecta novas movimentações e dispara fluxos automáticos de resposta sem intervenção humana.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74136"/>
            <a:ext cx="5029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74136"/>
            <a:ext cx="502920" cy="5486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392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Comunicados inteligentes ao cliente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6484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2"/>
                </a:solidFill>
              </a:rPr>
              <a:t>Transforma linguagem jurídica complexa em mensagens simples enviadas via WhatsApp.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502920" cy="548640"/>
          </a:xfrm>
          <a:prstGeom prst="rect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4151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Análise preditiva de risco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4074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2"/>
                </a:solidFill>
              </a:rPr>
              <a:t>Indica o risco do processo com base no histórico, ajudando na estratégia jurídica.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fornecedores avaliados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chemeClr val="tx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Anthropic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6442"/>
                </a:solidFill>
              </a:rPr>
              <a:t>Claude Sonnet / Opus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66871"/>
            <a:ext cx="25603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chemeClr val="bg1">
                    <a:lumMod val="85000"/>
                  </a:schemeClr>
                </a:solidFill>
              </a:rPr>
              <a:t>Especialista</a:t>
            </a:r>
            <a:r>
              <a:rPr lang="en-US" sz="1000" i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000" i="1" dirty="0" err="1">
                <a:solidFill>
                  <a:schemeClr val="bg1">
                    <a:lumMod val="85000"/>
                  </a:schemeClr>
                </a:solidFill>
              </a:rPr>
              <a:t>em</a:t>
            </a:r>
            <a:r>
              <a:rPr lang="en-US" sz="1000" i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000" i="1" dirty="0" err="1">
                <a:solidFill>
                  <a:schemeClr val="bg1">
                    <a:lumMod val="85000"/>
                  </a:schemeClr>
                </a:solidFill>
              </a:rPr>
              <a:t>segurança</a:t>
            </a:r>
            <a:endParaRPr lang="en-US" sz="1000">
              <a:solidFill>
                <a:schemeClr val="bg1">
                  <a:lumMod val="8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53060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</a:t>
            </a:r>
            <a:r>
              <a:rPr lang="en-US" sz="1200" dirty="0" err="1">
                <a:solidFill>
                  <a:schemeClr val="bg1"/>
                </a:solidFill>
              </a:rPr>
              <a:t>Fundada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em</a:t>
            </a:r>
            <a:r>
              <a:rPr lang="en-US" sz="1200" dirty="0">
                <a:solidFill>
                  <a:schemeClr val="bg1"/>
                </a:solidFill>
              </a:rPr>
              <a:t> 2021 (ex-OpenAI)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91465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Valuation: $380 </a:t>
            </a:r>
            <a:r>
              <a:rPr lang="en-US" sz="1200" dirty="0" err="1">
                <a:solidFill>
                  <a:schemeClr val="bg1"/>
                </a:solidFill>
              </a:rPr>
              <a:t>bilhões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30686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32% de market share enterprise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3316" y="369091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1.000+ </a:t>
            </a:r>
            <a:r>
              <a:rPr lang="en-US" sz="1200" dirty="0" err="1">
                <a:solidFill>
                  <a:schemeClr val="bg1"/>
                </a:solidFill>
              </a:rPr>
              <a:t>clientes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acima</a:t>
            </a:r>
            <a:r>
              <a:rPr lang="en-US" sz="1200" dirty="0">
                <a:solidFill>
                  <a:schemeClr val="bg1"/>
                </a:solidFill>
              </a:rPr>
              <a:t> de $1M/</a:t>
            </a:r>
            <a:r>
              <a:rPr lang="en-US" sz="1200" dirty="0" err="1">
                <a:solidFill>
                  <a:schemeClr val="bg1"/>
                </a:solidFill>
              </a:rPr>
              <a:t>ano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chemeClr val="tx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OpenAI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91840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A37F"/>
                </a:solidFill>
              </a:rPr>
              <a:t>GPT-5 / GPT-5.5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chemeClr val="bg1">
                    <a:lumMod val="85000"/>
                  </a:schemeClr>
                </a:solidFill>
              </a:rPr>
              <a:t>Pioneiro</a:t>
            </a:r>
            <a:r>
              <a:rPr lang="en-US" sz="1000" i="1" dirty="0">
                <a:solidFill>
                  <a:schemeClr val="bg1">
                    <a:lumMod val="85000"/>
                  </a:schemeClr>
                </a:solidFill>
              </a:rPr>
              <a:t> e </a:t>
            </a:r>
            <a:r>
              <a:rPr lang="en-US" sz="1000" i="1" dirty="0" err="1">
                <a:solidFill>
                  <a:schemeClr val="bg1">
                    <a:lumMod val="85000"/>
                  </a:schemeClr>
                </a:solidFill>
              </a:rPr>
              <a:t>mais</a:t>
            </a:r>
            <a:r>
              <a:rPr lang="en-US" sz="1000" i="1" dirty="0">
                <a:solidFill>
                  <a:schemeClr val="bg1">
                    <a:lumMod val="85000"/>
                  </a:schemeClr>
                </a:solidFill>
              </a:rPr>
              <a:t> popular</a:t>
            </a:r>
            <a:endParaRPr lang="en-US" sz="1000">
              <a:solidFill>
                <a:schemeClr val="bg1">
                  <a:lumMod val="8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37560" y="253060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</a:t>
            </a:r>
            <a:r>
              <a:rPr lang="en-US" sz="1200" dirty="0" err="1">
                <a:solidFill>
                  <a:schemeClr val="bg1"/>
                </a:solidFill>
              </a:rPr>
              <a:t>Fundada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em</a:t>
            </a:r>
            <a:r>
              <a:rPr lang="en-US" sz="1200" dirty="0">
                <a:solidFill>
                  <a:schemeClr val="bg1"/>
                </a:solidFill>
              </a:rPr>
              <a:t> 2015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37560" y="2898321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Valuation: +$300 </a:t>
            </a:r>
            <a:r>
              <a:rPr lang="en-US" sz="1200" dirty="0" err="1">
                <a:solidFill>
                  <a:schemeClr val="bg1"/>
                </a:solidFill>
              </a:rPr>
              <a:t>bilhões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37560" y="330686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56% de market share enterprise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7560" y="3658253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200M+ </a:t>
            </a:r>
            <a:r>
              <a:rPr lang="en-US" sz="1200" dirty="0" err="1">
                <a:solidFill>
                  <a:schemeClr val="bg1"/>
                </a:solidFill>
              </a:rPr>
              <a:t>usuários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ativos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chemeClr val="tx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Google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17920" y="16642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85F4"/>
                </a:solidFill>
              </a:rPr>
              <a:t>Gemini Pro / Ultra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993392"/>
            <a:ext cx="25603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bg1">
                    <a:lumMod val="85000"/>
                  </a:schemeClr>
                </a:solidFill>
              </a:rPr>
              <a:t>Maior </a:t>
            </a:r>
            <a:r>
              <a:rPr lang="en-US" sz="1000" i="1" dirty="0" err="1">
                <a:solidFill>
                  <a:schemeClr val="bg1">
                    <a:lumMod val="85000"/>
                  </a:schemeClr>
                </a:solidFill>
              </a:rPr>
              <a:t>contexto</a:t>
            </a:r>
            <a:r>
              <a:rPr lang="en-US" sz="1000" i="1" dirty="0">
                <a:solidFill>
                  <a:schemeClr val="bg1">
                    <a:lumMod val="85000"/>
                  </a:schemeClr>
                </a:solidFill>
              </a:rPr>
              <a:t> do mercado</a:t>
            </a:r>
            <a:endParaRPr lang="en-US" sz="1000">
              <a:solidFill>
                <a:schemeClr val="bg1">
                  <a:lumMod val="8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63640" y="253060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200.000 </a:t>
            </a:r>
            <a:r>
              <a:rPr lang="en-US" sz="1200" dirty="0" err="1">
                <a:solidFill>
                  <a:schemeClr val="bg1"/>
                </a:solidFill>
              </a:rPr>
              <a:t>colaboradores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globais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63640" y="2881993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Google Cloud: $43B </a:t>
            </a:r>
            <a:r>
              <a:rPr lang="en-US" sz="1200" dirty="0" err="1">
                <a:solidFill>
                  <a:schemeClr val="bg1"/>
                </a:solidFill>
              </a:rPr>
              <a:t>em</a:t>
            </a:r>
            <a:r>
              <a:rPr lang="en-US" sz="1200" dirty="0">
                <a:solidFill>
                  <a:schemeClr val="bg1"/>
                </a:solidFill>
              </a:rPr>
              <a:t> 2025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55476" y="3249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18% de market share enterprise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63640" y="3658253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• </a:t>
            </a:r>
            <a:r>
              <a:rPr lang="en-US" sz="1200" dirty="0" err="1">
                <a:solidFill>
                  <a:schemeClr val="bg1"/>
                </a:solidFill>
              </a:rPr>
              <a:t>Integrado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ao</a:t>
            </a:r>
            <a:r>
              <a:rPr lang="en-US" sz="1200" dirty="0">
                <a:solidFill>
                  <a:schemeClr val="bg1"/>
                </a:solidFill>
              </a:rPr>
              <a:t> Workspace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tx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cada fornecedor?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813873"/>
              </p:ext>
            </p:extLst>
          </p:nvPr>
        </p:nvGraphicFramePr>
        <p:xfrm>
          <a:off x="4846320" y="1097280"/>
          <a:ext cx="402336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(por 1M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(por 1M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mensal ~10M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Fine-tuning disponível?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Não</a:t>
                      </a:r>
                      <a:endParaRPr lang="en-US" sz="1100" dirty="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Sim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Sim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Enterprise mín.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~$50k/ano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~$40-100/seat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consulta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490"/>
                </a:solidFill>
              </a:rPr>
              <a:t> Gemini é o </a:t>
            </a:r>
            <a:r>
              <a:rPr lang="en-US" sz="1200" i="1" dirty="0" err="1">
                <a:solidFill>
                  <a:srgbClr val="0E7490"/>
                </a:solidFill>
              </a:rPr>
              <a:t>mais</a:t>
            </a:r>
            <a:r>
              <a:rPr lang="en-US" sz="1200" i="1" dirty="0">
                <a:solidFill>
                  <a:srgbClr val="0E7490"/>
                </a:solidFill>
              </a:rPr>
              <a:t> </a:t>
            </a:r>
            <a:r>
              <a:rPr lang="en-US" sz="1200" i="1" dirty="0" err="1">
                <a:solidFill>
                  <a:srgbClr val="0E7490"/>
                </a:solidFill>
              </a:rPr>
              <a:t>barato</a:t>
            </a:r>
            <a:r>
              <a:rPr lang="en-US" sz="1200" i="1" dirty="0">
                <a:solidFill>
                  <a:srgbClr val="0E7490"/>
                </a:solidFill>
              </a:rPr>
              <a:t> no pay-per-use. Claude </a:t>
            </a:r>
            <a:r>
              <a:rPr lang="en-US" sz="1200" i="1" dirty="0" err="1">
                <a:solidFill>
                  <a:srgbClr val="0E7490"/>
                </a:solidFill>
              </a:rPr>
              <a:t>tem</a:t>
            </a:r>
            <a:r>
              <a:rPr lang="en-US" sz="1200" i="1" dirty="0">
                <a:solidFill>
                  <a:srgbClr val="0E7490"/>
                </a:solidFill>
              </a:rPr>
              <a:t> histórico de </a:t>
            </a:r>
            <a:r>
              <a:rPr lang="en-US" sz="1200" i="1" dirty="0" err="1">
                <a:solidFill>
                  <a:srgbClr val="0E7490"/>
                </a:solidFill>
              </a:rPr>
              <a:t>reduzir</a:t>
            </a:r>
            <a:r>
              <a:rPr lang="en-US" sz="1200" i="1" dirty="0">
                <a:solidFill>
                  <a:srgbClr val="0E7490"/>
                </a:solidFill>
              </a:rPr>
              <a:t> </a:t>
            </a:r>
            <a:r>
              <a:rPr lang="en-US" sz="1200" i="1" dirty="0" err="1">
                <a:solidFill>
                  <a:srgbClr val="0E7490"/>
                </a:solidFill>
              </a:rPr>
              <a:t>preços</a:t>
            </a:r>
            <a:r>
              <a:rPr lang="en-US" sz="1200" i="1" dirty="0">
                <a:solidFill>
                  <a:srgbClr val="0E7490"/>
                </a:solidFill>
              </a:rPr>
              <a:t> a </a:t>
            </a:r>
            <a:r>
              <a:rPr lang="en-US" sz="1200" i="1" dirty="0" err="1">
                <a:solidFill>
                  <a:srgbClr val="0E7490"/>
                </a:solidFill>
              </a:rPr>
              <a:t>cada</a:t>
            </a:r>
            <a:r>
              <a:rPr lang="en-US" sz="1200" i="1" dirty="0">
                <a:solidFill>
                  <a:srgbClr val="0E7490"/>
                </a:solidFill>
              </a:rPr>
              <a:t> nova </a:t>
            </a:r>
            <a:r>
              <a:rPr lang="en-US" sz="1200" i="1" dirty="0" err="1">
                <a:solidFill>
                  <a:srgbClr val="0E7490"/>
                </a:solidFill>
              </a:rPr>
              <a:t>geração</a:t>
            </a:r>
            <a:r>
              <a:rPr lang="en-US" sz="1200" i="1" dirty="0">
                <a:solidFill>
                  <a:srgbClr val="0E7490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tx1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jurídicas: todos atendem?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0" y="1097280"/>
            <a:ext cx="1234440" cy="347472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0972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1097280"/>
            <a:ext cx="1234440" cy="34747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972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097280"/>
            <a:ext cx="12344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0972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Redigir e revisar petições iniciais?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645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8120" y="1645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8595360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67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Analisar contratos (riscos, prazos)?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313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313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18120" y="2313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352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Sumarizar atas de audiência?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9809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29809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18120" y="29809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8595360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027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Gerar comunicados ao cliente (linguagem simples)?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6484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36484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18120" y="36484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70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Processar documentos acima de 100 páginas?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43159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92240" y="43159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818120" y="43159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Resultado Módulo 1: os 3 fornecedores atendem 100% das capacidades jurídicas exigidas.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tx1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Agile360: onde surgem as diferenças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0" y="1097280"/>
            <a:ext cx="1234440" cy="347472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0972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5080" y="1097280"/>
            <a:ext cx="1234440" cy="34747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972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097280"/>
            <a:ext cx="12344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0972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SDK para Python e .NET (stack do Agile360)?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645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18120" y="1645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8595360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67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Processamento em lote (batch) para documentos?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313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313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18120" y="23134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352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Dados não usados para treinar o modelo?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29809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29809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18120" y="29809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8595360" cy="59436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027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Agente autônomo para monitorar processos?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6484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36484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18120" y="364845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70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SLA formal de disponibilidade garantido?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43159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43159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818120" y="43159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⚠️ = Parcial ou com restrição   ✅ = Atende plenamente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 </a:t>
            </a:r>
            <a:r>
              <a:rPr lang="en-US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tem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melhor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e </a:t>
            </a:r>
            <a:r>
              <a:rPr lang="en-US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pior</a:t>
            </a:r>
            <a:endParaRPr lang="en-US" sz="28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2834640" cy="3931920"/>
          </a:xfrm>
          <a:prstGeom prst="rect">
            <a:avLst/>
          </a:prstGeom>
          <a:solidFill>
            <a:srgbClr val="142233"/>
          </a:solidFill>
          <a:ln w="12700">
            <a:solidFill>
              <a:srgbClr val="C964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Claude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PONTOS FORTES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Melhor em raciocínio jurídico longo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MCP com 20+ conectores jurídicos prontos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5968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Preços reduziram 66% na última geração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SDK nativo para .NET e Python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PONTOS DE ATENÇÃO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Fine-tuning não disponível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SLA só no Enterprise ($50k/ano)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Ciclo de versões mais acelerado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834640" cy="3931920"/>
          </a:xfrm>
          <a:prstGeom prst="rect">
            <a:avLst/>
          </a:prstGeom>
          <a:solidFill>
            <a:srgbClr val="142233"/>
          </a:solidFill>
          <a:ln w="12700">
            <a:solidFill>
              <a:srgbClr val="10A37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PONTOS FORTES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Maior ecossistema de plugins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Fine-tuning self-serve disponível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5968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Melhor documentação do mercado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PONTOS DE ATENÇÃO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Mais caro por token (2x o Gemini)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Novos modelos podem custar mais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SLA só no Enterprise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1005840"/>
            <a:ext cx="2834640" cy="3931920"/>
          </a:xfrm>
          <a:prstGeom prst="rect">
            <a:avLst/>
          </a:prstGeom>
          <a:solidFill>
            <a:srgbClr val="142233"/>
          </a:solidFill>
          <a:ln w="12700">
            <a:solidFill>
              <a:srgbClr val="4285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005840"/>
            <a:ext cx="2834640" cy="4572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005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Gemini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936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PONTOS FORTES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Mais barato por token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SLA garantido no Google Cloud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5968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Maior contexto: 2M tokens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</a:rPr>
              <a:t>+ Único com opção on-premises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PONTOS DE ATENÇÃO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Agente autônomo ainda em beta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Menor market share enterprise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BC"/>
                </a:solidFill>
              </a:rPr>
              <a:t>- Fine-tuning mais complexo de configurar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chemeClr val="tx1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Placar final: nota por critério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0" y="1051560"/>
            <a:ext cx="1234440" cy="347472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051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1234440" cy="34747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051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1051560"/>
            <a:ext cx="123444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051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08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Capacidade jurídica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10/10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10/10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10/10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859536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47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Custo por uso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947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8/10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947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</a:rPr>
              <a:t>6/10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0" y="1947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10/10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34086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3865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Facilidade de integração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3865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9/10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3865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9/10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23865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8/10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779776"/>
            <a:ext cx="859536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254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Agentes autônomos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8254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10/10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8254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9/10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28254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7/10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21868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264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Segurança dos dados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264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10/10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264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9/10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80960" y="3264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9/10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59536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703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Suporte / SLA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7/10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7/10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9/10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09651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142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Previsibilidade de preço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0" y="41422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9/10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41422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7/10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680960" y="41422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8/10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4535424"/>
            <a:ext cx="859536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5811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Roadmap / futuro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0" y="4581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10/10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55080" y="4581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8/10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80960" y="4581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8/10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320" y="4974336"/>
            <a:ext cx="8595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9743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029200" y="49743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73/80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355080" y="49743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65/80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680960" y="49743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69/80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998" cy="514350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11939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Recomendação</a:t>
            </a: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Claude (Anthropic)</a:t>
            </a:r>
            <a:endParaRPr lang="en-US" sz="3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73 / 80 pontos no scorecard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solidFill>
            <a:schemeClr val="tx1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53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alibri"/>
              <a:buChar char="-"/>
            </a:pPr>
            <a:r>
              <a:rPr lang="en-US" sz="1200" b="1" dirty="0" err="1">
                <a:solidFill>
                  <a:srgbClr val="F59E0B"/>
                </a:solidFill>
              </a:rPr>
              <a:t>Melhor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raciocínio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jurídico</a:t>
            </a:r>
            <a:endParaRPr lang="en-US" sz="1200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23360" y="145389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Claude </a:t>
            </a:r>
            <a:r>
              <a:rPr lang="en-US" sz="1100" dirty="0" err="1">
                <a:solidFill>
                  <a:schemeClr val="bg1"/>
                </a:solidFill>
              </a:rPr>
              <a:t>foi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projetado</a:t>
            </a:r>
            <a:r>
              <a:rPr lang="en-US" sz="1100" dirty="0">
                <a:solidFill>
                  <a:schemeClr val="bg1"/>
                </a:solidFill>
              </a:rPr>
              <a:t> para </a:t>
            </a:r>
            <a:r>
              <a:rPr lang="en-US" sz="1100" dirty="0" err="1">
                <a:solidFill>
                  <a:schemeClr val="bg1"/>
                </a:solidFill>
              </a:rPr>
              <a:t>seguir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instruções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complexas</a:t>
            </a:r>
            <a:r>
              <a:rPr lang="en-US" sz="1100" dirty="0">
                <a:solidFill>
                  <a:schemeClr val="bg1"/>
                </a:solidFill>
              </a:rPr>
              <a:t> com </a:t>
            </a:r>
            <a:r>
              <a:rPr lang="en-US" sz="1100" dirty="0" err="1">
                <a:solidFill>
                  <a:schemeClr val="bg1"/>
                </a:solidFill>
              </a:rPr>
              <a:t>precisão</a:t>
            </a:r>
            <a:r>
              <a:rPr lang="en-US" sz="1100" dirty="0">
                <a:solidFill>
                  <a:schemeClr val="bg1"/>
                </a:solidFill>
              </a:rPr>
              <a:t> — ideal para </a:t>
            </a:r>
            <a:r>
              <a:rPr lang="en-US" sz="1100" dirty="0" err="1">
                <a:solidFill>
                  <a:schemeClr val="bg1"/>
                </a:solidFill>
              </a:rPr>
              <a:t>petições</a:t>
            </a:r>
            <a:r>
              <a:rPr lang="en-US" sz="1100" dirty="0">
                <a:solidFill>
                  <a:schemeClr val="bg1"/>
                </a:solidFill>
              </a:rPr>
              <a:t> e </a:t>
            </a:r>
            <a:r>
              <a:rPr lang="en-US" sz="1100" dirty="0" err="1">
                <a:solidFill>
                  <a:schemeClr val="bg1"/>
                </a:solidFill>
              </a:rPr>
              <a:t>contratos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229600" cy="640080"/>
          </a:xfrm>
          <a:prstGeom prst="rect">
            <a:avLst/>
          </a:prstGeom>
          <a:solidFill>
            <a:schemeClr val="tx1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85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59E0B"/>
                </a:solidFill>
              </a:rPr>
              <a:t>-  20+ </a:t>
            </a:r>
            <a:r>
              <a:rPr lang="en-US" sz="1200" b="1" dirty="0" err="1">
                <a:solidFill>
                  <a:srgbClr val="F59E0B"/>
                </a:solidFill>
              </a:rPr>
              <a:t>conectores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jurídicos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prontos</a:t>
            </a:r>
            <a:endParaRPr lang="en-US" sz="1200" dirty="0" err="1"/>
          </a:p>
        </p:txBody>
      </p:sp>
      <p:sp>
        <p:nvSpPr>
          <p:cNvPr id="10" name="Text 8"/>
          <p:cNvSpPr/>
          <p:nvPr/>
        </p:nvSpPr>
        <p:spPr>
          <a:xfrm>
            <a:off x="4023360" y="218541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Via MCP, </a:t>
            </a:r>
            <a:r>
              <a:rPr lang="en-US" sz="1100" dirty="0" err="1">
                <a:solidFill>
                  <a:schemeClr val="bg1"/>
                </a:solidFill>
              </a:rPr>
              <a:t>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integração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ao</a:t>
            </a:r>
            <a:r>
              <a:rPr lang="en-US" sz="1100" dirty="0">
                <a:solidFill>
                  <a:schemeClr val="bg1"/>
                </a:solidFill>
              </a:rPr>
              <a:t> Agile360 é </a:t>
            </a:r>
            <a:r>
              <a:rPr lang="en-US" sz="1100" dirty="0" err="1">
                <a:solidFill>
                  <a:schemeClr val="bg1"/>
                </a:solidFill>
              </a:rPr>
              <a:t>mais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rápida</a:t>
            </a:r>
            <a:r>
              <a:rPr lang="en-US" sz="1100" dirty="0">
                <a:solidFill>
                  <a:schemeClr val="bg1"/>
                </a:solidFill>
              </a:rPr>
              <a:t> e com </a:t>
            </a:r>
            <a:r>
              <a:rPr lang="en-US" sz="1100" dirty="0" err="1">
                <a:solidFill>
                  <a:schemeClr val="bg1"/>
                </a:solidFill>
              </a:rPr>
              <a:t>menos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código</a:t>
            </a:r>
            <a:r>
              <a:rPr lang="en-US" sz="1100" dirty="0">
                <a:solidFill>
                  <a:schemeClr val="bg1"/>
                </a:solidFill>
              </a:rPr>
              <a:t> do </a:t>
            </a:r>
            <a:r>
              <a:rPr lang="en-US" sz="1100" dirty="0" err="1">
                <a:solidFill>
                  <a:schemeClr val="bg1"/>
                </a:solidFill>
              </a:rPr>
              <a:t>que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nos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concorrentes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8229600" cy="640080"/>
          </a:xfrm>
          <a:prstGeom prst="rect">
            <a:avLst/>
          </a:prstGeom>
          <a:solidFill>
            <a:schemeClr val="tx1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59E0B"/>
                </a:solidFill>
              </a:rPr>
              <a:t>-  </a:t>
            </a:r>
            <a:r>
              <a:rPr lang="en-US" sz="1200" b="1" dirty="0" err="1">
                <a:solidFill>
                  <a:srgbClr val="F59E0B"/>
                </a:solidFill>
              </a:rPr>
              <a:t>Preços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caindo</a:t>
            </a:r>
            <a:r>
              <a:rPr lang="en-US" sz="1200" b="1" dirty="0">
                <a:solidFill>
                  <a:srgbClr val="F59E0B"/>
                </a:solidFill>
              </a:rPr>
              <a:t> a </a:t>
            </a:r>
            <a:r>
              <a:rPr lang="en-US" sz="1200" b="1" dirty="0" err="1">
                <a:solidFill>
                  <a:srgbClr val="F59E0B"/>
                </a:solidFill>
              </a:rPr>
              <a:t>cada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geração</a:t>
            </a:r>
            <a:endParaRPr lang="en-US" sz="1200" dirty="0" err="1"/>
          </a:p>
        </p:txBody>
      </p:sp>
      <p:sp>
        <p:nvSpPr>
          <p:cNvPr id="13" name="Text 11"/>
          <p:cNvSpPr/>
          <p:nvPr/>
        </p:nvSpPr>
        <p:spPr>
          <a:xfrm>
            <a:off x="4023360" y="29169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A </a:t>
            </a:r>
            <a:r>
              <a:rPr lang="en-US" sz="1100" dirty="0" err="1">
                <a:solidFill>
                  <a:schemeClr val="bg1"/>
                </a:solidFill>
              </a:rPr>
              <a:t>última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geração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ficou</a:t>
            </a:r>
            <a:r>
              <a:rPr lang="en-US" sz="1100" dirty="0">
                <a:solidFill>
                  <a:schemeClr val="bg1"/>
                </a:solidFill>
              </a:rPr>
              <a:t> 66% </a:t>
            </a:r>
            <a:r>
              <a:rPr lang="en-US" sz="1100" dirty="0" err="1">
                <a:solidFill>
                  <a:schemeClr val="bg1"/>
                </a:solidFill>
              </a:rPr>
              <a:t>mais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barata</a:t>
            </a:r>
            <a:r>
              <a:rPr lang="en-US" sz="1100" dirty="0">
                <a:solidFill>
                  <a:schemeClr val="bg1"/>
                </a:solidFill>
              </a:rPr>
              <a:t> — </a:t>
            </a:r>
            <a:r>
              <a:rPr lang="en-US" sz="1100" dirty="0" err="1">
                <a:solidFill>
                  <a:schemeClr val="bg1"/>
                </a:solidFill>
              </a:rPr>
              <a:t>tendência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que</a:t>
            </a:r>
            <a:r>
              <a:rPr lang="en-US" sz="1100" dirty="0">
                <a:solidFill>
                  <a:schemeClr val="bg1"/>
                </a:solidFill>
              </a:rPr>
              <a:t> beneficia o Agile360 no </a:t>
            </a:r>
            <a:r>
              <a:rPr lang="en-US" sz="1100" dirty="0" err="1">
                <a:solidFill>
                  <a:schemeClr val="bg1"/>
                </a:solidFill>
              </a:rPr>
              <a:t>longo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prazo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229600" cy="640080"/>
          </a:xfrm>
          <a:prstGeom prst="rect">
            <a:avLst/>
          </a:prstGeom>
          <a:solidFill>
            <a:schemeClr val="tx1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59E0B"/>
                </a:solidFill>
              </a:rPr>
              <a:t>-  </a:t>
            </a:r>
            <a:r>
              <a:rPr lang="en-US" sz="1200" b="1" dirty="0" err="1">
                <a:solidFill>
                  <a:srgbClr val="F59E0B"/>
                </a:solidFill>
              </a:rPr>
              <a:t>Líder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em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segurança</a:t>
            </a:r>
            <a:r>
              <a:rPr lang="en-US" sz="1200" b="1" dirty="0">
                <a:solidFill>
                  <a:srgbClr val="F59E0B"/>
                </a:solidFill>
              </a:rPr>
              <a:t> de dados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364845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Único</a:t>
            </a:r>
            <a:r>
              <a:rPr lang="en-US" sz="1100" dirty="0">
                <a:solidFill>
                  <a:schemeClr val="bg1"/>
                </a:solidFill>
              </a:rPr>
              <a:t> com </a:t>
            </a:r>
            <a:r>
              <a:rPr lang="en-US" sz="1100" dirty="0" err="1">
                <a:solidFill>
                  <a:schemeClr val="bg1"/>
                </a:solidFill>
              </a:rPr>
              <a:t>certificação</a:t>
            </a:r>
            <a:r>
              <a:rPr lang="en-US" sz="1100" dirty="0">
                <a:solidFill>
                  <a:schemeClr val="bg1"/>
                </a:solidFill>
              </a:rPr>
              <a:t> ISO/IEC 42001 de </a:t>
            </a:r>
            <a:r>
              <a:rPr lang="en-US" sz="1100" dirty="0" err="1">
                <a:solidFill>
                  <a:schemeClr val="bg1"/>
                </a:solidFill>
              </a:rPr>
              <a:t>governança</a:t>
            </a:r>
            <a:r>
              <a:rPr lang="en-US" sz="1100" dirty="0">
                <a:solidFill>
                  <a:schemeClr val="bg1"/>
                </a:solidFill>
              </a:rPr>
              <a:t> de IA. </a:t>
            </a:r>
            <a:r>
              <a:rPr lang="en-US" sz="1100" dirty="0" err="1">
                <a:solidFill>
                  <a:schemeClr val="bg1"/>
                </a:solidFill>
              </a:rPr>
              <a:t>Crítico</a:t>
            </a:r>
            <a:r>
              <a:rPr lang="en-US" sz="1100" dirty="0">
                <a:solidFill>
                  <a:schemeClr val="bg1"/>
                </a:solidFill>
              </a:rPr>
              <a:t> para dados </a:t>
            </a:r>
            <a:r>
              <a:rPr lang="en-US" sz="1100" dirty="0" err="1">
                <a:solidFill>
                  <a:schemeClr val="bg1"/>
                </a:solidFill>
              </a:rPr>
              <a:t>jurídicos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sensíveis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8229600" cy="640080"/>
          </a:xfrm>
          <a:prstGeom prst="rect">
            <a:avLst/>
          </a:prstGeom>
          <a:solidFill>
            <a:schemeClr val="tx1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79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alibri"/>
              <a:buChar char="-"/>
            </a:pPr>
            <a:r>
              <a:rPr lang="en-US" sz="1200" b="1" dirty="0">
                <a:solidFill>
                  <a:srgbClr val="F59E0B"/>
                </a:solidFill>
              </a:rPr>
              <a:t> </a:t>
            </a:r>
            <a:r>
              <a:rPr lang="en-US" sz="1200" b="1" dirty="0" err="1">
                <a:solidFill>
                  <a:srgbClr val="F59E0B"/>
                </a:solidFill>
              </a:rPr>
              <a:t>Agentes</a:t>
            </a:r>
            <a:r>
              <a:rPr lang="en-US" sz="1200" b="1" dirty="0">
                <a:solidFill>
                  <a:srgbClr val="F59E0B"/>
                </a:solidFill>
              </a:rPr>
              <a:t> </a:t>
            </a:r>
            <a:r>
              <a:rPr lang="en-US" sz="1200" b="1" dirty="0" err="1">
                <a:solidFill>
                  <a:srgbClr val="F59E0B"/>
                </a:solidFill>
              </a:rPr>
              <a:t>autônomos</a:t>
            </a:r>
            <a:r>
              <a:rPr lang="en-US" sz="1200" b="1" dirty="0">
                <a:solidFill>
                  <a:srgbClr val="F59E0B"/>
                </a:solidFill>
              </a:rPr>
              <a:t> maduros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43799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Claude Managed Agents é </a:t>
            </a:r>
            <a:r>
              <a:rPr lang="en-US" sz="1100" dirty="0" err="1">
                <a:solidFill>
                  <a:schemeClr val="bg1"/>
                </a:solidFill>
              </a:rPr>
              <a:t>produção</a:t>
            </a:r>
            <a:r>
              <a:rPr lang="en-US" sz="1100" dirty="0">
                <a:solidFill>
                  <a:schemeClr val="bg1"/>
                </a:solidFill>
              </a:rPr>
              <a:t> — </a:t>
            </a:r>
            <a:r>
              <a:rPr lang="en-US" sz="1100" dirty="0" err="1">
                <a:solidFill>
                  <a:schemeClr val="bg1"/>
                </a:solidFill>
              </a:rPr>
              <a:t>não</a:t>
            </a:r>
            <a:r>
              <a:rPr lang="en-US" sz="1100" dirty="0">
                <a:solidFill>
                  <a:schemeClr val="bg1"/>
                </a:solidFill>
              </a:rPr>
              <a:t> beta — ideal para o monitor de </a:t>
            </a:r>
            <a:r>
              <a:rPr lang="en-US" sz="1100" dirty="0" err="1">
                <a:solidFill>
                  <a:schemeClr val="bg1"/>
                </a:solidFill>
              </a:rPr>
              <a:t>processos</a:t>
            </a:r>
            <a:r>
              <a:rPr lang="en-US" sz="1100" dirty="0">
                <a:solidFill>
                  <a:schemeClr val="bg1"/>
                </a:solidFill>
              </a:rPr>
              <a:t> do Agile360.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641022" y="1283425"/>
            <a:ext cx="5853794" cy="981348"/>
          </a:xfrm>
          <a:prstGeom prst="rect">
            <a:avLst/>
          </a:prstGeom>
          <a:solidFill>
            <a:srgbClr val="C96442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058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Contratar Anthropic (Claude)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como o LLM do Agile360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33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C8D8E8"/>
                </a:solidFill>
              </a:rPr>
              <a:t>Melhor</a:t>
            </a:r>
            <a:r>
              <a:rPr lang="en-US" sz="1300" dirty="0">
                <a:solidFill>
                  <a:srgbClr val="C8D8E8"/>
                </a:solidFill>
              </a:rPr>
              <a:t> </a:t>
            </a:r>
            <a:r>
              <a:rPr lang="en-US" sz="1300" dirty="0" err="1">
                <a:solidFill>
                  <a:srgbClr val="C8D8E8"/>
                </a:solidFill>
              </a:rPr>
              <a:t>custo-benefício</a:t>
            </a:r>
            <a:r>
              <a:rPr lang="en-US" sz="1300" dirty="0">
                <a:solidFill>
                  <a:srgbClr val="C8D8E8"/>
                </a:solidFill>
              </a:rPr>
              <a:t> para o </a:t>
            </a:r>
            <a:r>
              <a:rPr lang="en-US" sz="1300" dirty="0" err="1">
                <a:solidFill>
                  <a:srgbClr val="C8D8E8"/>
                </a:solidFill>
              </a:rPr>
              <a:t>momento</a:t>
            </a:r>
            <a:r>
              <a:rPr lang="en-US" sz="1300" dirty="0">
                <a:solidFill>
                  <a:srgbClr val="C8D8E8"/>
                </a:solidFill>
              </a:rPr>
              <a:t> </a:t>
            </a:r>
            <a:r>
              <a:rPr lang="en-US" sz="1300" dirty="0" err="1">
                <a:solidFill>
                  <a:srgbClr val="C8D8E8"/>
                </a:solidFill>
              </a:rPr>
              <a:t>atual</a:t>
            </a:r>
            <a:r>
              <a:rPr lang="en-US" sz="1300" dirty="0">
                <a:solidFill>
                  <a:srgbClr val="C8D8E8"/>
                </a:solidFill>
              </a:rPr>
              <a:t> da </a:t>
            </a:r>
            <a:r>
              <a:rPr lang="en-US" sz="1300" dirty="0" err="1">
                <a:solidFill>
                  <a:srgbClr val="C8D8E8"/>
                </a:solidFill>
              </a:rPr>
              <a:t>empresa</a:t>
            </a:r>
            <a:endParaRPr lang="en-US" sz="1300" dirty="0" err="1">
              <a:solidFill>
                <a:srgbClr val="C8D8E8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821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</a:rPr>
              <a:t>Infraestrutura agêntica mais madura para o monitor processual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307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</a:rPr>
              <a:t>Segurança e privacidade de dados jurídicos sensíveis garantidas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297680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793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</a:rPr>
              <a:t>Escala natural: começa pay-per-use, cresce para enterprise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582"/>
                </a:solidFill>
              </a:rPr>
              <a:t>Agile Desenvolvimento e Tecnologia  |  Presidente Venceslau, SP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Agile360 - Escolha do Fornecedor de IA</dc:title>
  <dc:subject>PptxGenJS Presentation</dc:subject>
  <dc:creator>PptxGenJS</dc:creator>
  <cp:lastModifiedBy>PptxGenJS</cp:lastModifiedBy>
  <cp:revision>128</cp:revision>
  <dcterms:created xsi:type="dcterms:W3CDTF">2026-05-26T01:43:11Z</dcterms:created>
  <dcterms:modified xsi:type="dcterms:W3CDTF">2026-05-26T02:10:01Z</dcterms:modified>
</cp:coreProperties>
</file>