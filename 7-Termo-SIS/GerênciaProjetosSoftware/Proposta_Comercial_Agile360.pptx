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1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210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2.jpe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84439" y="357188"/>
            <a:ext cx="970266" cy="2462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AGILE360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357313" y="1384995"/>
            <a:ext cx="642937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0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PROPOSTA COMERCIAL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57313" y="2085082"/>
            <a:ext cx="642937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CRM Jurídico Inteligente para Advogados e Escritórios Modernos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57313" y="2928045"/>
            <a:ext cx="6429375" cy="442172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"Do caos burocrático ao controle total — em um só sistema."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4647009"/>
            <a:ext cx="134171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Data: 2026 | Versão 1.0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652742" y="4647009"/>
            <a:ext cx="942566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Agile360 © 2025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50632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SUMÁRIO EXECUTIVO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414229"/>
            <a:ext cx="4714875" cy="685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 Agile360 é um CRM jurídico SaaS que centraliza clientes, processos, prazos, audiências e acordos em uma única plataforma inteligente.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2328629"/>
            <a:ext cx="4714875" cy="1157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Voltado a advogados autônomos e escritórios de pequeno e médio porte, o sistema combina automação via WhatsApp, análise por inteligência artificial e um fluxo de aprovação com revisão humana obrigatória — garantindo agilidade sem abrir mão da segurança jurídica.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715000" y="1347446"/>
            <a:ext cx="2857500" cy="550069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715000" y="1347446"/>
            <a:ext cx="2857500" cy="7144"/>
          </a:xfrm>
          <a:prstGeom prst="rect">
            <a:avLst/>
          </a:prstGeom>
          <a:solidFill>
            <a:srgbClr val="F4EED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490321"/>
            <a:ext cx="357188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7938" y="1540328"/>
            <a:ext cx="1339453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Gestão Centralizada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715000" y="2104684"/>
            <a:ext cx="2857500" cy="550069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715000" y="2104684"/>
            <a:ext cx="2857500" cy="7144"/>
          </a:xfrm>
          <a:prstGeom prst="rect">
            <a:avLst/>
          </a:prstGeom>
          <a:solidFill>
            <a:srgbClr val="F4EEDB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247559"/>
            <a:ext cx="357188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57938" y="2297565"/>
            <a:ext cx="142339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Inteligência Aplicada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0" y="2861921"/>
            <a:ext cx="2857500" cy="550069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0" y="2861921"/>
            <a:ext cx="2857500" cy="7144"/>
          </a:xfrm>
          <a:prstGeom prst="rect">
            <a:avLst/>
          </a:prstGeom>
          <a:solidFill>
            <a:srgbClr val="F4EEDB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3004796"/>
            <a:ext cx="357188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7938" y="3054803"/>
            <a:ext cx="1211870" cy="1615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Segurança e LGPD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736556" y="4807744"/>
            <a:ext cx="208660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Agile360 — Proposta Comercial 2026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O ESCRITÓRIO JURÍDICO MODERNO AINDA OPERA NO CAOS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135856"/>
            <a:ext cx="3857625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5856"/>
            <a:ext cx="3857625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85888"/>
            <a:ext cx="228600" cy="10358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3006" y="1350169"/>
            <a:ext cx="302180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Informações Dispersas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93006" y="1630561"/>
            <a:ext cx="3021806" cy="59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Dados críticos perdidos entre planilhas infinitas, conversas de WhatsApp avulsas e fluxos de e-mails desconexos.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714875" y="1135856"/>
            <a:ext cx="3857625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1135856"/>
            <a:ext cx="3857625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1385888"/>
            <a:ext cx="228600" cy="10358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36381" y="1350169"/>
            <a:ext cx="302180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Perda de Prazos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336381" y="1630561"/>
            <a:ext cx="3021806" cy="59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Riscos processuais elevados por falta de um monitoramento automatizado e proativo das intimações.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71500" y="2707481"/>
            <a:ext cx="3857625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707481"/>
            <a:ext cx="3857625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957513"/>
            <a:ext cx="228600" cy="10358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3006" y="2921794"/>
            <a:ext cx="302180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Gestão sem Dados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93006" y="3202186"/>
            <a:ext cx="3021806" cy="59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Ausência de indicadores estratégicos (KPIs), dificultando a tomada de decisão baseada em performance real.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4714875" y="2707481"/>
            <a:ext cx="3857625" cy="128587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714875" y="2707481"/>
            <a:ext cx="3857625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957513"/>
            <a:ext cx="285750" cy="10358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3531" y="2921794"/>
            <a:ext cx="2964656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Vulnerabilidade LGPD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393531" y="3202186"/>
            <a:ext cx="2964656" cy="590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Risco de violação à Lei Geral de Proteção de Dados por falta de controle rigoroso e auditoria de dados sensíveis.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643687" y="4807744"/>
            <a:ext cx="2407444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Agile360 — Proposta Comercial 2026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1.1 ESCOPO DO SISTEMA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850106"/>
            <a:ext cx="4629150" cy="1091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 sistema Agile 360 será uma solução digital avançada voltada à gestão jurídica de alto desempenho, projetada para advogados autônomos e escritórios modernos que buscam eliminar a sobrecarga cognitiva e o erro humano. Seu escopo transcende o de um CRM tradicional, consolidando-se como um centro de inteligência neural que une automação de entrada de dados, monitoramento proativo de prazos e segurança cibernética rigorosa.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48745" y="2098519"/>
            <a:ext cx="4629150" cy="1275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Entre as funcionalidades principais, o sistema permitirá o gerenciamento completo (CRUD) de Clientes, Processos e Compromissos. Seguindo os padrões de numeração única do CNJ, o Agile 360 possibilitará o cadastro estruturado de ações judiciais, vinculando documentos digitalizados, histórico de movimentações e partes envolvidas. A plataforma contará com validação automática de documentos (CPF/CNPJ) via Regex e integração nativa com o Google Agenda para sincronização bidirecional de audiências e prazos."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500" y="3604156"/>
            <a:ext cx="4629150" cy="721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 funcionalidade de relatórios será materializada no Dashboard 'Visão 360', oferecendo KPIs como funil de vendas, taxa de êxito processual e eficiência operacional, apresentados em gráficos interativos com exportação em múltiplos formatos.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0" y="850106"/>
            <a:ext cx="3086100" cy="1285875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486400" y="850106"/>
            <a:ext cx="3086100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994" y="1007269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65019" y="992981"/>
            <a:ext cx="827150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Captura Neural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664994" y="1221581"/>
            <a:ext cx="2728913" cy="37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Integração Evolution API (WhatsApp), n8n e GPT-4o para coleta via voz/texto. Dados passam por Staging Área para revisão humana obrigatória antes da produção.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0" y="2278856"/>
            <a:ext cx="3086100" cy="1285875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0" y="2278856"/>
            <a:ext cx="3086100" cy="14288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994" y="2436019"/>
            <a:ext cx="144661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81092" y="2421731"/>
            <a:ext cx="1000274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Guardião Proativo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5664994" y="2650331"/>
            <a:ext cx="2728913" cy="37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Leitura automatizada de e-mails e intimações via OCR. Extração de datas críticas e cálculo automático de prazos fatais com alertas iminentes.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5486399" y="3755847"/>
            <a:ext cx="3280611" cy="332142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Multi-tenancy | MFA/2FA TOTP | PWA Responsiva | Conformidade LGPD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736556" y="4807744"/>
            <a:ext cx="1835944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Agile360 — Proposta Comercial 2026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REQUISITOS DO SISTEMA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992981"/>
            <a:ext cx="2619356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992981"/>
            <a:ext cx="2619356" cy="21431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207294"/>
            <a:ext cx="150019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64394" y="1214438"/>
            <a:ext cx="14966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FUNCIONAIS BÁSICOS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7219" y="1557338"/>
            <a:ext cx="2262169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Gerenciar Clientes: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CRUD completo com validação Regex (CPF/CNPJ) e consulta ViaCEP.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607219" y="2144520"/>
            <a:ext cx="2262169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Gerenciar Processos: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Padrão de numeração única CNJ e vinculação estruturada.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607219" y="2731703"/>
            <a:ext cx="2262169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Agenda Inteligente: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Sincronização bidirecional com Google Agenda e alerta de conflitos.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262294" y="992981"/>
            <a:ext cx="2619384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262294" y="992981"/>
            <a:ext cx="2619384" cy="2143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9"/>
          <p:cNvSpPr/>
          <p:nvPr/>
        </p:nvSpPr>
        <p:spPr>
          <a:xfrm>
            <a:off x="607219" y="1557338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07219" y="2144520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07219" y="2731703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207294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19494" y="1214438"/>
            <a:ext cx="110013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FUNDAMENTAIS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440888" y="1557338"/>
            <a:ext cx="2262197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Staging Área: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Fluxo de aprovação com revisão humana obrigatória para dados de IA/WhatsApp.</a:t>
            </a:r>
            <a:endParaRPr lang="en-US" sz="700" dirty="0"/>
          </a:p>
        </p:txBody>
      </p:sp>
      <p:sp>
        <p:nvSpPr>
          <p:cNvPr id="19" name="Text 14"/>
          <p:cNvSpPr/>
          <p:nvPr/>
        </p:nvSpPr>
        <p:spPr>
          <a:xfrm>
            <a:off x="3440888" y="2144520"/>
            <a:ext cx="2262197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Guardião Neural: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OCR de intimações, extração de datas e cálculo automático de prazos fatais.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3440888" y="2731703"/>
            <a:ext cx="2262197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Multi-tenancy: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Isolamento total de dados por escritório via RLS.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6095991" y="992981"/>
            <a:ext cx="2619356" cy="34290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6095991" y="992981"/>
            <a:ext cx="2619356" cy="21431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18"/>
          <p:cNvSpPr/>
          <p:nvPr/>
        </p:nvSpPr>
        <p:spPr>
          <a:xfrm>
            <a:off x="3440888" y="1557338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3440888" y="2144520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3440888" y="2731703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84" y="1207294"/>
            <a:ext cx="171450" cy="1714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53191" y="1214438"/>
            <a:ext cx="143768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SEGURANÇA E SAÍDA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274584" y="1557338"/>
            <a:ext cx="2262169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Dashboard Visão 360: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KPIs interativos, funil de vendas e exportação (Excel/CSV).</a:t>
            </a:r>
            <a:endParaRPr lang="en-US" sz="700" dirty="0"/>
          </a:p>
        </p:txBody>
      </p:sp>
      <p:sp>
        <p:nvSpPr>
          <p:cNvPr id="29" name="Text 23"/>
          <p:cNvSpPr/>
          <p:nvPr/>
        </p:nvSpPr>
        <p:spPr>
          <a:xfrm>
            <a:off x="6274584" y="1984511"/>
            <a:ext cx="2262169" cy="4800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Auditoria LGPD: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Logs detalhados de acessos e alterações com assinatura digital em PDF.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6274584" y="2571694"/>
            <a:ext cx="2262169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Infraestrutura:</a:t>
            </a:r>
            <a:r>
              <a:rPr lang="en-US" sz="7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PWA responsiva, MFA/2FA TOTP e Cloudflare Tunnel para API segura.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6736556" y="4807744"/>
            <a:ext cx="18359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6274584" y="1557338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27"/>
          <p:cNvSpPr/>
          <p:nvPr/>
        </p:nvSpPr>
        <p:spPr>
          <a:xfrm>
            <a:off x="6274584" y="1984511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  <p:sp>
        <p:nvSpPr>
          <p:cNvPr id="34" name="Text 28"/>
          <p:cNvSpPr/>
          <p:nvPr/>
        </p:nvSpPr>
        <p:spPr>
          <a:xfrm>
            <a:off x="6274584" y="2571694"/>
            <a:ext cx="35719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•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kern="0" spc="2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HORAS DE DESENVOLVIMENTO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992981"/>
            <a:ext cx="8001000" cy="289143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71500" y="992981"/>
            <a:ext cx="909070" cy="442913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961933"/>
            <a:ext cx="702500" cy="50501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FASE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480570" y="992981"/>
            <a:ext cx="5702247" cy="442913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1480570" y="958086"/>
            <a:ext cx="5702247" cy="51270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162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DESCRIÇÃO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182817" y="992981"/>
            <a:ext cx="1389683" cy="442913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7182817" y="961933"/>
            <a:ext cx="1389683" cy="50501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A1628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HORAS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71500" y="1404446"/>
            <a:ext cx="732958" cy="462947"/>
          </a:xfrm>
          <a:prstGeom prst="rect">
            <a:avLst/>
          </a:prstGeom>
          <a:noFill/>
          <a:ln/>
        </p:spPr>
        <p:txBody>
          <a:bodyPr wrap="non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Fase 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80570" y="1404446"/>
            <a:ext cx="570224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Discovery &amp; Arquitetura (análise, modelagem, setup CI/CD, infra)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82817" y="1389058"/>
            <a:ext cx="1389683" cy="49372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40h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71500" y="1806282"/>
            <a:ext cx="732958" cy="462947"/>
          </a:xfrm>
          <a:prstGeom prst="rect">
            <a:avLst/>
          </a:prstGeom>
          <a:noFill/>
          <a:ln/>
        </p:spPr>
        <p:txBody>
          <a:bodyPr wrap="non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Fase 2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480570" y="1806282"/>
            <a:ext cx="570224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Backend — módulos básicos + autenticação MFA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82817" y="1798587"/>
            <a:ext cx="1389683" cy="47833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100h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2209904"/>
            <a:ext cx="732958" cy="462947"/>
          </a:xfrm>
          <a:prstGeom prst="rect">
            <a:avLst/>
          </a:prstGeom>
          <a:noFill/>
          <a:ln/>
        </p:spPr>
        <p:txBody>
          <a:bodyPr wrap="non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Fase 3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80570" y="2209904"/>
            <a:ext cx="570224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Integrações &amp; IA (Staging, OCR, WhatsApp, DataJud, Jurimetria)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182817" y="2202209"/>
            <a:ext cx="1389683" cy="47833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168h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71500" y="2613526"/>
            <a:ext cx="732958" cy="462947"/>
          </a:xfrm>
          <a:prstGeom prst="rect">
            <a:avLst/>
          </a:prstGeom>
          <a:noFill/>
          <a:ln/>
        </p:spPr>
        <p:txBody>
          <a:bodyPr wrap="non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Fase 4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480570" y="2613526"/>
            <a:ext cx="570224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Frontend &amp; UX (React, Dashboard, Auditoria, PWA)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182817" y="2605831"/>
            <a:ext cx="1389683" cy="47833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96h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71500" y="3017147"/>
            <a:ext cx="732958" cy="462947"/>
          </a:xfrm>
          <a:prstGeom prst="rect">
            <a:avLst/>
          </a:prstGeom>
          <a:noFill/>
          <a:ln/>
        </p:spPr>
        <p:txBody>
          <a:bodyPr wrap="non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Fase 5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480570" y="3017147"/>
            <a:ext cx="570224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QA, Deploy &amp; Entrega (testes, go-live, documentação, treinamento)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182817" y="3009452"/>
            <a:ext cx="1389683" cy="47833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68h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71500" y="3450431"/>
            <a:ext cx="8001000" cy="433983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" y="3435949"/>
            <a:ext cx="6611317" cy="46294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TOTAL ACUMULADO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182817" y="3428255"/>
            <a:ext cx="1389683" cy="47833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472 horas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71499" y="4248745"/>
            <a:ext cx="3126205" cy="323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Taxa aplicada: </a:t>
            </a:r>
            <a:r>
              <a:rPr lang="en-US" sz="1050" b="1" i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R$ 50/h</a:t>
            </a: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(perfil portfólio/iniciante). </a:t>
            </a:r>
            <a:r>
              <a:rPr lang="en-US" sz="1050" b="1" i="1" dirty="0">
                <a:solidFill>
                  <a:srgbClr val="C9A84C"/>
                </a:solidFill>
                <a:latin typeface="Arial" panose="020B0604020202020204" pitchFamily="34" charset="0"/>
                <a:ea typeface="Montserrat Bold" pitchFamily="34" charset="-122"/>
                <a:cs typeface="Arial" panose="020B0604020202020204" pitchFamily="34" charset="0"/>
              </a:rPr>
              <a:t>R$ 50,00 * 472/h = R$ 23.600</a:t>
            </a: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736556" y="4807744"/>
            <a:ext cx="1835944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Agile360 — Proposta Comercial 2026</a:t>
            </a:r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SETUP — CUSTOS DE IMPLANTAÇÃO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1135856"/>
            <a:ext cx="8001000" cy="317896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35856"/>
            <a:ext cx="2787430" cy="42862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135856"/>
            <a:ext cx="2787430" cy="428625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ITEM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358930" y="1135856"/>
            <a:ext cx="3384156" cy="42862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3358930" y="1135856"/>
            <a:ext cx="3384156" cy="428625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DETALHE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743086" y="1135856"/>
            <a:ext cx="1829414" cy="42862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6743086" y="1135856"/>
            <a:ext cx="1829414" cy="428625"/>
          </a:xfrm>
          <a:prstGeom prst="rect">
            <a:avLst/>
          </a:prstGeom>
          <a:noFill/>
          <a:ln/>
        </p:spPr>
        <p:txBody>
          <a:bodyPr wrap="square" lIns="170053" tIns="170053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CUSTO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1500" y="1564481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agile360.com.br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358930" y="1564481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Registro.br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43086" y="1564481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R$ 40/ano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1500" y="1957388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VPS Hospedagem (Hetzner/Contabo)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358930" y="1957388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4vCPU, 8GB RAM — produção e staging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43086" y="1957388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R$ 150–200/mês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1500" y="2350294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Banco de dados Supabase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58930" y="2350294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gerenciado — gratuito até 500MB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43086" y="2350294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1500" y="2743200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OpenAI GPT-4o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358930" y="2743200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de API pay-per-use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743086" y="2743200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~R$ 100–250/mês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71500" y="3136106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Cloudflare Tunnel + WAF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358930" y="3136106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Segurança e exposição da API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743086" y="3136106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R$ 0–100/mês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71500" y="3529013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Evolution API + n8n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358930" y="3529013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Self-hosted no mesmo VPS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743086" y="3529013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R$ 0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71500" y="3921919"/>
            <a:ext cx="2787430" cy="392906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" y="3921919"/>
            <a:ext cx="2787430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 INFRAESTRUTURA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358930" y="3921919"/>
            <a:ext cx="3384156" cy="392906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358930" y="3921919"/>
            <a:ext cx="3384156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Estimativa mensal em produção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743086" y="3921919"/>
            <a:ext cx="1829414" cy="392906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743086" y="3921919"/>
            <a:ext cx="1829414" cy="392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ctr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~R$ 300–550/mês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0" y="4314825"/>
            <a:ext cx="9144000" cy="335756"/>
          </a:xfrm>
          <a:prstGeom prst="rect">
            <a:avLst/>
          </a:prstGeom>
          <a:noFill/>
          <a:ln/>
        </p:spPr>
        <p:txBody>
          <a:bodyPr wrap="square" lIns="680339" tIns="25514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Os custos de APIs internacionais (OpenAI) podem variar conforme o câmbio e volume de uso.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736556" y="4807744"/>
            <a:ext cx="18359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DEMAIS DESPESAS CONSIDERADAS</a:t>
            </a:r>
            <a:endParaRPr lang="en-US" sz="1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21594"/>
            <a:ext cx="171450" cy="671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285875"/>
            <a:ext cx="3543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Suporte Pós-Entrega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885825" y="1514475"/>
            <a:ext cx="3543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Primeiros 30 dias de suporte técnico e operacional inclusos para garantir estabilidade total.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321594"/>
            <a:ext cx="214313" cy="671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72063" y="1285875"/>
            <a:ext cx="35004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Treinamento Inicial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072063" y="1514475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horas de treinamento dedicado para a equipe do cliente, focadas em produtividade e uso da IA.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64594"/>
            <a:ext cx="128588" cy="6715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2963" y="2428875"/>
            <a:ext cx="358616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Documentação Completa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842963" y="2657475"/>
            <a:ext cx="35861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de manuais do usuário e documentação técnica detalhada da arquitetura do sistema.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2464594"/>
            <a:ext cx="171450" cy="67151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029200" y="2428875"/>
            <a:ext cx="3543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Atualizações de Segurança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5029200" y="2657475"/>
            <a:ext cx="3543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Patches de segurança e correções críticas já contemplados no plano de assinatura mensal.</a:t>
            </a:r>
            <a:endParaRPr lang="en-US" sz="8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607594"/>
            <a:ext cx="214313" cy="6715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8688" y="3571875"/>
            <a:ext cx="35004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Curva de Aprendizado</a:t>
            </a:r>
            <a:endParaRPr lang="en-US" sz="900" dirty="0"/>
          </a:p>
        </p:txBody>
      </p:sp>
      <p:sp>
        <p:nvSpPr>
          <p:cNvPr id="18" name="Text 10"/>
          <p:cNvSpPr/>
          <p:nvPr/>
        </p:nvSpPr>
        <p:spPr>
          <a:xfrm>
            <a:off x="928688" y="3800475"/>
            <a:ext cx="35004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 de pesquisa e domínio técnico das APIs absorvido na taxa horária, sem custos extras.</a:t>
            </a:r>
            <a:endParaRPr lang="en-US" sz="8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3607594"/>
            <a:ext cx="171450" cy="6715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29200" y="3571875"/>
            <a:ext cx="3543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Variações de Câmbio</a:t>
            </a:r>
            <a:endParaRPr lang="en-US" sz="900" dirty="0"/>
          </a:p>
        </p:txBody>
      </p:sp>
      <p:sp>
        <p:nvSpPr>
          <p:cNvPr id="21" name="Text 12"/>
          <p:cNvSpPr/>
          <p:nvPr/>
        </p:nvSpPr>
        <p:spPr>
          <a:xfrm>
            <a:off x="5029200" y="3800475"/>
            <a:ext cx="35433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FFFFFF">
                    <a:alpha val="9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Custos de APIs internacionais (OpenAI) repassados via ajuste semestral nos planos Pro/Escritório.</a:t>
            </a:r>
            <a:endParaRPr lang="en-US" sz="850" dirty="0"/>
          </a:p>
        </p:txBody>
      </p:sp>
      <p:sp>
        <p:nvSpPr>
          <p:cNvPr id="22" name="Text 13"/>
          <p:cNvSpPr/>
          <p:nvPr/>
        </p:nvSpPr>
        <p:spPr>
          <a:xfrm>
            <a:off x="6736556" y="4807744"/>
            <a:ext cx="18359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POSICIONAMENTO COMPETITIVO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992981"/>
            <a:ext cx="8001000" cy="210204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92981"/>
            <a:ext cx="1271588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992981"/>
            <a:ext cx="1271588" cy="335756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SOLUÇÃO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843088" y="992981"/>
            <a:ext cx="1643035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1843088" y="992981"/>
            <a:ext cx="1643035" cy="3357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PREÇO BASE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486122" y="992981"/>
            <a:ext cx="1133289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3486122" y="992981"/>
            <a:ext cx="1133289" cy="33575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IA NATIVA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19411" y="992981"/>
            <a:ext cx="1260732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4619411" y="992981"/>
            <a:ext cx="1260732" cy="33575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WHATSAPP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880143" y="992981"/>
            <a:ext cx="1382734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5880143" y="992981"/>
            <a:ext cx="1382734" cy="3357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OCR PRAZOS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7262878" y="992981"/>
            <a:ext cx="1309622" cy="33575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7262878" y="992981"/>
            <a:ext cx="1309622" cy="3357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LGPD AUDIT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71500" y="1328738"/>
            <a:ext cx="1271588" cy="348258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AdvBox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843088" y="1328738"/>
            <a:ext cx="1643035" cy="34825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R$ 99–299/mês</a:t>
            </a:r>
            <a:endParaRPr lang="en-US" sz="8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834" y="1446609"/>
            <a:ext cx="67866" cy="1071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619411" y="1328738"/>
            <a:ext cx="1260732" cy="34825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Parcial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564" y="1446609"/>
            <a:ext cx="67866" cy="107156"/>
          </a:xfrm>
          <a:prstGeom prst="rect">
            <a:avLst/>
          </a:prstGeom>
        </p:spPr>
      </p:pic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742" y="1446609"/>
            <a:ext cx="67866" cy="1071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" y="1676995"/>
            <a:ext cx="1271588" cy="351830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Astrea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1843088" y="1676995"/>
            <a:ext cx="1643035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R$ 99–249/mês</a:t>
            </a:r>
            <a:endParaRPr lang="en-US" sz="8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8834" y="1798439"/>
            <a:ext cx="67866" cy="107156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830" y="1798439"/>
            <a:ext cx="67866" cy="107156"/>
          </a:xfrm>
          <a:prstGeom prst="rect">
            <a:avLst/>
          </a:prstGeom>
        </p:spPr>
      </p:pic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564" y="1798439"/>
            <a:ext cx="67866" cy="107156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3742" y="1798439"/>
            <a:ext cx="67866" cy="10715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71500" y="2028825"/>
            <a:ext cx="1271588" cy="351830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Projuris</a:t>
            </a:r>
            <a:endParaRPr lang="en-US" sz="750" dirty="0"/>
          </a:p>
        </p:txBody>
      </p:sp>
      <p:sp>
        <p:nvSpPr>
          <p:cNvPr id="30" name="Text 20"/>
          <p:cNvSpPr/>
          <p:nvPr/>
        </p:nvSpPr>
        <p:spPr>
          <a:xfrm>
            <a:off x="1843088" y="2028825"/>
            <a:ext cx="1643035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R$ 150–400/mês</a:t>
            </a:r>
            <a:endParaRPr lang="en-US" sz="8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8834" y="2150269"/>
            <a:ext cx="67866" cy="107156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5830" y="2150269"/>
            <a:ext cx="67866" cy="107156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564" y="2150269"/>
            <a:ext cx="67866" cy="10715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7262878" y="2028825"/>
            <a:ext cx="1309622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Parcial</a:t>
            </a:r>
            <a:endParaRPr lang="en-US" sz="800" dirty="0"/>
          </a:p>
        </p:txBody>
      </p:sp>
      <p:sp>
        <p:nvSpPr>
          <p:cNvPr id="35" name="Text 22"/>
          <p:cNvSpPr/>
          <p:nvPr/>
        </p:nvSpPr>
        <p:spPr>
          <a:xfrm>
            <a:off x="571500" y="2380655"/>
            <a:ext cx="1271588" cy="351830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Clio (EUA)</a:t>
            </a:r>
            <a:endParaRPr lang="en-US" sz="750" dirty="0"/>
          </a:p>
        </p:txBody>
      </p:sp>
      <p:sp>
        <p:nvSpPr>
          <p:cNvPr id="36" name="Text 23"/>
          <p:cNvSpPr/>
          <p:nvPr/>
        </p:nvSpPr>
        <p:spPr>
          <a:xfrm>
            <a:off x="1843088" y="2380655"/>
            <a:ext cx="1643035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~R$ 250/usuário</a:t>
            </a:r>
            <a:endParaRPr lang="en-US" sz="800" dirty="0"/>
          </a:p>
        </p:txBody>
      </p:sp>
      <p:sp>
        <p:nvSpPr>
          <p:cNvPr id="37" name="Text 24"/>
          <p:cNvSpPr/>
          <p:nvPr/>
        </p:nvSpPr>
        <p:spPr>
          <a:xfrm>
            <a:off x="3486122" y="2380655"/>
            <a:ext cx="1133289" cy="351830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Parcial</a:t>
            </a:r>
            <a:endParaRPr lang="en-US" sz="8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5830" y="2502098"/>
            <a:ext cx="67866" cy="107156"/>
          </a:xfrm>
          <a:prstGeom prst="rect">
            <a:avLst/>
          </a:prstGeom>
        </p:spPr>
      </p:pic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564" y="2502098"/>
            <a:ext cx="67866" cy="107156"/>
          </a:xfrm>
          <a:prstGeom prst="rect">
            <a:avLst/>
          </a:prstGeom>
        </p:spPr>
      </p:pic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4097" y="2502098"/>
            <a:ext cx="107156" cy="107156"/>
          </a:xfrm>
          <a:prstGeom prst="rect">
            <a:avLst/>
          </a:prstGeom>
        </p:spPr>
      </p:pic>
      <p:sp>
        <p:nvSpPr>
          <p:cNvPr id="41" name="Shape 25"/>
          <p:cNvSpPr/>
          <p:nvPr/>
        </p:nvSpPr>
        <p:spPr>
          <a:xfrm>
            <a:off x="571500" y="2732484"/>
            <a:ext cx="8001000" cy="355402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42" name="Text 26"/>
          <p:cNvSpPr/>
          <p:nvPr/>
        </p:nvSpPr>
        <p:spPr>
          <a:xfrm>
            <a:off x="571500" y="2732484"/>
            <a:ext cx="1271588" cy="355402"/>
          </a:xfrm>
          <a:prstGeom prst="rect">
            <a:avLst/>
          </a:prstGeom>
          <a:noFill/>
          <a:ln/>
        </p:spPr>
        <p:txBody>
          <a:bodyPr wrap="none" lIns="21259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Agile360</a:t>
            </a:r>
            <a:endParaRPr lang="en-US" sz="750" dirty="0"/>
          </a:p>
        </p:txBody>
      </p:sp>
      <p:sp>
        <p:nvSpPr>
          <p:cNvPr id="43" name="Text 27"/>
          <p:cNvSpPr/>
          <p:nvPr/>
        </p:nvSpPr>
        <p:spPr>
          <a:xfrm>
            <a:off x="1843088" y="2732484"/>
            <a:ext cx="1643035" cy="35540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R$ 79–499/mês</a:t>
            </a:r>
            <a:endParaRPr lang="en-US" sz="8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99188" y="2853928"/>
            <a:ext cx="107156" cy="107156"/>
          </a:xfrm>
          <a:prstGeom prst="rect">
            <a:avLst/>
          </a:prstGeom>
        </p:spPr>
      </p:pic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6185" y="2853928"/>
            <a:ext cx="107156" cy="107156"/>
          </a:xfrm>
          <a:prstGeom prst="rect">
            <a:avLst/>
          </a:prstGeom>
        </p:spPr>
      </p:pic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7918" y="2853928"/>
            <a:ext cx="107156" cy="107156"/>
          </a:xfrm>
          <a:prstGeom prst="rect">
            <a:avLst/>
          </a:prstGeom>
        </p:spPr>
      </p:pic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4097" y="2853928"/>
            <a:ext cx="107156" cy="107156"/>
          </a:xfrm>
          <a:prstGeom prst="rect">
            <a:avLst/>
          </a:prstGeom>
        </p:spPr>
      </p:pic>
      <p:sp>
        <p:nvSpPr>
          <p:cNvPr id="48" name="Text 28"/>
          <p:cNvSpPr/>
          <p:nvPr/>
        </p:nvSpPr>
        <p:spPr>
          <a:xfrm>
            <a:off x="571500" y="3380780"/>
            <a:ext cx="8001000" cy="46434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Agile360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 única solução com </a:t>
            </a: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IA nativa (GPT-4o)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OCR de prazos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9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Staging Área</a:t>
            </a:r>
            <a:r>
              <a:rPr lang="en-US" sz="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 revisão humana nesta faixa de preço.</a:t>
            </a:r>
            <a:endParaRPr lang="en-US" sz="950" dirty="0"/>
          </a:p>
        </p:txBody>
      </p:sp>
      <p:sp>
        <p:nvSpPr>
          <p:cNvPr id="49" name="Text 29"/>
          <p:cNvSpPr/>
          <p:nvPr/>
        </p:nvSpPr>
        <p:spPr>
          <a:xfrm>
            <a:off x="6736556" y="4807744"/>
            <a:ext cx="18359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7153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ASSINATURA SAAS — COBRANÇA POR FAIXA DE PROCESSOS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635794"/>
            <a:ext cx="8715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Você paga de acordo com o tamanho da sua carteira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285750" y="1007269"/>
            <a:ext cx="2062758" cy="37147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1007269"/>
            <a:ext cx="2062758" cy="28575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185863"/>
            <a:ext cx="184844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INICIAL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92906" y="1360884"/>
            <a:ext cx="18484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R$ 79/mês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2906" y="1641277"/>
            <a:ext cx="1848445" cy="226814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Até 20 processos</a:t>
            </a:r>
            <a:endParaRPr lang="en-US" sz="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2010966"/>
            <a:ext cx="85725" cy="1199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781" y="2010966"/>
            <a:ext cx="118229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Clientes, Processos, Agenda</a:t>
            </a:r>
            <a:endParaRPr lang="en-US" sz="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202396"/>
            <a:ext cx="85725" cy="1199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781" y="2202396"/>
            <a:ext cx="104120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de prazo (e-mail)</a:t>
            </a:r>
            <a:endParaRPr lang="en-US" sz="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393826"/>
            <a:ext cx="85725" cy="1199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5781" y="2393826"/>
            <a:ext cx="95726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MFA + Google Agenda</a:t>
            </a:r>
            <a:endParaRPr lang="en-US" sz="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585256"/>
            <a:ext cx="85725" cy="11999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5781" y="2585256"/>
            <a:ext cx="482203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advogado</a:t>
            </a:r>
            <a:endParaRPr lang="en-US" sz="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2776686"/>
            <a:ext cx="53578" cy="11999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3634" y="2776686"/>
            <a:ext cx="86260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/ Staging</a:t>
            </a:r>
            <a:endParaRPr lang="en-US" sz="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2968117"/>
            <a:ext cx="53578" cy="119993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3634" y="2968117"/>
            <a:ext cx="35718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/ OCR</a:t>
            </a:r>
            <a:endParaRPr lang="en-US" sz="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" y="3159547"/>
            <a:ext cx="53578" cy="119993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3634" y="3159547"/>
            <a:ext cx="85903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analítico</a:t>
            </a:r>
            <a:endParaRPr lang="en-US" sz="600" dirty="0"/>
          </a:p>
        </p:txBody>
      </p:sp>
      <p:sp>
        <p:nvSpPr>
          <p:cNvPr id="24" name="Shape 14"/>
          <p:cNvSpPr/>
          <p:nvPr/>
        </p:nvSpPr>
        <p:spPr>
          <a:xfrm>
            <a:off x="2455664" y="1007269"/>
            <a:ext cx="2062758" cy="3714750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25" name="Shape 15"/>
          <p:cNvSpPr/>
          <p:nvPr/>
        </p:nvSpPr>
        <p:spPr>
          <a:xfrm>
            <a:off x="2455664" y="1007269"/>
            <a:ext cx="2062758" cy="28575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Shape 16"/>
          <p:cNvSpPr/>
          <p:nvPr/>
        </p:nvSpPr>
        <p:spPr>
          <a:xfrm>
            <a:off x="2562820" y="1212652"/>
            <a:ext cx="696516" cy="11608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17"/>
          <p:cNvSpPr/>
          <p:nvPr/>
        </p:nvSpPr>
        <p:spPr>
          <a:xfrm>
            <a:off x="2562820" y="1212652"/>
            <a:ext cx="696516" cy="116086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marL="0" indent="0" algn="l">
              <a:buNone/>
            </a:pPr>
            <a:r>
              <a:rPr lang="en-US" sz="500" b="1" dirty="0">
                <a:solidFill>
                  <a:srgbClr val="0A16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MAIS POPULAR</a:t>
            </a:r>
            <a:endParaRPr lang="en-US" sz="500" dirty="0"/>
          </a:p>
        </p:txBody>
      </p:sp>
      <p:sp>
        <p:nvSpPr>
          <p:cNvPr id="28" name="Text 18"/>
          <p:cNvSpPr/>
          <p:nvPr/>
        </p:nvSpPr>
        <p:spPr>
          <a:xfrm>
            <a:off x="2562820" y="1400175"/>
            <a:ext cx="184844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ESSENCIAL</a:t>
            </a:r>
            <a:endParaRPr lang="en-US" sz="800" dirty="0"/>
          </a:p>
        </p:txBody>
      </p:sp>
      <p:sp>
        <p:nvSpPr>
          <p:cNvPr id="29" name="Text 19"/>
          <p:cNvSpPr/>
          <p:nvPr/>
        </p:nvSpPr>
        <p:spPr>
          <a:xfrm>
            <a:off x="2562820" y="1575197"/>
            <a:ext cx="18484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R$ 149/mês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2562820" y="1855589"/>
            <a:ext cx="1848445" cy="226814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 a 50 processos</a:t>
            </a:r>
            <a:endParaRPr lang="en-US" sz="6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2820" y="2225278"/>
            <a:ext cx="85725" cy="11999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705695" y="2225278"/>
            <a:ext cx="6286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Tudo do Inicial</a:t>
            </a:r>
            <a:endParaRPr lang="en-US" sz="6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2820" y="2416708"/>
            <a:ext cx="85725" cy="119993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2705695" y="2416708"/>
            <a:ext cx="110013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Staging Área + WhatsApp</a:t>
            </a:r>
            <a:endParaRPr lang="en-US" sz="6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62820" y="2608138"/>
            <a:ext cx="85725" cy="119993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2705695" y="2608138"/>
            <a:ext cx="9715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Guardião Neural (OCR)</a:t>
            </a:r>
            <a:endParaRPr lang="en-US" sz="6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2820" y="2799569"/>
            <a:ext cx="85725" cy="119993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2705695" y="2799569"/>
            <a:ext cx="90368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Visão 360</a:t>
            </a:r>
            <a:endParaRPr lang="en-US" sz="6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2820" y="2990999"/>
            <a:ext cx="85725" cy="119993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2705695" y="2990999"/>
            <a:ext cx="70901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Até 3 advogados</a:t>
            </a:r>
            <a:endParaRPr lang="en-US" sz="600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2820" y="3182429"/>
            <a:ext cx="53578" cy="119993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2673548" y="3182429"/>
            <a:ext cx="55185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Jurimetria IA</a:t>
            </a:r>
            <a:endParaRPr lang="en-US" sz="600" dirty="0"/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62820" y="3373859"/>
            <a:ext cx="53578" cy="119993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2673548" y="3373859"/>
            <a:ext cx="87153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LGPD PDF</a:t>
            </a:r>
            <a:endParaRPr lang="en-US" sz="600" dirty="0"/>
          </a:p>
        </p:txBody>
      </p:sp>
      <p:sp>
        <p:nvSpPr>
          <p:cNvPr id="45" name="Shape 28"/>
          <p:cNvSpPr/>
          <p:nvPr/>
        </p:nvSpPr>
        <p:spPr>
          <a:xfrm>
            <a:off x="4625578" y="1007269"/>
            <a:ext cx="2062758" cy="37147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46" name="Shape 29"/>
          <p:cNvSpPr/>
          <p:nvPr/>
        </p:nvSpPr>
        <p:spPr>
          <a:xfrm>
            <a:off x="4625578" y="1007269"/>
            <a:ext cx="2062758" cy="28575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47" name="Text 30"/>
          <p:cNvSpPr/>
          <p:nvPr/>
        </p:nvSpPr>
        <p:spPr>
          <a:xfrm>
            <a:off x="4732734" y="1185863"/>
            <a:ext cx="184844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PROFISSIONAL</a:t>
            </a:r>
            <a:endParaRPr lang="en-US" sz="800" dirty="0"/>
          </a:p>
        </p:txBody>
      </p:sp>
      <p:sp>
        <p:nvSpPr>
          <p:cNvPr id="48" name="Text 31"/>
          <p:cNvSpPr/>
          <p:nvPr/>
        </p:nvSpPr>
        <p:spPr>
          <a:xfrm>
            <a:off x="4732734" y="1360884"/>
            <a:ext cx="18484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R$ 299/mês</a:t>
            </a:r>
            <a:endParaRPr lang="en-US" sz="1200" dirty="0"/>
          </a:p>
        </p:txBody>
      </p:sp>
      <p:sp>
        <p:nvSpPr>
          <p:cNvPr id="49" name="Text 32"/>
          <p:cNvSpPr/>
          <p:nvPr/>
        </p:nvSpPr>
        <p:spPr>
          <a:xfrm>
            <a:off x="4732734" y="1641277"/>
            <a:ext cx="1848445" cy="226814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 a 150 processos</a:t>
            </a:r>
            <a:endParaRPr lang="en-US" sz="65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2734" y="2010966"/>
            <a:ext cx="85725" cy="119993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4875609" y="2010966"/>
            <a:ext cx="76973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Tudo do Essencial</a:t>
            </a:r>
            <a:endParaRPr lang="en-US" sz="600" dirty="0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32734" y="2202396"/>
            <a:ext cx="85725" cy="119993"/>
          </a:xfrm>
          <a:prstGeom prst="rect">
            <a:avLst/>
          </a:prstGeom>
        </p:spPr>
      </p:pic>
      <p:sp>
        <p:nvSpPr>
          <p:cNvPr id="53" name="Text 34"/>
          <p:cNvSpPr/>
          <p:nvPr/>
        </p:nvSpPr>
        <p:spPr>
          <a:xfrm>
            <a:off x="4875609" y="2202396"/>
            <a:ext cx="128587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Jurimetria + Jurisprudência IA</a:t>
            </a:r>
            <a:endParaRPr lang="en-US" sz="600" dirty="0"/>
          </a:p>
        </p:txBody>
      </p:sp>
      <p:pic>
        <p:nvPicPr>
          <p:cNvPr id="54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32734" y="2393826"/>
            <a:ext cx="85725" cy="119993"/>
          </a:xfrm>
          <a:prstGeom prst="rect">
            <a:avLst/>
          </a:prstGeom>
        </p:spPr>
      </p:pic>
      <p:sp>
        <p:nvSpPr>
          <p:cNvPr id="55" name="Text 35"/>
          <p:cNvSpPr/>
          <p:nvPr/>
        </p:nvSpPr>
        <p:spPr>
          <a:xfrm>
            <a:off x="4875609" y="2393826"/>
            <a:ext cx="1346597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Assistente Gabriela (WhatsApp)</a:t>
            </a:r>
            <a:endParaRPr lang="en-US" sz="600" dirty="0"/>
          </a:p>
        </p:txBody>
      </p:sp>
      <p:pic>
        <p:nvPicPr>
          <p:cNvPr id="56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32734" y="2585256"/>
            <a:ext cx="85725" cy="119993"/>
          </a:xfrm>
          <a:prstGeom prst="rect">
            <a:avLst/>
          </a:prstGeom>
        </p:spPr>
      </p:pic>
      <p:sp>
        <p:nvSpPr>
          <p:cNvPr id="57" name="Text 36"/>
          <p:cNvSpPr/>
          <p:nvPr/>
        </p:nvSpPr>
        <p:spPr>
          <a:xfrm>
            <a:off x="4875609" y="2585256"/>
            <a:ext cx="107513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DataJud CNJ automático</a:t>
            </a:r>
            <a:endParaRPr lang="en-US" sz="600" dirty="0"/>
          </a:p>
        </p:txBody>
      </p:sp>
      <p:pic>
        <p:nvPicPr>
          <p:cNvPr id="58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732734" y="2776686"/>
            <a:ext cx="85725" cy="119993"/>
          </a:xfrm>
          <a:prstGeom prst="rect">
            <a:avLst/>
          </a:prstGeom>
        </p:spPr>
      </p:pic>
      <p:sp>
        <p:nvSpPr>
          <p:cNvPr id="59" name="Text 37"/>
          <p:cNvSpPr/>
          <p:nvPr/>
        </p:nvSpPr>
        <p:spPr>
          <a:xfrm>
            <a:off x="4875609" y="2776686"/>
            <a:ext cx="7161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Até 8 advogados</a:t>
            </a:r>
            <a:endParaRPr lang="en-US" sz="600" dirty="0"/>
          </a:p>
        </p:txBody>
      </p:sp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2734" y="2968117"/>
            <a:ext cx="85725" cy="119993"/>
          </a:xfrm>
          <a:prstGeom prst="rect">
            <a:avLst/>
          </a:prstGeom>
        </p:spPr>
      </p:pic>
      <p:sp>
        <p:nvSpPr>
          <p:cNvPr id="61" name="Text 38"/>
          <p:cNvSpPr/>
          <p:nvPr/>
        </p:nvSpPr>
        <p:spPr>
          <a:xfrm>
            <a:off x="4875609" y="2968117"/>
            <a:ext cx="103763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LGPD em PDF</a:t>
            </a:r>
            <a:endParaRPr lang="en-US" sz="600" dirty="0"/>
          </a:p>
        </p:txBody>
      </p:sp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32734" y="3159547"/>
            <a:ext cx="85725" cy="119993"/>
          </a:xfrm>
          <a:prstGeom prst="rect">
            <a:avLst/>
          </a:prstGeom>
        </p:spPr>
      </p:pic>
      <p:sp>
        <p:nvSpPr>
          <p:cNvPr id="63" name="Text 39"/>
          <p:cNvSpPr/>
          <p:nvPr/>
        </p:nvSpPr>
        <p:spPr>
          <a:xfrm>
            <a:off x="4875609" y="3159547"/>
            <a:ext cx="93225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Exportação Excel/CSV</a:t>
            </a:r>
            <a:endParaRPr lang="en-US" sz="600" dirty="0"/>
          </a:p>
        </p:txBody>
      </p:sp>
      <p:sp>
        <p:nvSpPr>
          <p:cNvPr id="64" name="Shape 40"/>
          <p:cNvSpPr/>
          <p:nvPr/>
        </p:nvSpPr>
        <p:spPr>
          <a:xfrm>
            <a:off x="6795492" y="1007269"/>
            <a:ext cx="2062758" cy="37147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5" name="Shape 41"/>
          <p:cNvSpPr/>
          <p:nvPr/>
        </p:nvSpPr>
        <p:spPr>
          <a:xfrm>
            <a:off x="6795492" y="1007269"/>
            <a:ext cx="2062758" cy="28575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66" name="Text 42"/>
          <p:cNvSpPr/>
          <p:nvPr/>
        </p:nvSpPr>
        <p:spPr>
          <a:xfrm>
            <a:off x="6902648" y="1185863"/>
            <a:ext cx="184844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PLANO ESCRITÓRIO</a:t>
            </a:r>
            <a:endParaRPr lang="en-US" sz="800" dirty="0"/>
          </a:p>
        </p:txBody>
      </p:sp>
      <p:sp>
        <p:nvSpPr>
          <p:cNvPr id="67" name="Text 43"/>
          <p:cNvSpPr/>
          <p:nvPr/>
        </p:nvSpPr>
        <p:spPr>
          <a:xfrm>
            <a:off x="6902648" y="1360884"/>
            <a:ext cx="184844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R$ 499/mês</a:t>
            </a:r>
            <a:endParaRPr lang="en-US" sz="1200" dirty="0"/>
          </a:p>
        </p:txBody>
      </p:sp>
      <p:sp>
        <p:nvSpPr>
          <p:cNvPr id="68" name="Text 44"/>
          <p:cNvSpPr/>
          <p:nvPr/>
        </p:nvSpPr>
        <p:spPr>
          <a:xfrm>
            <a:off x="6902648" y="1641277"/>
            <a:ext cx="1848445" cy="226814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>
                    <a:alpha val="6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Acima de 150 processos</a:t>
            </a:r>
            <a:endParaRPr lang="en-US" sz="650" dirty="0"/>
          </a:p>
        </p:txBody>
      </p:sp>
      <p:pic>
        <p:nvPicPr>
          <p:cNvPr id="69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02648" y="2010966"/>
            <a:ext cx="85725" cy="119993"/>
          </a:xfrm>
          <a:prstGeom prst="rect">
            <a:avLst/>
          </a:prstGeom>
        </p:spPr>
      </p:pic>
      <p:sp>
        <p:nvSpPr>
          <p:cNvPr id="70" name="Text 45"/>
          <p:cNvSpPr/>
          <p:nvPr/>
        </p:nvSpPr>
        <p:spPr>
          <a:xfrm>
            <a:off x="7045523" y="2010966"/>
            <a:ext cx="86260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Tudo do Profissional</a:t>
            </a:r>
            <a:endParaRPr lang="en-US" sz="600" dirty="0"/>
          </a:p>
        </p:txBody>
      </p:sp>
      <p:pic>
        <p:nvPicPr>
          <p:cNvPr id="71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02648" y="2202396"/>
            <a:ext cx="85725" cy="119993"/>
          </a:xfrm>
          <a:prstGeom prst="rect">
            <a:avLst/>
          </a:prstGeom>
        </p:spPr>
      </p:pic>
      <p:sp>
        <p:nvSpPr>
          <p:cNvPr id="72" name="Text 46"/>
          <p:cNvSpPr/>
          <p:nvPr/>
        </p:nvSpPr>
        <p:spPr>
          <a:xfrm>
            <a:off x="7045523" y="2202396"/>
            <a:ext cx="86439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Processos ilimitados</a:t>
            </a:r>
            <a:endParaRPr lang="en-US" sz="600" dirty="0"/>
          </a:p>
        </p:txBody>
      </p:sp>
      <p:pic>
        <p:nvPicPr>
          <p:cNvPr id="7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02648" y="2393826"/>
            <a:ext cx="85725" cy="119993"/>
          </a:xfrm>
          <a:prstGeom prst="rect">
            <a:avLst/>
          </a:prstGeom>
        </p:spPr>
      </p:pic>
      <p:sp>
        <p:nvSpPr>
          <p:cNvPr id="74" name="Text 47"/>
          <p:cNvSpPr/>
          <p:nvPr/>
        </p:nvSpPr>
        <p:spPr>
          <a:xfrm>
            <a:off x="7045523" y="2393826"/>
            <a:ext cx="92333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Advogados ilimitados</a:t>
            </a:r>
            <a:endParaRPr lang="en-US" sz="600" dirty="0"/>
          </a:p>
        </p:txBody>
      </p:sp>
      <p:pic>
        <p:nvPicPr>
          <p:cNvPr id="75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02648" y="2585256"/>
            <a:ext cx="85725" cy="119993"/>
          </a:xfrm>
          <a:prstGeom prst="rect">
            <a:avLst/>
          </a:prstGeom>
        </p:spPr>
      </p:pic>
      <p:sp>
        <p:nvSpPr>
          <p:cNvPr id="76" name="Text 48"/>
          <p:cNvSpPr/>
          <p:nvPr/>
        </p:nvSpPr>
        <p:spPr>
          <a:xfrm>
            <a:off x="7045523" y="2585256"/>
            <a:ext cx="91082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assistido</a:t>
            </a:r>
            <a:endParaRPr lang="en-US" sz="600" dirty="0"/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02648" y="2776686"/>
            <a:ext cx="85725" cy="119993"/>
          </a:xfrm>
          <a:prstGeom prst="rect">
            <a:avLst/>
          </a:prstGeom>
        </p:spPr>
      </p:pic>
      <p:sp>
        <p:nvSpPr>
          <p:cNvPr id="78" name="Text 49"/>
          <p:cNvSpPr/>
          <p:nvPr/>
        </p:nvSpPr>
        <p:spPr>
          <a:xfrm>
            <a:off x="7045523" y="2776686"/>
            <a:ext cx="96083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 suporte prioritário</a:t>
            </a:r>
            <a:endParaRPr lang="en-US" sz="6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02648" y="2968117"/>
            <a:ext cx="85725" cy="119993"/>
          </a:xfrm>
          <a:prstGeom prst="rect">
            <a:avLst/>
          </a:prstGeom>
        </p:spPr>
      </p:pic>
      <p:sp>
        <p:nvSpPr>
          <p:cNvPr id="80" name="Text 50"/>
          <p:cNvSpPr/>
          <p:nvPr/>
        </p:nvSpPr>
        <p:spPr>
          <a:xfrm>
            <a:off x="7045523" y="2968117"/>
            <a:ext cx="108942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Relatórios personalizados</a:t>
            </a:r>
            <a:endParaRPr lang="en-US" sz="600" dirty="0"/>
          </a:p>
        </p:txBody>
      </p:sp>
      <p:pic>
        <p:nvPicPr>
          <p:cNvPr id="81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02648" y="3159547"/>
            <a:ext cx="85725" cy="119993"/>
          </a:xfrm>
          <a:prstGeom prst="rect">
            <a:avLst/>
          </a:prstGeom>
        </p:spPr>
      </p:pic>
      <p:sp>
        <p:nvSpPr>
          <p:cNvPr id="82" name="Text 51"/>
          <p:cNvSpPr/>
          <p:nvPr/>
        </p:nvSpPr>
        <p:spPr>
          <a:xfrm>
            <a:off x="7045523" y="3159547"/>
            <a:ext cx="964406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Implantação dedicada</a:t>
            </a:r>
            <a:endParaRPr lang="en-US" sz="600" dirty="0"/>
          </a:p>
        </p:txBody>
      </p:sp>
      <p:sp>
        <p:nvSpPr>
          <p:cNvPr id="83" name="Text 52"/>
          <p:cNvSpPr/>
          <p:nvPr/>
        </p:nvSpPr>
        <p:spPr>
          <a:xfrm>
            <a:off x="7145536" y="4897041"/>
            <a:ext cx="1569839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RESUMO DO INVESTIMENTO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1500" y="992981"/>
            <a:ext cx="2524116" cy="1000125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992981"/>
            <a:ext cx="2524116" cy="14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750094" y="1171575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DESENVOLVIMENTO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50094" y="1364456"/>
            <a:ext cx="21669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R$ 23.600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0094" y="1643063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Investimento único (472h)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309928" y="992981"/>
            <a:ext cx="2524116" cy="1000125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09928" y="992981"/>
            <a:ext cx="2524116" cy="14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8"/>
          <p:cNvSpPr/>
          <p:nvPr/>
        </p:nvSpPr>
        <p:spPr>
          <a:xfrm>
            <a:off x="3488522" y="1171575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INFRAESTRUTURA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488522" y="1364456"/>
            <a:ext cx="21669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R$ 300–550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488522" y="1643063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mensal estimado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6048356" y="992981"/>
            <a:ext cx="2524116" cy="1000125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048356" y="992981"/>
            <a:ext cx="2524116" cy="14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6226950" y="1171575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ASSINATURA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226950" y="1364456"/>
            <a:ext cx="216692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partir de R$ 79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26950" y="1643063"/>
            <a:ext cx="21669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faixa de processos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71500" y="2350294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ANÁLISE DE BREAK-EVEN (PROJEÇÃO)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" y="2666405"/>
            <a:ext cx="8001000" cy="178593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2666405"/>
            <a:ext cx="1614488" cy="339328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571500" y="2998589"/>
            <a:ext cx="1614488" cy="7144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23" name="Text 20"/>
          <p:cNvSpPr/>
          <p:nvPr/>
        </p:nvSpPr>
        <p:spPr>
          <a:xfrm>
            <a:off x="571500" y="2666405"/>
            <a:ext cx="1614488" cy="33932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CLIENTES ATIVOS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185988" y="2666405"/>
            <a:ext cx="2224078" cy="339328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185988" y="2998589"/>
            <a:ext cx="2224078" cy="7144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26" name="Text 23"/>
          <p:cNvSpPr/>
          <p:nvPr/>
        </p:nvSpPr>
        <p:spPr>
          <a:xfrm>
            <a:off x="2185988" y="2666405"/>
            <a:ext cx="2224078" cy="33932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MRR ESTIMADO (RECEITA)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410066" y="2666405"/>
            <a:ext cx="2059772" cy="339328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410066" y="2998589"/>
            <a:ext cx="2059772" cy="7144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29" name="Text 26"/>
          <p:cNvSpPr/>
          <p:nvPr/>
        </p:nvSpPr>
        <p:spPr>
          <a:xfrm>
            <a:off x="4410066" y="2666405"/>
            <a:ext cx="2059772" cy="33932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INFRA MENSAL (CUSTO)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6469838" y="2666405"/>
            <a:ext cx="2102662" cy="339328"/>
          </a:xfrm>
          <a:prstGeom prst="rect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469838" y="2998589"/>
            <a:ext cx="2102662" cy="7144"/>
          </a:xfrm>
          <a:prstGeom prst="rect">
            <a:avLst/>
          </a:prstGeom>
          <a:solidFill>
            <a:srgbClr val="EFE5C9"/>
          </a:solidFill>
          <a:ln/>
        </p:spPr>
      </p:sp>
      <p:sp>
        <p:nvSpPr>
          <p:cNvPr id="32" name="Text 29"/>
          <p:cNvSpPr/>
          <p:nvPr/>
        </p:nvSpPr>
        <p:spPr>
          <a:xfrm>
            <a:off x="6469838" y="2666405"/>
            <a:ext cx="2102662" cy="33932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MARGEM OPERACIONAL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71500" y="3002161"/>
            <a:ext cx="1614488" cy="35718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clientes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2185988" y="3002161"/>
            <a:ext cx="2224078" cy="35718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~R$ 700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410066" y="3002161"/>
            <a:ext cx="2059772" cy="35718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~R$ 400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69838" y="3002161"/>
            <a:ext cx="2102662" cy="357188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~R$ 300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71500" y="3359348"/>
            <a:ext cx="161448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clientes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185988" y="3359348"/>
            <a:ext cx="222407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~R$ 2.200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410066" y="3359348"/>
            <a:ext cx="205977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~R$ 500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469838" y="3359348"/>
            <a:ext cx="210266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~R$ 1.700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71500" y="3720108"/>
            <a:ext cx="161448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clientes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2185988" y="3720108"/>
            <a:ext cx="222407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~R$ 4.500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410066" y="3720108"/>
            <a:ext cx="205977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~R$ 700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469838" y="3720108"/>
            <a:ext cx="210266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~R$ 3.800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71500" y="4080867"/>
            <a:ext cx="161448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clientes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2185988" y="4080867"/>
            <a:ext cx="2224078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~R$ 7.500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410066" y="4080867"/>
            <a:ext cx="205977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~R$ 1.000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469838" y="4080867"/>
            <a:ext cx="2102662" cy="36075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~R$ 6.500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736556" y="4807744"/>
            <a:ext cx="18359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— Proposta Comercial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005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COMO COMEÇAR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71500" y="1214438"/>
            <a:ext cx="4286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C9A84C">
                    <a:alpha val="3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438" y="1337667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71625" y="1336774"/>
            <a:ext cx="42844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Análise do perfil do escritório (reunião estratégica de 30min)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71500" y="1960959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C9A84C">
                    <a:alpha val="3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009" y="2084189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532334" y="2083296"/>
            <a:ext cx="445591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Definição do plano adequado à sua carteira atual de processos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571500" y="2707481"/>
            <a:ext cx="432197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C9A84C">
                    <a:alpha val="3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8009" y="2830711"/>
            <a:ext cx="192881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53766" y="2829818"/>
            <a:ext cx="463272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Assinatura do contrato digital e início do processo de onboarding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571500" y="3454003"/>
            <a:ext cx="467916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C9A84C">
                    <a:alpha val="30000"/>
                  </a:srgbClr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4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3728" y="3577233"/>
            <a:ext cx="171450" cy="171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568053" y="3576340"/>
            <a:ext cx="429160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Acesso completo ao sistema e suporte dedicado em até 48h</a:t>
            </a:r>
            <a:endParaRPr lang="en-US" sz="1050" dirty="0"/>
          </a:p>
        </p:txBody>
      </p:sp>
      <p:sp>
        <p:nvSpPr>
          <p:cNvPr id="16" name="Shape 9"/>
          <p:cNvSpPr/>
          <p:nvPr/>
        </p:nvSpPr>
        <p:spPr>
          <a:xfrm>
            <a:off x="0" y="3871913"/>
            <a:ext cx="9144000" cy="1328626"/>
          </a:xfrm>
          <a:prstGeom prst="rect">
            <a:avLst/>
          </a:prstGeom>
          <a:solidFill>
            <a:srgbClr val="C9A84C">
              <a:alpha val="5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0" y="3871913"/>
            <a:ext cx="9144000" cy="1428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1"/>
          <p:cNvSpPr/>
          <p:nvPr/>
        </p:nvSpPr>
        <p:spPr>
          <a:xfrm>
            <a:off x="571500" y="4157663"/>
            <a:ext cx="26074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E-mail:</a:t>
            </a:r>
            <a:endParaRPr lang="en-US" sz="850" dirty="0"/>
          </a:p>
        </p:txBody>
      </p:sp>
      <p:sp>
        <p:nvSpPr>
          <p:cNvPr id="19" name="Text 12"/>
          <p:cNvSpPr/>
          <p:nvPr/>
        </p:nvSpPr>
        <p:spPr>
          <a:xfrm>
            <a:off x="571500" y="4395527"/>
            <a:ext cx="15359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contato@agile360.com.br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571500" y="4569098"/>
            <a:ext cx="26074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Website: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571500" y="4806962"/>
            <a:ext cx="130194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www.agile360.com.br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571500" y="4980533"/>
            <a:ext cx="26074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Agile360 © 2025 | Todos os direitos reservados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7597378" y="4567479"/>
            <a:ext cx="97512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C9A84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AGILE360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1425</Words>
  <Application>Microsoft Office PowerPoint</Application>
  <PresentationFormat>Apresentação na tela (16:9)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Montserrat</vt:lpstr>
      <vt:lpstr>Montserrat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VINICIUS SANTANA HORTA</cp:lastModifiedBy>
  <cp:revision>3</cp:revision>
  <dcterms:created xsi:type="dcterms:W3CDTF">2026-05-06T00:48:55Z</dcterms:created>
  <dcterms:modified xsi:type="dcterms:W3CDTF">2026-05-06T01:07:11Z</dcterms:modified>
</cp:coreProperties>
</file>