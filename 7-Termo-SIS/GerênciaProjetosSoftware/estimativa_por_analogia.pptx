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29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54EB"/>
          </a:solidFill>
          <a:ln w="12700">
            <a:solidFill>
              <a:srgbClr val="2F54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ESTIMATIVAS DE SOFTWARE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Analogia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2011680" cy="0"/>
          </a:xfrm>
          <a:prstGeom prst="line">
            <a:avLst/>
          </a:prstGeom>
          <a:noFill/>
          <a:ln w="25400">
            <a:solidFill>
              <a:srgbClr val="2F54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57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estimar com base no que já foi feito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S Horta  ·  Leonardo Fabiano       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54EB"/>
          </a:solidFill>
          <a:ln w="12700">
            <a:solidFill>
              <a:srgbClr val="2F54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02575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Estimativa por Analogia?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29241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estimativa de software que usa projetos ou funcionalidades anteriores como referência para estimar o esforço de novas tarefas. Em vez de calcular do zero, a equipe compara com o que já foi feito e ajusta proporcionalmente.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78638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projetos históricos com escopo e tecnologia similares ao novo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2286000"/>
            <a:ext cx="0" cy="246888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331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83280" y="30632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fatores de complexidade para calibrar diferenças entre os projetos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9320" y="2286000"/>
            <a:ext cx="0" cy="246888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331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26480" y="30632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 previsão de esforço, custo ou prazo com base nos dados ajustados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54EB"/>
          </a:solidFill>
          <a:ln w="12700">
            <a:solidFill>
              <a:srgbClr val="2F54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— Passo a Passo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6676" y="1508760"/>
            <a:ext cx="0" cy="292608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024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projeto análogo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na base histórica um projeto com escopo e tecnologia similares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1719072"/>
            <a:ext cx="749808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0136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6676" y="2304288"/>
            <a:ext cx="0" cy="292608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8196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métricas reais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07568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dados de esforço, horas ou story points do projeto de referência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2514600"/>
            <a:ext cx="749808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9689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6676" y="3099816"/>
            <a:ext cx="0" cy="292608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diferenças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87121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complexidade, equipe e requisitos técnicos entre os projetos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3310128"/>
            <a:ext cx="749808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9242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6676" y="3895344"/>
            <a:ext cx="0" cy="292608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410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fator de ajuste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666744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o esforço base por fatores proporcionais às diferenças identificadas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34440" y="4105656"/>
            <a:ext cx="749808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18795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5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a estimativa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4462272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premissas, referências usadas e o resultado com margem de erro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54EB"/>
          </a:solidFill>
          <a:ln w="12700">
            <a:solidFill>
              <a:srgbClr val="2F54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e Limitações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474720" cy="0"/>
          </a:xfrm>
          <a:prstGeom prst="line">
            <a:avLst/>
          </a:prstGeom>
          <a:noFill/>
          <a:ln w="19050">
            <a:solidFill>
              <a:srgbClr val="2F54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474720" cy="0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Rápida de aplicar quando há histórico disponível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47472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Intuitiva para equipe e stakeholders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347472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Não exige ferramentas ou metodologias complexas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84448"/>
            <a:ext cx="347472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49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Baseada em dados reais do próprio contexto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Depende de histórico confiável e bem documentado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2121408"/>
            <a:ext cx="347472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2860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Pode ser subjetiva sem critérios claros de ajuste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2852928"/>
            <a:ext cx="347472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17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Difícil de usar em projetos sem precedente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3584448"/>
            <a:ext cx="347472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749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Erros no projeto base propagam para a estimativa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0" y="1005840"/>
            <a:ext cx="0" cy="374904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>
            <a:extLst>
              <a:ext uri="{FF2B5EF4-FFF2-40B4-BE49-F238E27FC236}">
                <a16:creationId xmlns:a16="http://schemas.microsoft.com/office/drawing/2014/main" id="{45E3CC6D-7F79-46F9-AB99-6D1ECCF5857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54EB"/>
          </a:solidFill>
          <a:ln w="12700">
            <a:solidFill>
              <a:srgbClr val="2F54EB"/>
            </a:solidFill>
            <a:prstDash val="solid"/>
          </a:ln>
        </p:spPr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1D67583F-9273-46B1-A72E-3D3AFC0D076C}"/>
              </a:ext>
            </a:extLst>
          </p:cNvPr>
          <p:cNvSpPr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10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FCD8DAC7-9D58-4CF9-801D-116C39DFF131}"/>
              </a:ext>
            </a:extLst>
          </p:cNvPr>
          <p:cNvSpPr/>
          <p:nvPr/>
        </p:nvSpPr>
        <p:spPr>
          <a:xfrm>
            <a:off x="640080" y="5029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Agile360 — Sistema de Gestão Jurídica</a:t>
            </a:r>
            <a:endParaRPr lang="en-US" sz="26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C3CF055A-5A0C-4B3C-90F4-2ABB2F765815}"/>
              </a:ext>
            </a:extLst>
          </p:cNvPr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FBF1B0B9-8555-489F-BD85-F986DF21B3EE}"/>
              </a:ext>
            </a:extLst>
          </p:cNvPr>
          <p:cNvSpPr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97BF7CAC-6D1F-46EB-AF01-9937511548D4}"/>
              </a:ext>
            </a:extLst>
          </p:cNvPr>
          <p:cNvSpPr/>
          <p:nvPr/>
        </p:nvSpPr>
        <p:spPr>
          <a:xfrm>
            <a:off x="640080" y="162763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para escritórios de advocacia. Stack: .NET (API) + React/Vite (frontend) + Python (webhooks) + Supabase (auth/DB). Deploy via Docker + VPS Hostinger.</a:t>
            </a:r>
            <a:endParaRPr lang="en-US" sz="14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DFB1A11C-1C4E-4474-A3C6-174C44832F3B}"/>
              </a:ext>
            </a:extLst>
          </p:cNvPr>
          <p:cNvSpPr/>
          <p:nvPr/>
        </p:nvSpPr>
        <p:spPr>
          <a:xfrm>
            <a:off x="640080" y="2377440"/>
            <a:ext cx="78638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A28239E7-1A71-458B-8920-0D699A9F7EB6}"/>
              </a:ext>
            </a:extLst>
          </p:cNvPr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estimadas</a:t>
            </a:r>
            <a:endParaRPr lang="en-US" sz="12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76B11EFA-EF5D-416B-853F-EAD9FA0D8489}"/>
              </a:ext>
            </a:extLst>
          </p:cNvPr>
          <p:cNvSpPr/>
          <p:nvPr/>
        </p:nvSpPr>
        <p:spPr>
          <a:xfrm>
            <a:off x="64008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4EB"/>
                </a:solidFill>
              </a:rPr>
              <a:t>01</a:t>
            </a:r>
            <a:endParaRPr lang="en-US" sz="12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CD733277-F2B9-43D5-8DA0-CA795ADFBCAB}"/>
              </a:ext>
            </a:extLst>
          </p:cNvPr>
          <p:cNvSpPr/>
          <p:nvPr/>
        </p:nvSpPr>
        <p:spPr>
          <a:xfrm>
            <a:off x="109728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F26"/>
                </a:solidFill>
              </a:rPr>
              <a:t>API Oficial da Meta (WhatsApp)</a:t>
            </a:r>
            <a:endParaRPr lang="en-US" sz="16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4FCE7585-B9B7-4F0F-A71A-0ACB4E05C1E4}"/>
              </a:ext>
            </a:extLst>
          </p:cNvPr>
          <p:cNvSpPr/>
          <p:nvPr/>
        </p:nvSpPr>
        <p:spPr>
          <a:xfrm>
            <a:off x="1097280" y="32918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faz:</a:t>
            </a: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Permite ao escritório enviar e receber mensagens de clientes via WhatsApp Business
</a:t>
            </a: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funciona:</a:t>
            </a: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sistema se conecta à API da Meta, recebe eventos (mensagens, status), valida a autenticidade e responde ou notifica os advogados
</a:t>
            </a: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</a:t>
            </a: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Média-Alta</a:t>
            </a:r>
            <a:endParaRPr lang="en-US" sz="12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A3CFB4EA-60CC-4081-AEFC-88071FEDE256}"/>
              </a:ext>
            </a:extLst>
          </p:cNvPr>
          <p:cNvSpPr/>
          <p:nvPr/>
        </p:nvSpPr>
        <p:spPr>
          <a:xfrm>
            <a:off x="4572000" y="2834640"/>
            <a:ext cx="0" cy="201168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C0EDF53D-805C-45FE-A1A4-763C85FE239C}"/>
              </a:ext>
            </a:extLst>
          </p:cNvPr>
          <p:cNvSpPr/>
          <p:nvPr/>
        </p:nvSpPr>
        <p:spPr>
          <a:xfrm>
            <a:off x="484632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4EB"/>
                </a:solidFill>
              </a:rPr>
              <a:t>02</a:t>
            </a:r>
            <a:endParaRPr lang="en-US" sz="12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FC89963-F9A9-4FB9-85E7-2AC49F9A244D}"/>
              </a:ext>
            </a:extLst>
          </p:cNvPr>
          <p:cNvSpPr/>
          <p:nvPr/>
        </p:nvSpPr>
        <p:spPr>
          <a:xfrm>
            <a:off x="530352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F26"/>
                </a:solidFill>
              </a:rPr>
              <a:t>Integração Google Calendar</a:t>
            </a:r>
            <a:endParaRPr lang="en-US" sz="16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35EB39BC-B2B4-48DA-B603-FC8A62A370E4}"/>
              </a:ext>
            </a:extLst>
          </p:cNvPr>
          <p:cNvSpPr/>
          <p:nvPr/>
        </p:nvSpPr>
        <p:spPr>
          <a:xfrm>
            <a:off x="5303520" y="32918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faz:</a:t>
            </a: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Sincroniza automaticamente audiências e prazos do sistema com o Google Calendar dos advogados
</a:t>
            </a: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funciona:</a:t>
            </a: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advogado conecta sua conta Google, o sistema obtém permissão via OAuth e cria/atualiza eventos automaticamente
</a:t>
            </a: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</a:t>
            </a:r>
            <a:r>
              <a:rPr lang="en-US" sz="12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Alta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4E9921E3-8982-45CA-869C-C4CC0B22189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54EB"/>
          </a:solidFill>
          <a:ln w="12700">
            <a:solidFill>
              <a:srgbClr val="2F54EB"/>
            </a:solidFill>
            <a:prstDash val="solid"/>
          </a:ln>
        </p:spPr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1DE7DD3D-BD15-4574-A89E-B88A61C4F08B}"/>
              </a:ext>
            </a:extLst>
          </p:cNvPr>
          <p:cNvSpPr/>
          <p:nvPr/>
        </p:nvSpPr>
        <p:spPr>
          <a:xfrm>
            <a:off x="640080" y="228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</a:t>
            </a:r>
            <a:endParaRPr lang="en-US" sz="10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A094539F-7BD9-43E1-B4CA-BC86F4A619FA}"/>
              </a:ext>
            </a:extLst>
          </p:cNvPr>
          <p:cNvSpPr/>
          <p:nvPr/>
        </p:nvSpPr>
        <p:spPr>
          <a:xfrm>
            <a:off x="640080" y="47548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da Meta — WhatsApp Business</a:t>
            </a:r>
            <a:endParaRPr lang="en-US" sz="24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E79DD53D-F8E2-48B7-9BE7-8B3D049201E1}"/>
              </a:ext>
            </a:extLst>
          </p:cNvPr>
          <p:cNvSpPr/>
          <p:nvPr/>
        </p:nvSpPr>
        <p:spPr>
          <a:xfrm>
            <a:off x="640080" y="1207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</a:rPr>
              <a:t>Projeto análogo:</a:t>
            </a:r>
            <a:endParaRPr lang="en-US" sz="12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51EEC82-E841-4F56-BE19-AF7C7578D168}"/>
              </a:ext>
            </a:extLst>
          </p:cNvPr>
          <p:cNvSpPr/>
          <p:nvPr/>
        </p:nvSpPr>
        <p:spPr>
          <a:xfrm>
            <a:off x="640080" y="148132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</a:rPr>
              <a:t>Integração com a Evolution API (canal não oficial do WhatsApp) — já implementada no Agile360 para enviar notificações de novos compromissos e prazos vencendo. Levou 20 horas. Só enviava mensagens, sem receber eventos nem validação de segurança exigida pela Meta.</a:t>
            </a:r>
            <a:endParaRPr lang="en-US" sz="13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73A90BC6-90E5-482C-B47F-5C1B5CF2BE78}"/>
              </a:ext>
            </a:extLst>
          </p:cNvPr>
          <p:cNvSpPr/>
          <p:nvPr/>
        </p:nvSpPr>
        <p:spPr>
          <a:xfrm>
            <a:off x="640080" y="2121408"/>
            <a:ext cx="78638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06A4330E-0471-4F27-9368-52485CBE9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001711"/>
              </p:ext>
            </p:extLst>
          </p:nvPr>
        </p:nvGraphicFramePr>
        <p:xfrm>
          <a:off x="640080" y="2212848"/>
          <a:ext cx="7863840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comparamos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Análogo (Evolution API)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/ WhatsApp Oficial (novo)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 da comunicação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enviava mensagens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 e recebe mensagens dos clientes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1,4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 de mensagem tratados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(texto simples)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(texto, mídia, status, template)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Verificação de segurança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exigida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Obrigatória pela Meta (HMAC-SHA256)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 automatizados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Poucos testes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completa exigida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6">
            <a:extLst>
              <a:ext uri="{FF2B5EF4-FFF2-40B4-BE49-F238E27FC236}">
                <a16:creationId xmlns:a16="http://schemas.microsoft.com/office/drawing/2014/main" id="{69765E4C-3FDC-4C46-B863-8DB66C526517}"/>
              </a:ext>
            </a:extLst>
          </p:cNvPr>
          <p:cNvSpPr/>
          <p:nvPr/>
        </p:nvSpPr>
        <p:spPr>
          <a:xfrm>
            <a:off x="640080" y="4133088"/>
            <a:ext cx="78638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1B8C550B-7818-4361-A418-D190D93A4441}"/>
              </a:ext>
            </a:extLst>
          </p:cNvPr>
          <p:cNvSpPr/>
          <p:nvPr/>
        </p:nvSpPr>
        <p:spPr>
          <a:xfrm>
            <a:off x="640080" y="422452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  ×  1,4  ×  1,3  ×  1,2  ×  1,1  =  ~50 horas estimadas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864C5227-014F-4519-A844-C65BCC3FBB8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54EB"/>
          </a:solidFill>
          <a:ln w="12700">
            <a:solidFill>
              <a:srgbClr val="2F54EB"/>
            </a:solidFill>
            <a:prstDash val="solid"/>
          </a:ln>
        </p:spPr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9C18CC02-8D31-42E1-9752-9DE7B6C63B17}"/>
              </a:ext>
            </a:extLst>
          </p:cNvPr>
          <p:cNvSpPr/>
          <p:nvPr/>
        </p:nvSpPr>
        <p:spPr>
          <a:xfrm>
            <a:off x="640080" y="228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</a:t>
            </a:r>
            <a:endParaRPr lang="en-US" sz="10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B28B2AD6-B3E4-4973-AE20-256303CA191C}"/>
              </a:ext>
            </a:extLst>
          </p:cNvPr>
          <p:cNvSpPr/>
          <p:nvPr/>
        </p:nvSpPr>
        <p:spPr>
          <a:xfrm>
            <a:off x="640080" y="47548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Google Calendar</a:t>
            </a:r>
            <a:endParaRPr lang="en-US" sz="24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AE5BB65-C1F7-4D23-AC84-3699CA0CD396}"/>
              </a:ext>
            </a:extLst>
          </p:cNvPr>
          <p:cNvSpPr/>
          <p:nvPr/>
        </p:nvSpPr>
        <p:spPr>
          <a:xfrm>
            <a:off x="640080" y="1207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</a:rPr>
              <a:t>Projeto análogo:</a:t>
            </a:r>
            <a:endParaRPr lang="en-US" sz="12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26AFB80-9B62-443E-A87A-5F30BDC06CBB}"/>
              </a:ext>
            </a:extLst>
          </p:cNvPr>
          <p:cNvSpPr/>
          <p:nvPr/>
        </p:nvSpPr>
        <p:spPr>
          <a:xfrm>
            <a:off x="640080" y="148132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</a:rPr>
              <a:t>Login com Google implementado em outro </a:t>
            </a:r>
            <a:r>
              <a:rPr lang="en-US" sz="1300" dirty="0" err="1">
                <a:solidFill>
                  <a:srgbClr val="1C1F26"/>
                </a:solidFill>
              </a:rPr>
              <a:t>projeto</a:t>
            </a:r>
            <a:r>
              <a:rPr lang="en-US" sz="1300" dirty="0">
                <a:solidFill>
                  <a:srgbClr val="1C1F26"/>
                </a:solidFill>
              </a:rPr>
              <a:t> — o usuário entrava com a conta Google e o sistema obtinha nome e e-mail. Levou 16 horas. Mesmo protocolo OAuth 2.0, mas sem nenhuma sincronização de dados após o login.</a:t>
            </a:r>
            <a:endParaRPr lang="en-US" sz="13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786F3CED-5ADE-4E5E-B284-E36DDD61FA6A}"/>
              </a:ext>
            </a:extLst>
          </p:cNvPr>
          <p:cNvSpPr/>
          <p:nvPr/>
        </p:nvSpPr>
        <p:spPr>
          <a:xfrm>
            <a:off x="640080" y="2121408"/>
            <a:ext cx="78638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6E977975-0240-4661-9C6F-51A5F5157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38285"/>
              </p:ext>
            </p:extLst>
          </p:nvPr>
        </p:nvGraphicFramePr>
        <p:xfrm>
          <a:off x="640080" y="2212848"/>
          <a:ext cx="7863840" cy="206654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comparamos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Google (análogo)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Calendar (novo)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após autenticar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obtinha perfil do usuário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Sincroniza audiências como eventos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Permissões solicitadas ao Google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Apenas leitura de perfil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e escrita no calendário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Renovação automática de acesso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tinha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renova o token automaticamente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1,15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 de integração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completa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6">
            <a:extLst>
              <a:ext uri="{FF2B5EF4-FFF2-40B4-BE49-F238E27FC236}">
                <a16:creationId xmlns:a16="http://schemas.microsoft.com/office/drawing/2014/main" id="{383943BA-4ECB-4433-A1D1-7710A3CD1A25}"/>
              </a:ext>
            </a:extLst>
          </p:cNvPr>
          <p:cNvSpPr/>
          <p:nvPr/>
        </p:nvSpPr>
        <p:spPr>
          <a:xfrm>
            <a:off x="640080" y="4224528"/>
            <a:ext cx="78638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F802A6C8-46ED-434C-A097-CA69BFBD46AB}"/>
              </a:ext>
            </a:extLst>
          </p:cNvPr>
          <p:cNvSpPr/>
          <p:nvPr/>
        </p:nvSpPr>
        <p:spPr>
          <a:xfrm>
            <a:off x="640080" y="431596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  ×  1,5  ×  1,2  ×  1,15  ×  1,1  =  ~37 horas estimadas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>
            <a:extLst>
              <a:ext uri="{FF2B5EF4-FFF2-40B4-BE49-F238E27FC236}">
                <a16:creationId xmlns:a16="http://schemas.microsoft.com/office/drawing/2014/main" id="{04C4C227-3DF2-42D9-91C3-184A0015BF4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54EB"/>
          </a:solidFill>
          <a:ln w="12700">
            <a:solidFill>
              <a:srgbClr val="2F54EB"/>
            </a:solidFill>
            <a:prstDash val="solid"/>
          </a:ln>
        </p:spPr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F80DFAA0-9CE4-4B7B-87FD-E673727000C6}"/>
              </a:ext>
            </a:extLst>
          </p:cNvPr>
          <p:cNvSpPr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D2DDEAF5-A696-4967-9FB0-830B33B5A9BF}"/>
              </a:ext>
            </a:extLst>
          </p:cNvPr>
          <p:cNvSpPr/>
          <p:nvPr/>
        </p:nvSpPr>
        <p:spPr>
          <a:xfrm>
            <a:off x="640080" y="960120"/>
            <a:ext cx="78638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EA4ED9FB-4144-457A-9C64-4A6C1F2D2B92}"/>
              </a:ext>
            </a:extLst>
          </p:cNvPr>
          <p:cNvSpPr/>
          <p:nvPr/>
        </p:nvSpPr>
        <p:spPr>
          <a:xfrm>
            <a:off x="640080" y="1097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F54EB"/>
                </a:solidFill>
              </a:rPr>
              <a:t>~50h</a:t>
            </a:r>
            <a:endParaRPr lang="en-US" sz="40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438227FF-A04C-432E-A2F9-45BC0338D778}"/>
              </a:ext>
            </a:extLst>
          </p:cNvPr>
          <p:cNvSpPr/>
          <p:nvPr/>
        </p:nvSpPr>
        <p:spPr>
          <a:xfrm>
            <a:off x="64008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</a:rPr>
              <a:t>API Meta / WhatsApp</a:t>
            </a:r>
            <a:endParaRPr lang="en-US" sz="1200" dirty="0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93647564-3F45-4E25-91D1-4C42EFD2BB3D}"/>
              </a:ext>
            </a:extLst>
          </p:cNvPr>
          <p:cNvSpPr/>
          <p:nvPr/>
        </p:nvSpPr>
        <p:spPr>
          <a:xfrm>
            <a:off x="3154680" y="1097280"/>
            <a:ext cx="0" cy="100584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C4773061-4293-479A-A0DE-B65578D4C1AA}"/>
              </a:ext>
            </a:extLst>
          </p:cNvPr>
          <p:cNvSpPr/>
          <p:nvPr/>
        </p:nvSpPr>
        <p:spPr>
          <a:xfrm>
            <a:off x="3383280" y="1097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F54EB"/>
                </a:solidFill>
              </a:rPr>
              <a:t>~37h</a:t>
            </a:r>
            <a:endParaRPr lang="en-US" sz="40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2A39C0D0-1B91-4D47-B461-BDD33B8BF88F}"/>
              </a:ext>
            </a:extLst>
          </p:cNvPr>
          <p:cNvSpPr/>
          <p:nvPr/>
        </p:nvSpPr>
        <p:spPr>
          <a:xfrm>
            <a:off x="338328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</a:rPr>
              <a:t>Google Calendar</a:t>
            </a:r>
            <a:endParaRPr lang="en-US" sz="120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B63718E0-B7CD-49C7-94F4-226355A9C0F3}"/>
              </a:ext>
            </a:extLst>
          </p:cNvPr>
          <p:cNvSpPr/>
          <p:nvPr/>
        </p:nvSpPr>
        <p:spPr>
          <a:xfrm>
            <a:off x="5897880" y="1097280"/>
            <a:ext cx="0" cy="100584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C44FFD05-9AFB-4BC9-BE6F-3AAF049DBAEA}"/>
              </a:ext>
            </a:extLst>
          </p:cNvPr>
          <p:cNvSpPr/>
          <p:nvPr/>
        </p:nvSpPr>
        <p:spPr>
          <a:xfrm>
            <a:off x="6126480" y="1097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C1F26"/>
                </a:solidFill>
              </a:rPr>
              <a:t>~87h</a:t>
            </a:r>
            <a:endParaRPr lang="en-US" sz="40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46C70E2C-EA6B-41BF-91C3-8A48F7BBDD0F}"/>
              </a:ext>
            </a:extLst>
          </p:cNvPr>
          <p:cNvSpPr/>
          <p:nvPr/>
        </p:nvSpPr>
        <p:spPr>
          <a:xfrm>
            <a:off x="612648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</a:rPr>
              <a:t>Total estimado</a:t>
            </a:r>
            <a:endParaRPr lang="en-US" sz="12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5C3F4BF2-189B-41EA-A882-5D2F33BC4FE1}"/>
              </a:ext>
            </a:extLst>
          </p:cNvPr>
          <p:cNvSpPr/>
          <p:nvPr/>
        </p:nvSpPr>
        <p:spPr>
          <a:xfrm>
            <a:off x="640080" y="2286000"/>
            <a:ext cx="786384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57806ACE-439F-4EE2-AFFF-B90FE2080CC3}"/>
              </a:ext>
            </a:extLst>
          </p:cNvPr>
          <p:cNvSpPr/>
          <p:nvPr/>
        </p:nvSpPr>
        <p:spPr>
          <a:xfrm>
            <a:off x="640080" y="242316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Estimativa por Analogia é eficaz quando existe histórico confiável de projetos similares.</a:t>
            </a:r>
            <a:endParaRPr lang="en-US" sz="1300" dirty="0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88E662AB-A3AA-4943-B9D8-AA1BB749E315}"/>
              </a:ext>
            </a:extLst>
          </p:cNvPr>
          <p:cNvSpPr/>
          <p:nvPr/>
        </p:nvSpPr>
        <p:spPr>
          <a:xfrm>
            <a:off x="640080" y="2926080"/>
            <a:ext cx="78638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33C7ED7F-4FEA-43E3-9939-F2AAD9211845}"/>
              </a:ext>
            </a:extLst>
          </p:cNvPr>
          <p:cNvSpPr/>
          <p:nvPr/>
        </p:nvSpPr>
        <p:spPr>
          <a:xfrm>
            <a:off x="640080" y="304495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Fatores de ajuste permitem calibrar diferenças de complexidade de forma transparente e auditável.</a:t>
            </a:r>
            <a:endParaRPr lang="en-US" sz="1300" dirty="0"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54FFD717-04B2-492C-BE14-7FD480D14157}"/>
              </a:ext>
            </a:extLst>
          </p:cNvPr>
          <p:cNvSpPr/>
          <p:nvPr/>
        </p:nvSpPr>
        <p:spPr>
          <a:xfrm>
            <a:off x="640080" y="3547872"/>
            <a:ext cx="78638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F17E9B99-520F-40F3-9E57-186852E7A849}"/>
              </a:ext>
            </a:extLst>
          </p:cNvPr>
          <p:cNvSpPr/>
          <p:nvPr/>
        </p:nvSpPr>
        <p:spPr>
          <a:xfrm>
            <a:off x="640080" y="366674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Agile360, integrações externas demandam significativamente mais esforço que funcionalidades internas equivalentes.</a:t>
            </a:r>
            <a:endParaRPr lang="en-US" sz="130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38C0292C-8D40-48EF-8F07-4E7A12B716CA}"/>
              </a:ext>
            </a:extLst>
          </p:cNvPr>
          <p:cNvSpPr/>
          <p:nvPr/>
        </p:nvSpPr>
        <p:spPr>
          <a:xfrm>
            <a:off x="640080" y="4169664"/>
            <a:ext cx="7863840" cy="0"/>
          </a:xfrm>
          <a:prstGeom prst="line">
            <a:avLst/>
          </a:prstGeom>
          <a:noFill/>
          <a:ln w="6350">
            <a:solidFill>
              <a:srgbClr val="E2E5EA"/>
            </a:solidFill>
            <a:prstDash val="solid"/>
          </a:ln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BC76D2ED-1276-4FE6-88EE-EBAC7019D437}"/>
              </a:ext>
            </a:extLst>
          </p:cNvPr>
          <p:cNvSpPr/>
          <p:nvPr/>
        </p:nvSpPr>
        <p:spPr>
          <a:xfrm>
            <a:off x="640080" y="428853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 técnica é especialmente valiosa em equipes com projetos anteriores bem documentados.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54EB"/>
          </a:solidFill>
          <a:ln w="12700">
            <a:solidFill>
              <a:srgbClr val="2F54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25400">
            <a:solidFill>
              <a:srgbClr val="2F54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889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por Analogia — Agile360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S Horta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Fabiano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520440"/>
            <a:ext cx="0" cy="82296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731</Words>
  <Application>Microsoft Office PowerPoint</Application>
  <PresentationFormat>Apresentação na tela (16:9)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Estimativa por Analogia</dc:title>
  <dc:subject>PptxGenJS Presentation</dc:subject>
  <dc:creator>PptxGenJS</dc:creator>
  <cp:lastModifiedBy>VINICIUS SANTANA HORTA</cp:lastModifiedBy>
  <cp:revision>5</cp:revision>
  <dcterms:created xsi:type="dcterms:W3CDTF">2026-04-27T23:51:24Z</dcterms:created>
  <dcterms:modified xsi:type="dcterms:W3CDTF">2026-04-28T01:00:58Z</dcterms:modified>
</cp:coreProperties>
</file>