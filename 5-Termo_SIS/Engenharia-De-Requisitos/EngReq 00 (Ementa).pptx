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69" r:id="rId11"/>
    <p:sldId id="284" r:id="rId12"/>
    <p:sldId id="272" r:id="rId13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E1631-D9FD-4A66-8826-DCBDEF2DF0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960123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F59A497-B1BC-4382-A178-C6A333A804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91352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27920-97F9-4D53-8319-3F8805780C7F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63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70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08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51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85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57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53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82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96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23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Engenharia de Software I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684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EC0537-C1AB-4CF3-8A4B-0626750FAA45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1816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29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Engenharia de Software I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99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836712"/>
            <a:ext cx="7772400" cy="1470025"/>
          </a:xfrm>
        </p:spPr>
        <p:txBody>
          <a:bodyPr/>
          <a:lstStyle/>
          <a:p>
            <a:r>
              <a:rPr lang="pt-BR" dirty="0"/>
              <a:t>Engenharia de Requisitos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Alisson Kuhn</a:t>
            </a:r>
          </a:p>
          <a:p>
            <a:r>
              <a:rPr lang="pt-BR" sz="2400" dirty="0"/>
              <a:t>alissonkuhn@hotmail.com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839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Motivos da Matéria</a:t>
            </a:r>
            <a:br>
              <a:rPr lang="pt-BR" dirty="0"/>
            </a:br>
            <a:r>
              <a:rPr lang="pt-BR" sz="3100" dirty="0"/>
              <a:t>Engenharia de Software</a:t>
            </a:r>
            <a:endParaRPr lang="pt-B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Desenvolvimento de softwares com </a:t>
            </a:r>
            <a:r>
              <a:rPr lang="pt-BR" sz="2800" b="1" dirty="0">
                <a:solidFill>
                  <a:srgbClr val="800000"/>
                </a:solidFill>
              </a:rPr>
              <a:t>qualidade</a:t>
            </a:r>
          </a:p>
          <a:p>
            <a:pPr lvl="6"/>
            <a:endParaRPr lang="pt-BR" sz="1800" dirty="0"/>
          </a:p>
          <a:p>
            <a:pPr lvl="1"/>
            <a:r>
              <a:rPr lang="pt-BR" sz="2400" dirty="0"/>
              <a:t>por meio de </a:t>
            </a:r>
            <a:r>
              <a:rPr lang="pt-BR" sz="2400" dirty="0">
                <a:solidFill>
                  <a:srgbClr val="800000"/>
                </a:solidFill>
              </a:rPr>
              <a:t>técnicas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800000"/>
                </a:solidFill>
              </a:rPr>
              <a:t>processos</a:t>
            </a:r>
          </a:p>
          <a:p>
            <a:pPr lvl="7"/>
            <a:endParaRPr lang="pt-BR" sz="1800" dirty="0"/>
          </a:p>
          <a:p>
            <a:pPr lvl="2"/>
            <a:r>
              <a:rPr lang="pt-BR" sz="2000" dirty="0">
                <a:solidFill>
                  <a:srgbClr val="800000"/>
                </a:solidFill>
              </a:rPr>
              <a:t>Análise</a:t>
            </a:r>
            <a:r>
              <a:rPr lang="pt-BR" sz="2000" dirty="0"/>
              <a:t> do sistema a ser desenvolvido</a:t>
            </a:r>
          </a:p>
          <a:p>
            <a:pPr lvl="7"/>
            <a:endParaRPr lang="pt-BR" sz="1800" dirty="0"/>
          </a:p>
          <a:p>
            <a:pPr lvl="2"/>
            <a:r>
              <a:rPr lang="pt-BR" sz="2000" dirty="0">
                <a:solidFill>
                  <a:srgbClr val="800000"/>
                </a:solidFill>
              </a:rPr>
              <a:t>Projeto</a:t>
            </a:r>
            <a:r>
              <a:rPr lang="pt-BR" sz="2000" dirty="0"/>
              <a:t> do sistema</a:t>
            </a:r>
          </a:p>
          <a:p>
            <a:pPr lvl="7"/>
            <a:endParaRPr lang="pt-BR" sz="1800" dirty="0"/>
          </a:p>
          <a:p>
            <a:pPr lvl="2"/>
            <a:r>
              <a:rPr lang="pt-BR" sz="2000" dirty="0">
                <a:solidFill>
                  <a:srgbClr val="800000"/>
                </a:solidFill>
              </a:rPr>
              <a:t>Desenvolvimento</a:t>
            </a:r>
            <a:r>
              <a:rPr lang="pt-BR" sz="2000" dirty="0"/>
              <a:t> do sistema</a:t>
            </a:r>
          </a:p>
          <a:p>
            <a:pPr lvl="7"/>
            <a:endParaRPr lang="pt-BR" sz="1800" dirty="0"/>
          </a:p>
          <a:p>
            <a:pPr lvl="2"/>
            <a:r>
              <a:rPr lang="pt-BR" sz="2000" dirty="0">
                <a:solidFill>
                  <a:srgbClr val="800000"/>
                </a:solidFill>
              </a:rPr>
              <a:t>Testes</a:t>
            </a:r>
            <a:r>
              <a:rPr lang="pt-BR" sz="2000" dirty="0"/>
              <a:t> no sistema</a:t>
            </a:r>
          </a:p>
          <a:p>
            <a:pPr lvl="5"/>
            <a:endParaRPr lang="pt-BR" sz="1800" dirty="0"/>
          </a:p>
          <a:p>
            <a:pPr lvl="2"/>
            <a:r>
              <a:rPr lang="pt-BR" sz="2000" dirty="0">
                <a:solidFill>
                  <a:srgbClr val="800000"/>
                </a:solidFill>
              </a:rPr>
              <a:t>Manutenção</a:t>
            </a:r>
            <a:r>
              <a:rPr lang="pt-BR" sz="2000" dirty="0"/>
              <a:t> do sistema</a:t>
            </a:r>
          </a:p>
        </p:txBody>
      </p:sp>
    </p:spTree>
    <p:extLst>
      <p:ext uri="{BB962C8B-B14F-4D97-AF65-F5344CB8AC3E}">
        <p14:creationId xmlns:p14="http://schemas.microsoft.com/office/powerpoint/2010/main" val="204345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Ementa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53113"/>
          </a:xfrm>
        </p:spPr>
        <p:txBody>
          <a:bodyPr/>
          <a:lstStyle/>
          <a:p>
            <a:r>
              <a:rPr lang="pt-BR" sz="2400" dirty="0"/>
              <a:t>Introdução à Engenharia de Software</a:t>
            </a:r>
          </a:p>
          <a:p>
            <a:endParaRPr lang="pt-BR" sz="2400" dirty="0"/>
          </a:p>
          <a:p>
            <a:r>
              <a:rPr lang="pt-BR" sz="2400" dirty="0"/>
              <a:t>Engenharia de Requisitos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Análise Orientada a Objetos</a:t>
            </a:r>
          </a:p>
        </p:txBody>
      </p:sp>
    </p:spTree>
    <p:extLst>
      <p:ext uri="{BB962C8B-B14F-4D97-AF65-F5344CB8AC3E}">
        <p14:creationId xmlns:p14="http://schemas.microsoft.com/office/powerpoint/2010/main" val="318820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Objetivos da </a:t>
            </a:r>
            <a:r>
              <a:rPr lang="en-US" dirty="0" err="1">
                <a:highlight>
                  <a:srgbClr val="FFFF00"/>
                </a:highlight>
              </a:rPr>
              <a:t>Disciplina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Reconhecer atividades de análise e projeto de sistemas dentro do ciclo de vida de um software</a:t>
            </a:r>
          </a:p>
          <a:p>
            <a:endParaRPr lang="pt-BR" dirty="0"/>
          </a:p>
          <a:p>
            <a:r>
              <a:rPr lang="pt-BR" dirty="0"/>
              <a:t>Conhecer métodos de análise e projeto de sistemas e aplicá-los</a:t>
            </a:r>
          </a:p>
          <a:p>
            <a:endParaRPr lang="pt-BR" dirty="0"/>
          </a:p>
          <a:p>
            <a:r>
              <a:rPr lang="pt-BR" dirty="0"/>
              <a:t>Propor soluções informatizadas que atendam às necessidades do cliente. </a:t>
            </a:r>
          </a:p>
        </p:txBody>
      </p:sp>
    </p:spTree>
    <p:extLst>
      <p:ext uri="{BB962C8B-B14F-4D97-AF65-F5344CB8AC3E}">
        <p14:creationId xmlns:p14="http://schemas.microsoft.com/office/powerpoint/2010/main" val="379963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Competências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Saber aplicar práticas de Engenharia de Software para análise e desenvolvimento de software.</a:t>
            </a:r>
          </a:p>
        </p:txBody>
      </p:sp>
    </p:spTree>
    <p:extLst>
      <p:ext uri="{BB962C8B-B14F-4D97-AF65-F5344CB8AC3E}">
        <p14:creationId xmlns:p14="http://schemas.microsoft.com/office/powerpoint/2010/main" val="234873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Conteúdo</a:t>
            </a:r>
            <a:r>
              <a:rPr lang="en-US" dirty="0"/>
              <a:t> </a:t>
            </a:r>
            <a:r>
              <a:rPr lang="en-US" dirty="0" err="1"/>
              <a:t>Programático</a:t>
            </a:r>
            <a:r>
              <a:rPr lang="en-US" dirty="0"/>
              <a:t> </a:t>
            </a:r>
            <a:r>
              <a:rPr lang="en-US" sz="2400" dirty="0"/>
              <a:t>[1/2]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Introdução</a:t>
            </a:r>
            <a:r>
              <a:rPr lang="en-US" sz="2400" dirty="0"/>
              <a:t> </a:t>
            </a:r>
            <a:r>
              <a:rPr lang="en-US" sz="2400" dirty="0" err="1"/>
              <a:t>à</a:t>
            </a:r>
            <a:r>
              <a:rPr lang="en-US" sz="2400" dirty="0"/>
              <a:t> </a:t>
            </a:r>
            <a:r>
              <a:rPr lang="en-US" sz="2400" dirty="0" err="1"/>
              <a:t>Engenharia</a:t>
            </a:r>
            <a:r>
              <a:rPr lang="en-US" sz="2400" dirty="0"/>
              <a:t> de Software</a:t>
            </a:r>
          </a:p>
          <a:p>
            <a:pPr lvl="1"/>
            <a:r>
              <a:rPr lang="en-US" sz="2000" dirty="0"/>
              <a:t>1.1 </a:t>
            </a:r>
            <a:r>
              <a:rPr lang="en-US" sz="2000" dirty="0" err="1"/>
              <a:t>Crise</a:t>
            </a:r>
            <a:r>
              <a:rPr lang="en-US" sz="2000" dirty="0"/>
              <a:t> de Software</a:t>
            </a:r>
          </a:p>
          <a:p>
            <a:pPr lvl="1"/>
            <a:r>
              <a:rPr lang="en-US" sz="2000" dirty="0"/>
              <a:t>1.2 </a:t>
            </a:r>
            <a:r>
              <a:rPr lang="en-US" sz="2000" dirty="0" err="1"/>
              <a:t>Visão</a:t>
            </a:r>
            <a:r>
              <a:rPr lang="en-US" sz="2000" dirty="0"/>
              <a:t> </a:t>
            </a:r>
            <a:r>
              <a:rPr lang="en-US" sz="2000" dirty="0" err="1"/>
              <a:t>Geral</a:t>
            </a:r>
            <a:r>
              <a:rPr lang="en-US" sz="2000" dirty="0"/>
              <a:t> de </a:t>
            </a:r>
            <a:r>
              <a:rPr lang="en-US" sz="2000" dirty="0" err="1"/>
              <a:t>Processo</a:t>
            </a:r>
            <a:r>
              <a:rPr lang="en-US" sz="2000" dirty="0"/>
              <a:t> de Software</a:t>
            </a:r>
          </a:p>
          <a:p>
            <a:pPr lvl="1"/>
            <a:r>
              <a:rPr lang="en-US" sz="2000" dirty="0"/>
              <a:t>1.3 </a:t>
            </a:r>
            <a:r>
              <a:rPr lang="en-US" sz="2000" dirty="0" err="1"/>
              <a:t>Análise</a:t>
            </a:r>
            <a:r>
              <a:rPr lang="en-US" sz="2000" dirty="0"/>
              <a:t> e </a:t>
            </a:r>
            <a:r>
              <a:rPr lang="en-US" sz="2000" dirty="0" err="1"/>
              <a:t>Projeto</a:t>
            </a:r>
            <a:r>
              <a:rPr lang="en-US" sz="2000" dirty="0"/>
              <a:t> de </a:t>
            </a:r>
            <a:r>
              <a:rPr lang="en-US" sz="2000" dirty="0" err="1"/>
              <a:t>Sistemas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pt-BR" sz="2400" dirty="0"/>
              <a:t>2. Engenharia de Requisitos</a:t>
            </a:r>
          </a:p>
          <a:p>
            <a:pPr lvl="1"/>
            <a:r>
              <a:rPr lang="pt-BR" sz="2000" dirty="0"/>
              <a:t>2.1 Definição e tipos de requisitos</a:t>
            </a:r>
          </a:p>
          <a:p>
            <a:pPr lvl="1"/>
            <a:r>
              <a:rPr lang="pt-BR" sz="2000" dirty="0"/>
              <a:t>2.2 Técnicas de Levantamento de Requisitos</a:t>
            </a:r>
          </a:p>
          <a:p>
            <a:pPr lvl="1"/>
            <a:r>
              <a:rPr lang="pt-BR" sz="2000" dirty="0"/>
              <a:t>2.3 Documento de Requisitos</a:t>
            </a:r>
          </a:p>
        </p:txBody>
      </p:sp>
    </p:spTree>
    <p:extLst>
      <p:ext uri="{BB962C8B-B14F-4D97-AF65-F5344CB8AC3E}">
        <p14:creationId xmlns:p14="http://schemas.microsoft.com/office/powerpoint/2010/main" val="317486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Conteúdo</a:t>
            </a:r>
            <a:r>
              <a:rPr lang="en-US" dirty="0"/>
              <a:t> </a:t>
            </a:r>
            <a:r>
              <a:rPr lang="en-US" dirty="0" err="1"/>
              <a:t>Programático</a:t>
            </a:r>
            <a:r>
              <a:rPr lang="en-US" dirty="0"/>
              <a:t> </a:t>
            </a:r>
            <a:r>
              <a:rPr lang="en-US" sz="2400" dirty="0"/>
              <a:t>[2/2]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3. Método de Análise e Projeto Orientado a Objetos (APOO)</a:t>
            </a:r>
          </a:p>
          <a:p>
            <a:pPr lvl="1"/>
            <a:r>
              <a:rPr lang="pt-BR" sz="2000" dirty="0"/>
              <a:t>3.1 Diagrama de Casos de Uso e Especificação de Casos de Uso</a:t>
            </a:r>
          </a:p>
          <a:p>
            <a:pPr lvl="1"/>
            <a:r>
              <a:rPr lang="pt-BR" sz="2000" dirty="0"/>
              <a:t>3.2 Diagrama de Classes</a:t>
            </a:r>
          </a:p>
          <a:p>
            <a:pPr lvl="1"/>
            <a:r>
              <a:rPr lang="pt-BR" sz="2000" dirty="0"/>
              <a:t>3.3 Diagrama Entidade Relacionamento</a:t>
            </a:r>
          </a:p>
          <a:p>
            <a:pPr lvl="1"/>
            <a:r>
              <a:rPr lang="pt-BR" sz="2000" dirty="0"/>
              <a:t>3.4 Aplicação dos modelos propostos pela APOO em estudos de caso.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93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Metodologia de Ensino </a:t>
            </a:r>
            <a:r>
              <a:rPr lang="pt-BR" sz="2400" dirty="0"/>
              <a:t>[1/2]</a:t>
            </a:r>
            <a:endParaRPr lang="pt-BR" dirty="0"/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Aulas expositivas/operatórias, práticas e seminários apresentados pelos alunos:</a:t>
            </a:r>
          </a:p>
          <a:p>
            <a:pPr lvl="1"/>
            <a:r>
              <a:rPr lang="pt-BR" dirty="0"/>
              <a:t>Os conceitos pertinentes à disciplina serão discutidos junto aos alunos por meio de aulas expositivas. Mas, também, o aluno será incentivado a buscar informação/conhecimento para solucionar problemas durante a disciplina.</a:t>
            </a:r>
          </a:p>
          <a:p>
            <a:pPr lvl="8"/>
            <a:endParaRPr lang="pt-BR" dirty="0"/>
          </a:p>
          <a:p>
            <a:r>
              <a:rPr lang="pt-BR" dirty="0"/>
              <a:t>As aulas expositivas serão intercaladas às aulas práticas</a:t>
            </a:r>
          </a:p>
          <a:p>
            <a:pPr lvl="8"/>
            <a:endParaRPr lang="pt-BR" dirty="0"/>
          </a:p>
          <a:p>
            <a:r>
              <a:rPr lang="pt-BR" dirty="0"/>
              <a:t>Atividades extra-sala de aula:</a:t>
            </a:r>
          </a:p>
          <a:p>
            <a:pPr lvl="1"/>
            <a:r>
              <a:rPr lang="pt-BR" dirty="0"/>
              <a:t>Para elaboração dos seminários</a:t>
            </a:r>
          </a:p>
        </p:txBody>
      </p:sp>
    </p:spTree>
    <p:extLst>
      <p:ext uri="{BB962C8B-B14F-4D97-AF65-F5344CB8AC3E}">
        <p14:creationId xmlns:p14="http://schemas.microsoft.com/office/powerpoint/2010/main" val="327612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Metodologia de Ensino </a:t>
            </a:r>
            <a:r>
              <a:rPr lang="pt-BR" sz="2400" dirty="0"/>
              <a:t>[2/2]</a:t>
            </a:r>
            <a:endParaRPr lang="pt-BR" dirty="0"/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Serão disponibilizados modelos para a realização de atividades</a:t>
            </a:r>
          </a:p>
          <a:p>
            <a:pPr>
              <a:defRPr/>
            </a:pPr>
            <a:endParaRPr lang="pt-BR" dirty="0"/>
          </a:p>
          <a:p>
            <a:pPr lvl="1">
              <a:defRPr/>
            </a:pPr>
            <a:r>
              <a:rPr lang="pt-BR" dirty="0"/>
              <a:t>Trabalhos, seminários etc.</a:t>
            </a:r>
          </a:p>
          <a:p>
            <a:pPr>
              <a:defRPr/>
            </a:pPr>
            <a:endParaRPr lang="pt-BR" dirty="0"/>
          </a:p>
          <a:p>
            <a:pPr lvl="1">
              <a:defRPr/>
            </a:pPr>
            <a:r>
              <a:rPr lang="pt-BR" dirty="0"/>
              <a:t>Cada trabalho e atividade deverá seguir </a:t>
            </a:r>
            <a:r>
              <a:rPr lang="pt-BR" b="1" dirty="0"/>
              <a:t>obrigatoriamente</a:t>
            </a:r>
            <a:r>
              <a:rPr lang="pt-BR" dirty="0"/>
              <a:t> seu modelo fornecido</a:t>
            </a:r>
          </a:p>
        </p:txBody>
      </p:sp>
    </p:spTree>
    <p:extLst>
      <p:ext uri="{BB962C8B-B14F-4D97-AF65-F5344CB8AC3E}">
        <p14:creationId xmlns:p14="http://schemas.microsoft.com/office/powerpoint/2010/main" val="47218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Critérios</a:t>
            </a:r>
            <a:r>
              <a:rPr lang="en-US" dirty="0"/>
              <a:t> de </a:t>
            </a:r>
            <a:r>
              <a:rPr lang="en-US" dirty="0" err="1"/>
              <a:t>Avaliação</a:t>
            </a:r>
            <a:r>
              <a:rPr lang="en-US" dirty="0"/>
              <a:t> </a:t>
            </a:r>
            <a:r>
              <a:rPr lang="en-US" sz="2400" b="0" dirty="0"/>
              <a:t>[1/3]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857328"/>
          </a:xfrm>
        </p:spPr>
        <p:txBody>
          <a:bodyPr>
            <a:normAutofit fontScale="77500" lnSpcReduction="20000"/>
          </a:bodyPr>
          <a:lstStyle/>
          <a:p>
            <a:pPr marL="182880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Conhecimento e Habilidade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Avaliação escrita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Seminários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Discussão de artigos e textos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Fechamento de dinâmicas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Pesquisas</a:t>
            </a:r>
          </a:p>
          <a:p>
            <a:pPr lvl="6">
              <a:defRPr/>
            </a:pPr>
            <a:endParaRPr lang="pt-BR" dirty="0"/>
          </a:p>
          <a:p>
            <a:pPr marL="182880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Atitude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Participação em atividades em equipe / individual e dinâmicas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Cumprimento de prazos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Frequência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Pontualidade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Participação em aula</a:t>
            </a:r>
          </a:p>
          <a:p>
            <a:pPr lvl="1" indent="-182880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pt-BR" dirty="0"/>
              <a:t>Respeito (comportamento)</a:t>
            </a:r>
          </a:p>
        </p:txBody>
      </p:sp>
    </p:spTree>
    <p:extLst>
      <p:ext uri="{BB962C8B-B14F-4D97-AF65-F5344CB8AC3E}">
        <p14:creationId xmlns:p14="http://schemas.microsoft.com/office/powerpoint/2010/main" val="699149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11968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pt-BR" sz="2400" dirty="0"/>
              <a:t>P = Prova</a:t>
            </a:r>
          </a:p>
          <a:p>
            <a:pPr marL="109728" indent="0">
              <a:buNone/>
            </a:pPr>
            <a:r>
              <a:rPr lang="pt-BR" sz="2400" dirty="0"/>
              <a:t>T = Trabalho</a:t>
            </a:r>
          </a:p>
          <a:p>
            <a:pPr marL="109728" indent="0">
              <a:buNone/>
            </a:pPr>
            <a:r>
              <a:rPr lang="pt-BR" sz="2400" dirty="0"/>
              <a:t>MF = média final = P + T</a:t>
            </a:r>
          </a:p>
          <a:p>
            <a:pPr marL="109728" indent="0">
              <a:buNone/>
            </a:pPr>
            <a:r>
              <a:rPr lang="pt-BR" sz="2400" dirty="0"/>
              <a:t> </a:t>
            </a:r>
          </a:p>
          <a:p>
            <a:pPr marL="109728" indent="0">
              <a:buNone/>
            </a:pPr>
            <a:r>
              <a:rPr lang="pt-BR" sz="2400" dirty="0"/>
              <a:t>Aprovação: MF &gt;= 7.0  </a:t>
            </a:r>
          </a:p>
          <a:p>
            <a:pPr marL="109728" indent="0">
              <a:buNone/>
            </a:pPr>
            <a:r>
              <a:rPr lang="pt-BR" sz="2400" dirty="0"/>
              <a:t>Exame: MF &gt;= 3 e MF &lt; 7     </a:t>
            </a:r>
          </a:p>
          <a:p>
            <a:pPr marL="109728" indent="0">
              <a:buNone/>
            </a:pPr>
            <a:r>
              <a:rPr lang="pt-BR" sz="2400" dirty="0"/>
              <a:t>Reprovação: MF &lt; 3.0</a:t>
            </a:r>
          </a:p>
          <a:p>
            <a:pPr marL="109728" indent="0">
              <a:buNone/>
            </a:pPr>
            <a:endParaRPr lang="pt-BR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1CD1E9-CDC1-44A6-84D5-2E81B65F5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err="1"/>
              <a:t>Critérios</a:t>
            </a:r>
            <a:r>
              <a:rPr lang="en-US" dirty="0"/>
              <a:t> de </a:t>
            </a:r>
            <a:r>
              <a:rPr lang="en-US" dirty="0" err="1"/>
              <a:t>Avaliação</a:t>
            </a:r>
            <a:r>
              <a:rPr lang="en-US" dirty="0"/>
              <a:t> </a:t>
            </a:r>
            <a:r>
              <a:rPr lang="en-US" sz="2400" b="0" dirty="0"/>
              <a:t>[1/3]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45567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Critérios</a:t>
            </a:r>
            <a:r>
              <a:rPr lang="en-US" dirty="0"/>
              <a:t> de </a:t>
            </a:r>
            <a:r>
              <a:rPr lang="en-US" dirty="0" err="1"/>
              <a:t>Avaliação</a:t>
            </a:r>
            <a:r>
              <a:rPr lang="en-US" dirty="0"/>
              <a:t> </a:t>
            </a:r>
            <a:r>
              <a:rPr lang="en-US" sz="2400" b="0" dirty="0"/>
              <a:t>[3/3]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857328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pt-BR" dirty="0"/>
              <a:t>Exame Final (de 0 a 10)</a:t>
            </a:r>
          </a:p>
          <a:p>
            <a:pPr lvl="1">
              <a:defRPr/>
            </a:pPr>
            <a:r>
              <a:rPr lang="pt-BR" dirty="0">
                <a:solidFill>
                  <a:srgbClr val="800000"/>
                </a:solidFill>
              </a:rPr>
              <a:t>Conteúdo de todo o semestre</a:t>
            </a:r>
          </a:p>
          <a:p>
            <a:pPr lvl="1">
              <a:defRPr/>
            </a:pPr>
            <a:r>
              <a:rPr lang="pt-BR" dirty="0"/>
              <a:t>Nota obtida = (Nota Semestral  + Nota Exame) / 2</a:t>
            </a:r>
          </a:p>
          <a:p>
            <a:pPr lvl="1"/>
            <a:r>
              <a:rPr lang="pt-BR" dirty="0"/>
              <a:t>Aprovação: Nota &gt;= 5</a:t>
            </a:r>
          </a:p>
          <a:p>
            <a:pPr lvl="1"/>
            <a:r>
              <a:rPr lang="pt-BR" dirty="0"/>
              <a:t>Reprovação: Nota &lt; 5</a:t>
            </a:r>
          </a:p>
          <a:p>
            <a:pPr lvl="1">
              <a:defRPr/>
            </a:pPr>
            <a:endParaRPr lang="pt-BR" dirty="0"/>
          </a:p>
          <a:p>
            <a:pPr>
              <a:defRPr/>
            </a:pPr>
            <a:r>
              <a:rPr lang="pt-BR" dirty="0" err="1"/>
              <a:t>Obs</a:t>
            </a:r>
            <a:endParaRPr lang="pt-BR" dirty="0"/>
          </a:p>
          <a:p>
            <a:pPr marL="547687" lvl="2" indent="0">
              <a:buNone/>
              <a:defRPr/>
            </a:pPr>
            <a:endParaRPr lang="pt-BR" dirty="0"/>
          </a:p>
          <a:p>
            <a:pPr lvl="1">
              <a:defRPr/>
            </a:pPr>
            <a:r>
              <a:rPr lang="pt-BR" dirty="0"/>
              <a:t>Frequência</a:t>
            </a:r>
          </a:p>
          <a:p>
            <a:pPr lvl="2">
              <a:defRPr/>
            </a:pPr>
            <a:r>
              <a:rPr lang="pt-BR" dirty="0"/>
              <a:t>&gt;= 75% (aprovado)</a:t>
            </a:r>
          </a:p>
          <a:p>
            <a:pPr lvl="2">
              <a:defRPr/>
            </a:pPr>
            <a:r>
              <a:rPr lang="pt-BR" dirty="0"/>
              <a:t>&lt; 75% (reprovado)</a:t>
            </a:r>
          </a:p>
        </p:txBody>
      </p:sp>
    </p:spTree>
    <p:extLst>
      <p:ext uri="{BB962C8B-B14F-4D97-AF65-F5344CB8AC3E}">
        <p14:creationId xmlns:p14="http://schemas.microsoft.com/office/powerpoint/2010/main" val="36351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432</Words>
  <Application>Microsoft Office PowerPoint</Application>
  <PresentationFormat>Apresentação na tela (4:3)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do Office</vt:lpstr>
      <vt:lpstr>Engenharia de Requisitos de Software</vt:lpstr>
      <vt:lpstr>Motivos da Matéria Engenharia de Software</vt:lpstr>
      <vt:lpstr>Ementa</vt:lpstr>
      <vt:lpstr>Objetivos da Disciplina</vt:lpstr>
      <vt:lpstr>Competências</vt:lpstr>
      <vt:lpstr>Conteúdo Programático [1/2]</vt:lpstr>
      <vt:lpstr>Conteúdo Programático [2/2]</vt:lpstr>
      <vt:lpstr>Metodologia de Ensino [1/2]</vt:lpstr>
      <vt:lpstr>Metodologia de Ensino [2/2]</vt:lpstr>
      <vt:lpstr>Critérios de Avaliação [1/3]</vt:lpstr>
      <vt:lpstr>Critérios de Avaliação [1/3]</vt:lpstr>
      <vt:lpstr>Critérios de Avaliação [3/3]</vt:lpstr>
    </vt:vector>
  </TitlesOfParts>
  <Company>Toledo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Marketing</dc:creator>
  <cp:lastModifiedBy>ALISSON AUGUSTO CARNELOS KUHN</cp:lastModifiedBy>
  <cp:revision>29</cp:revision>
  <cp:lastPrinted>2019-02-03T12:52:59Z</cp:lastPrinted>
  <dcterms:created xsi:type="dcterms:W3CDTF">2014-09-02T19:41:53Z</dcterms:created>
  <dcterms:modified xsi:type="dcterms:W3CDTF">2023-02-11T00:22:37Z</dcterms:modified>
</cp:coreProperties>
</file>