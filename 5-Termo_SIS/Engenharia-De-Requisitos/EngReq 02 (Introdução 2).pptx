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6" r:id="rId28"/>
    <p:sldId id="288" r:id="rId29"/>
    <p:sldId id="289" r:id="rId30"/>
    <p:sldId id="291" r:id="rId31"/>
    <p:sldId id="292" r:id="rId32"/>
    <p:sldId id="310" r:id="rId33"/>
    <p:sldId id="311" r:id="rId34"/>
    <p:sldId id="312" r:id="rId35"/>
    <p:sldId id="313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9" r:id="rId52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C1B9D3F-8C19-4D41-8187-1A6513CFFE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4209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610605C-D84B-4E0C-87ED-4E41307C9F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07851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37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70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08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519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85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57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53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28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96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423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684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1">
          <a:blip r:embed="rId2">
            <a:alphaModFix amt="5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Crise do Software</a:t>
            </a:r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E77A9-F174-486D-9A9E-45188F58CBA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6" name="Picture 5" descr="magnify_question_mark_800_cl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429000"/>
            <a:ext cx="6096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257300" y="1041400"/>
            <a:ext cx="184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37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37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900" decel="100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.03"/>
                          </p:val>
                        </p:tav>
                      </p:tavLst>
                    </p:anim>
                    <p:anim calcmode="lin" valueType="num">
                      <p:cBhvr>
                        <p:cTn dur="100" accel="100000" fill="hold">
                          <p:stCondLst>
                            <p:cond delay="900"/>
                          </p:stCondLst>
                        </p:cTn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3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Crise do Software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63E77A9-F174-486D-9A9E-45188F58CBA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2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Crise do Software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0EBEE-ED24-40E1-B452-4CB474456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99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836712"/>
            <a:ext cx="7772400" cy="1470025"/>
          </a:xfrm>
        </p:spPr>
        <p:txBody>
          <a:bodyPr/>
          <a:lstStyle/>
          <a:p>
            <a:r>
              <a:rPr lang="pt-BR"/>
              <a:t>Engenharia de Requisitos de Software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Alisson Kuhn</a:t>
            </a:r>
          </a:p>
          <a:p>
            <a:r>
              <a:rPr lang="pt-BR" sz="2400" dirty="0"/>
              <a:t>alissonkuhn@hotmail.com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839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Crise do Software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Falhas Famosas de Softwares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Problemas e causas da Crise do Software</a:t>
            </a:r>
          </a:p>
        </p:txBody>
      </p:sp>
    </p:spTree>
    <p:extLst>
      <p:ext uri="{BB962C8B-B14F-4D97-AF65-F5344CB8AC3E}">
        <p14:creationId xmlns:p14="http://schemas.microsoft.com/office/powerpoint/2010/main" val="347553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que se refere a</a:t>
            </a:r>
            <a:br>
              <a:rPr lang="pt-BR" dirty="0"/>
            </a:br>
            <a:r>
              <a:rPr lang="pt-BR" dirty="0"/>
              <a:t>Crise do Software?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do Software </a:t>
            </a:r>
            <a:r>
              <a:rPr lang="pt-BR" sz="2800" dirty="0"/>
              <a:t>[1/2]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451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Documentos\Imagens\_Aulas\crise.jpg"/>
          <p:cNvPicPr>
            <a:picLocks noChangeAspect="1" noChangeArrowheads="1"/>
          </p:cNvPicPr>
          <p:nvPr/>
        </p:nvPicPr>
        <p:blipFill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736354"/>
            <a:ext cx="4701464" cy="4045446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do Software </a:t>
            </a:r>
            <a:r>
              <a:rPr lang="pt-BR" sz="2800" dirty="0"/>
              <a:t>[2/2]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Refere-se a um</a:t>
            </a:r>
            <a:br>
              <a:rPr lang="pt-BR"/>
            </a:br>
            <a:r>
              <a:rPr lang="pt-BR"/>
              <a:t>conjunto de problemas</a:t>
            </a:r>
            <a:br>
              <a:rPr lang="pt-BR"/>
            </a:br>
            <a:r>
              <a:rPr lang="pt-BR"/>
              <a:t>encontrados no</a:t>
            </a:r>
            <a:br>
              <a:rPr lang="pt-BR"/>
            </a:br>
            <a:r>
              <a:rPr lang="pt-BR"/>
              <a:t>desenvolvimento de</a:t>
            </a:r>
            <a:br>
              <a:rPr lang="pt-BR"/>
            </a:br>
            <a:r>
              <a:rPr lang="pt-BR"/>
              <a:t>software</a:t>
            </a:r>
          </a:p>
        </p:txBody>
      </p:sp>
      <p:sp>
        <p:nvSpPr>
          <p:cNvPr id="7" name="Texto explicativo em forma de nuvem 6"/>
          <p:cNvSpPr/>
          <p:nvPr/>
        </p:nvSpPr>
        <p:spPr>
          <a:xfrm>
            <a:off x="467436" y="1956558"/>
            <a:ext cx="3962400" cy="1524000"/>
          </a:xfrm>
          <a:prstGeom prst="cloudCallout">
            <a:avLst>
              <a:gd name="adj1" fmla="val 10995"/>
              <a:gd name="adj2" fmla="val -82597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Aflição crônica!</a:t>
            </a:r>
          </a:p>
        </p:txBody>
      </p:sp>
    </p:spTree>
    <p:extLst>
      <p:ext uri="{BB962C8B-B14F-4D97-AF65-F5344CB8AC3E}">
        <p14:creationId xmlns:p14="http://schemas.microsoft.com/office/powerpoint/2010/main" val="414695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Crise do Software</a:t>
            </a:r>
            <a:br>
              <a:rPr lang="pt-BR"/>
            </a:br>
            <a:r>
              <a:rPr lang="pt-BR" sz="3100"/>
              <a:t>Problemas </a:t>
            </a:r>
            <a:r>
              <a:rPr lang="pt-BR" sz="2200"/>
              <a:t>[1/2]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As </a:t>
            </a:r>
            <a:r>
              <a:rPr lang="pt-BR" dirty="0">
                <a:solidFill>
                  <a:srgbClr val="800000"/>
                </a:solidFill>
              </a:rPr>
              <a:t>estimativas de prazo</a:t>
            </a:r>
            <a:r>
              <a:rPr lang="pt-BR" dirty="0"/>
              <a:t> e de custo são frequentemente </a:t>
            </a:r>
            <a:r>
              <a:rPr lang="pt-BR" dirty="0">
                <a:solidFill>
                  <a:srgbClr val="800000"/>
                </a:solidFill>
              </a:rPr>
              <a:t>imprecisas</a:t>
            </a:r>
          </a:p>
          <a:p>
            <a:pPr lvl="1"/>
            <a:r>
              <a:rPr lang="pt-BR" dirty="0"/>
              <a:t>Não era dedicado tempo para coletar dados sobre o processo de desenvolvimento de software</a:t>
            </a:r>
          </a:p>
          <a:p>
            <a:pPr lvl="1"/>
            <a:r>
              <a:rPr lang="pt-BR" dirty="0"/>
              <a:t>Sem nenhuma indicação sólida de produtividade, não era possível avaliar com precisão a eficácia de novas ferramentas, métodos ou padrões</a:t>
            </a:r>
          </a:p>
          <a:p>
            <a:pPr lvl="8"/>
            <a:endParaRPr lang="pt-BR" dirty="0"/>
          </a:p>
          <a:p>
            <a:r>
              <a:rPr lang="pt-BR" dirty="0">
                <a:solidFill>
                  <a:srgbClr val="800000"/>
                </a:solidFill>
              </a:rPr>
              <a:t>Insatisfação</a:t>
            </a:r>
            <a:r>
              <a:rPr lang="pt-BR" dirty="0"/>
              <a:t> do cliente </a:t>
            </a:r>
            <a:r>
              <a:rPr lang="pt-BR" dirty="0">
                <a:solidFill>
                  <a:srgbClr val="800000"/>
                </a:solidFill>
              </a:rPr>
              <a:t>com o sistema</a:t>
            </a:r>
            <a:r>
              <a:rPr lang="pt-BR" dirty="0"/>
              <a:t> concluído</a:t>
            </a:r>
          </a:p>
          <a:p>
            <a:pPr lvl="1"/>
            <a:r>
              <a:rPr lang="pt-BR" dirty="0"/>
              <a:t>Os projetos de desenvolvimento de software eram normalmente efetuados apenas com um </a:t>
            </a:r>
            <a:r>
              <a:rPr lang="pt-BR" dirty="0">
                <a:solidFill>
                  <a:srgbClr val="800000"/>
                </a:solidFill>
              </a:rPr>
              <a:t>vago indício das exigências do cliente</a:t>
            </a:r>
          </a:p>
        </p:txBody>
      </p:sp>
    </p:spTree>
    <p:extLst>
      <p:ext uri="{BB962C8B-B14F-4D97-AF65-F5344CB8AC3E}">
        <p14:creationId xmlns:p14="http://schemas.microsoft.com/office/powerpoint/2010/main" val="72158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Crise do Software</a:t>
            </a:r>
            <a:br>
              <a:rPr lang="pt-BR"/>
            </a:br>
            <a:r>
              <a:rPr lang="pt-BR" sz="3100"/>
              <a:t>Problemas </a:t>
            </a:r>
            <a:r>
              <a:rPr lang="pt-BR" sz="2200"/>
              <a:t>[2/2]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</a:t>
            </a:r>
            <a:r>
              <a:rPr lang="pt-BR" dirty="0">
                <a:solidFill>
                  <a:srgbClr val="800000"/>
                </a:solidFill>
              </a:rPr>
              <a:t>qualidade de software</a:t>
            </a:r>
            <a:r>
              <a:rPr lang="pt-BR" dirty="0"/>
              <a:t>, às vezes, era </a:t>
            </a:r>
            <a:r>
              <a:rPr lang="pt-BR" dirty="0">
                <a:solidFill>
                  <a:srgbClr val="800000"/>
                </a:solidFill>
              </a:rPr>
              <a:t>menos que adequada</a:t>
            </a:r>
          </a:p>
          <a:p>
            <a:pPr lvl="1"/>
            <a:r>
              <a:rPr lang="pt-BR" dirty="0"/>
              <a:t>Só recentemente começam a surgir conceitos quantitativos sólidos de garantia de qualidade de software</a:t>
            </a:r>
          </a:p>
          <a:p>
            <a:pPr lvl="8"/>
            <a:endParaRPr lang="pt-BR" dirty="0"/>
          </a:p>
          <a:p>
            <a:r>
              <a:rPr lang="pt-BR" dirty="0"/>
              <a:t>O </a:t>
            </a:r>
            <a:r>
              <a:rPr lang="pt-BR" dirty="0">
                <a:solidFill>
                  <a:srgbClr val="800000"/>
                </a:solidFill>
              </a:rPr>
              <a:t>software</a:t>
            </a:r>
            <a:r>
              <a:rPr lang="pt-BR" dirty="0"/>
              <a:t> existente era muito </a:t>
            </a:r>
            <a:r>
              <a:rPr lang="pt-BR" dirty="0">
                <a:solidFill>
                  <a:srgbClr val="800000"/>
                </a:solidFill>
              </a:rPr>
              <a:t>difícil de se manter</a:t>
            </a:r>
          </a:p>
          <a:p>
            <a:pPr lvl="1"/>
            <a:r>
              <a:rPr lang="pt-BR" dirty="0"/>
              <a:t>A tarefa de </a:t>
            </a:r>
            <a:r>
              <a:rPr lang="pt-BR" dirty="0">
                <a:solidFill>
                  <a:srgbClr val="800000"/>
                </a:solidFill>
              </a:rPr>
              <a:t>manutenção devorava o orçamento destinado ao software</a:t>
            </a:r>
          </a:p>
          <a:p>
            <a:pPr lvl="1"/>
            <a:r>
              <a:rPr lang="pt-BR" dirty="0"/>
              <a:t>A facilidade de manutenção não era enfatizada como um critério importante</a:t>
            </a:r>
          </a:p>
        </p:txBody>
      </p:sp>
    </p:spTree>
    <p:extLst>
      <p:ext uri="{BB962C8B-B14F-4D97-AF65-F5344CB8AC3E}">
        <p14:creationId xmlns:p14="http://schemas.microsoft.com/office/powerpoint/2010/main" val="135952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Crise do Software</a:t>
            </a:r>
            <a:br>
              <a:rPr lang="pt-BR"/>
            </a:br>
            <a:r>
              <a:rPr lang="pt-BR" sz="3100"/>
              <a:t>Causas dos Problemas </a:t>
            </a:r>
            <a:r>
              <a:rPr lang="pt-BR" sz="2200"/>
              <a:t>[1/2]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Próprio caráter do software</a:t>
            </a:r>
          </a:p>
          <a:p>
            <a:pPr lvl="8"/>
            <a:endParaRPr lang="pt-BR" b="1" dirty="0"/>
          </a:p>
          <a:p>
            <a:pPr lvl="1"/>
            <a:r>
              <a:rPr lang="pt-BR" dirty="0"/>
              <a:t>O software é um elemento de sistema lógico e não físico</a:t>
            </a:r>
          </a:p>
          <a:p>
            <a:pPr lvl="8"/>
            <a:endParaRPr lang="pt-BR" dirty="0"/>
          </a:p>
          <a:p>
            <a:pPr lvl="1"/>
            <a:r>
              <a:rPr lang="pt-BR" dirty="0">
                <a:solidFill>
                  <a:srgbClr val="800000"/>
                </a:solidFill>
              </a:rPr>
              <a:t>O software não se desgasta, mas se deteriora</a:t>
            </a:r>
          </a:p>
        </p:txBody>
      </p:sp>
    </p:spTree>
    <p:extLst>
      <p:ext uri="{BB962C8B-B14F-4D97-AF65-F5344CB8AC3E}">
        <p14:creationId xmlns:p14="http://schemas.microsoft.com/office/powerpoint/2010/main" val="195598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Crise do Software</a:t>
            </a:r>
            <a:br>
              <a:rPr lang="pt-BR"/>
            </a:br>
            <a:r>
              <a:rPr lang="pt-BR" sz="3100"/>
              <a:t>Causas dos Problemas </a:t>
            </a:r>
            <a:r>
              <a:rPr lang="pt-BR" sz="2200"/>
              <a:t>[2/2]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>
                <a:solidFill>
                  <a:srgbClr val="800000"/>
                </a:solidFill>
              </a:rPr>
              <a:t>Falhas de pessoas</a:t>
            </a:r>
            <a:r>
              <a:rPr lang="pt-BR" b="1" dirty="0"/>
              <a:t> responsáveis pelo desenvolvimento de software</a:t>
            </a:r>
          </a:p>
          <a:p>
            <a:pPr lvl="8"/>
            <a:endParaRPr lang="pt-BR" dirty="0"/>
          </a:p>
          <a:p>
            <a:pPr lvl="1"/>
            <a:r>
              <a:rPr lang="pt-BR" dirty="0"/>
              <a:t>Gerentes sem nenhuma experiência em software</a:t>
            </a:r>
          </a:p>
          <a:p>
            <a:pPr lvl="8"/>
            <a:endParaRPr lang="pt-BR" dirty="0"/>
          </a:p>
          <a:p>
            <a:pPr lvl="1"/>
            <a:r>
              <a:rPr lang="pt-BR" dirty="0"/>
              <a:t>Profissionais da área de software têm </a:t>
            </a:r>
            <a:r>
              <a:rPr lang="pt-BR" dirty="0">
                <a:solidFill>
                  <a:srgbClr val="800000"/>
                </a:solidFill>
              </a:rPr>
              <a:t>pouco treinamento</a:t>
            </a:r>
            <a:r>
              <a:rPr lang="pt-BR" dirty="0"/>
              <a:t> formal em novas técnicas para o desenvolvimento de software</a:t>
            </a:r>
          </a:p>
          <a:p>
            <a:pPr lvl="8"/>
            <a:endParaRPr lang="pt-BR" dirty="0"/>
          </a:p>
          <a:p>
            <a:pPr lvl="1"/>
            <a:r>
              <a:rPr lang="pt-BR" dirty="0"/>
              <a:t>Resistência a mudanças</a:t>
            </a:r>
          </a:p>
        </p:txBody>
      </p:sp>
    </p:spTree>
    <p:extLst>
      <p:ext uri="{BB962C8B-B14F-4D97-AF65-F5344CB8AC3E}">
        <p14:creationId xmlns:p14="http://schemas.microsoft.com/office/powerpoint/2010/main" val="255000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Crise do Software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mais causas dos problemas da</a:t>
            </a:r>
            <a:br>
              <a:rPr lang="pt-BR" dirty="0"/>
            </a:br>
            <a:r>
              <a:rPr lang="pt-BR" dirty="0"/>
              <a:t>Crise do Software?</a:t>
            </a:r>
          </a:p>
        </p:txBody>
      </p:sp>
    </p:spTree>
    <p:extLst>
      <p:ext uri="{BB962C8B-B14F-4D97-AF65-F5344CB8AC3E}">
        <p14:creationId xmlns:p14="http://schemas.microsoft.com/office/powerpoint/2010/main" val="410890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Crise do Software</a:t>
            </a:r>
            <a:br>
              <a:rPr lang="pt-BR"/>
            </a:br>
            <a:r>
              <a:rPr lang="pt-BR" sz="3100"/>
              <a:t>Mitos do Software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Propagaram desinformação e confusão</a:t>
            </a:r>
          </a:p>
          <a:p>
            <a:pPr lvl="8"/>
            <a:endParaRPr lang="pt-BR"/>
          </a:p>
          <a:p>
            <a:pPr lvl="1"/>
            <a:r>
              <a:rPr lang="pt-BR" b="1"/>
              <a:t>Mitos Administrativos</a:t>
            </a:r>
          </a:p>
          <a:p>
            <a:pPr lvl="8"/>
            <a:endParaRPr lang="pt-BR"/>
          </a:p>
          <a:p>
            <a:pPr lvl="1"/>
            <a:r>
              <a:rPr lang="pt-BR" b="1"/>
              <a:t>Mitos relacionados ao Cliente</a:t>
            </a:r>
          </a:p>
          <a:p>
            <a:pPr lvl="8"/>
            <a:endParaRPr lang="pt-BR"/>
          </a:p>
          <a:p>
            <a:pPr lvl="1"/>
            <a:r>
              <a:rPr lang="pt-BR" b="1"/>
              <a:t>Mitos relacionados ao Profissional</a:t>
            </a:r>
          </a:p>
        </p:txBody>
      </p:sp>
    </p:spTree>
    <p:extLst>
      <p:ext uri="{BB962C8B-B14F-4D97-AF65-F5344CB8AC3E}">
        <p14:creationId xmlns:p14="http://schemas.microsoft.com/office/powerpoint/2010/main" val="238824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Administrativos </a:t>
            </a:r>
            <a:r>
              <a:rPr lang="pt-BR" sz="2200"/>
              <a:t>[1/3]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21088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Mito 1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Já temos um manual repleto de padrões e procedimentos para a construção de software.</a:t>
            </a:r>
            <a:br>
              <a:rPr lang="pt-BR" dirty="0"/>
            </a:br>
            <a:r>
              <a:rPr lang="pt-BR" dirty="0"/>
              <a:t>Isso não oferecerá ao meu pessoal tudo o que eles precisam saber?</a:t>
            </a:r>
          </a:p>
          <a:p>
            <a:pPr lvl="8"/>
            <a:endParaRPr lang="pt-BR" dirty="0"/>
          </a:p>
          <a:p>
            <a:r>
              <a:rPr lang="pt-BR" b="1" dirty="0"/>
              <a:t>Realidade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Será que o manual é usado?</a:t>
            </a:r>
          </a:p>
          <a:p>
            <a:pPr lvl="1"/>
            <a:r>
              <a:rPr lang="pt-BR" dirty="0"/>
              <a:t>Os profissionais sabem que ele existe?</a:t>
            </a:r>
          </a:p>
          <a:p>
            <a:pPr lvl="1"/>
            <a:r>
              <a:rPr lang="pt-BR" dirty="0"/>
              <a:t>Ele é completo?</a:t>
            </a:r>
          </a:p>
        </p:txBody>
      </p:sp>
    </p:spTree>
    <p:extLst>
      <p:ext uri="{BB962C8B-B14F-4D97-AF65-F5344CB8AC3E}">
        <p14:creationId xmlns:p14="http://schemas.microsoft.com/office/powerpoint/2010/main" val="22680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Administrativos </a:t>
            </a:r>
            <a:r>
              <a:rPr lang="pt-BR" sz="2200"/>
              <a:t>[2/3]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/>
              <a:t>Mito 2</a:t>
            </a:r>
            <a:r>
              <a:rPr lang="pt-BR"/>
              <a:t>:</a:t>
            </a:r>
          </a:p>
          <a:p>
            <a:pPr lvl="1"/>
            <a:r>
              <a:rPr lang="pt-BR"/>
              <a:t>Meu pessoal tem ferramentas de desenvolvimento de software de última geração, afinal, compramos os mais novos computadores</a:t>
            </a:r>
          </a:p>
          <a:p>
            <a:pPr lvl="8"/>
            <a:endParaRPr lang="pt-BR"/>
          </a:p>
          <a:p>
            <a:r>
              <a:rPr lang="pt-BR" b="1"/>
              <a:t>Realidade</a:t>
            </a:r>
            <a:r>
              <a:rPr lang="pt-BR"/>
              <a:t>:</a:t>
            </a:r>
          </a:p>
          <a:p>
            <a:pPr lvl="1"/>
            <a:r>
              <a:rPr lang="pt-BR"/>
              <a:t>É preciso muito mais do que os mais recentes computadores para se ter um desenvolvimento de software de alta qualidade</a:t>
            </a:r>
          </a:p>
        </p:txBody>
      </p:sp>
    </p:spTree>
    <p:extLst>
      <p:ext uri="{BB962C8B-B14F-4D97-AF65-F5344CB8AC3E}">
        <p14:creationId xmlns:p14="http://schemas.microsoft.com/office/powerpoint/2010/main" val="237722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Administrativos </a:t>
            </a:r>
            <a:r>
              <a:rPr lang="pt-BR" sz="2200"/>
              <a:t>[3/3]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/>
              <a:t>Mito 3</a:t>
            </a:r>
            <a:r>
              <a:rPr lang="pt-BR"/>
              <a:t>:</a:t>
            </a:r>
          </a:p>
          <a:p>
            <a:pPr lvl="1"/>
            <a:r>
              <a:rPr lang="pt-BR"/>
              <a:t>Se nós estamos atrasados nos prazos, podemos adicionar mais programadores e tirar o atraso</a:t>
            </a:r>
          </a:p>
          <a:p>
            <a:pPr lvl="8"/>
            <a:endParaRPr lang="pt-BR"/>
          </a:p>
          <a:p>
            <a:r>
              <a:rPr lang="pt-BR" b="1"/>
              <a:t>Realidade</a:t>
            </a:r>
            <a:r>
              <a:rPr lang="pt-BR"/>
              <a:t>:</a:t>
            </a:r>
          </a:p>
          <a:p>
            <a:pPr lvl="1"/>
            <a:r>
              <a:rPr lang="pt-BR"/>
              <a:t>O desenvolvimento de software não é um processo mecânico igual ao da manufatura</a:t>
            </a:r>
          </a:p>
          <a:p>
            <a:pPr lvl="1"/>
            <a:r>
              <a:rPr lang="pt-BR"/>
              <a:t>Acrescentar pessoas em um projeto torna-o ainda mais atrasado</a:t>
            </a:r>
          </a:p>
          <a:p>
            <a:pPr lvl="1"/>
            <a:r>
              <a:rPr lang="pt-BR"/>
              <a:t>Pessoas podem ser acrescentadas, mas somente de uma maneira planejada</a:t>
            </a:r>
          </a:p>
        </p:txBody>
      </p:sp>
    </p:spTree>
    <p:extLst>
      <p:ext uri="{BB962C8B-B14F-4D97-AF65-F5344CB8AC3E}">
        <p14:creationId xmlns:p14="http://schemas.microsoft.com/office/powerpoint/2010/main" val="155811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Relacionados ao Cliente </a:t>
            </a:r>
            <a:r>
              <a:rPr lang="pt-BR" sz="2200"/>
              <a:t>[1/3]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/>
              <a:t>Mito 1</a:t>
            </a:r>
            <a:r>
              <a:rPr lang="pt-BR"/>
              <a:t>:</a:t>
            </a:r>
          </a:p>
          <a:p>
            <a:pPr lvl="1"/>
            <a:r>
              <a:rPr lang="pt-BR"/>
              <a:t>Uma declaração geral dos objetivos é suficiente para se começar a escrever programas</a:t>
            </a:r>
          </a:p>
          <a:p>
            <a:pPr lvl="2"/>
            <a:r>
              <a:rPr lang="pt-BR"/>
              <a:t>podemos preencher os detalhes mais tarde</a:t>
            </a:r>
          </a:p>
          <a:p>
            <a:pPr lvl="8"/>
            <a:endParaRPr lang="pt-BR"/>
          </a:p>
          <a:p>
            <a:r>
              <a:rPr lang="pt-BR" b="1"/>
              <a:t>Realidade</a:t>
            </a:r>
            <a:r>
              <a:rPr lang="pt-BR"/>
              <a:t>:</a:t>
            </a:r>
          </a:p>
          <a:p>
            <a:pPr lvl="1"/>
            <a:r>
              <a:rPr lang="pt-BR"/>
              <a:t>Uma definição inicial ruim é a principal causa de fracassos dos esforços de desenvolvimento de software</a:t>
            </a:r>
          </a:p>
          <a:p>
            <a:pPr lvl="1"/>
            <a:r>
              <a:rPr lang="pt-BR"/>
              <a:t>É fundamental uma descrição detalhada do domínio da informação, função, desempenho, interfaces, restrições de projeto e critérios de validação</a:t>
            </a:r>
          </a:p>
        </p:txBody>
      </p:sp>
    </p:spTree>
    <p:extLst>
      <p:ext uri="{BB962C8B-B14F-4D97-AF65-F5344CB8AC3E}">
        <p14:creationId xmlns:p14="http://schemas.microsoft.com/office/powerpoint/2010/main" val="392217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Relacionados ao Cliente </a:t>
            </a:r>
            <a:r>
              <a:rPr lang="pt-BR" sz="2200"/>
              <a:t>[2/3]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/>
              <a:t>Mito 2</a:t>
            </a:r>
            <a:r>
              <a:rPr lang="pt-BR"/>
              <a:t>:</a:t>
            </a:r>
          </a:p>
          <a:p>
            <a:pPr lvl="1"/>
            <a:r>
              <a:rPr lang="pt-BR"/>
              <a:t>Os requisitos de projeto modificam-se continuamente, mas as mudanças podem ser facilmente acomodadas, pois o software é flexível</a:t>
            </a:r>
          </a:p>
          <a:p>
            <a:pPr lvl="8"/>
            <a:endParaRPr lang="pt-BR"/>
          </a:p>
          <a:p>
            <a:r>
              <a:rPr lang="pt-BR" b="1"/>
              <a:t>Realidade</a:t>
            </a:r>
            <a:r>
              <a:rPr lang="pt-BR"/>
              <a:t>:</a:t>
            </a:r>
          </a:p>
          <a:p>
            <a:pPr lvl="1"/>
            <a:r>
              <a:rPr lang="pt-BR"/>
              <a:t>Uma mudança, quando solicitada tardiamente em um projeto, pode ser maior do que a ordem de magnitude mais dispendiosa da mesma mudança solicitada nas fases iniciais</a:t>
            </a:r>
          </a:p>
        </p:txBody>
      </p:sp>
    </p:spTree>
    <p:extLst>
      <p:ext uri="{BB962C8B-B14F-4D97-AF65-F5344CB8AC3E}">
        <p14:creationId xmlns:p14="http://schemas.microsoft.com/office/powerpoint/2010/main" val="375453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Relacionados ao Cliente </a:t>
            </a:r>
            <a:r>
              <a:rPr lang="pt-BR" sz="2200"/>
              <a:t>[3/3]</a:t>
            </a:r>
            <a:endParaRPr lang="pt-BR"/>
          </a:p>
        </p:txBody>
      </p:sp>
      <p:sp>
        <p:nvSpPr>
          <p:cNvPr id="8" name="Espaço Reservado para Conteúdo 2"/>
          <p:cNvSpPr txBox="1">
            <a:spLocks/>
          </p:cNvSpPr>
          <p:nvPr/>
        </p:nvSpPr>
        <p:spPr bwMode="auto">
          <a:xfrm>
            <a:off x="425014" y="1772816"/>
            <a:ext cx="822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25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Magnitude das Mudanças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790EAB-7CF5-4EC5-A0D4-602031E0C8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50" t="19185" r="19288" b="17785"/>
          <a:stretch/>
        </p:blipFill>
        <p:spPr>
          <a:xfrm>
            <a:off x="1551482" y="2708920"/>
            <a:ext cx="5976664" cy="32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067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Mitos do Software</a:t>
            </a:r>
            <a:br>
              <a:rPr lang="pt-BR"/>
            </a:br>
            <a:r>
              <a:rPr lang="pt-BR" sz="3100"/>
              <a:t>Relacionados ao Profissional </a:t>
            </a:r>
            <a:r>
              <a:rPr lang="pt-BR" sz="2200"/>
              <a:t>[1/2]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/>
              <a:t>Mito 1</a:t>
            </a:r>
            <a:r>
              <a:rPr lang="pt-BR"/>
              <a:t>:</a:t>
            </a:r>
          </a:p>
          <a:p>
            <a:pPr lvl="1"/>
            <a:r>
              <a:rPr lang="pt-BR"/>
              <a:t>Assim que escrevermos o programa e o colocarmos em funcionamento, nosso trabalho estará completo</a:t>
            </a:r>
          </a:p>
          <a:p>
            <a:pPr lvl="8"/>
            <a:endParaRPr lang="pt-BR"/>
          </a:p>
          <a:p>
            <a:r>
              <a:rPr lang="pt-BR" b="1"/>
              <a:t>Realidade</a:t>
            </a:r>
            <a:r>
              <a:rPr lang="pt-BR"/>
              <a:t>:</a:t>
            </a:r>
          </a:p>
          <a:p>
            <a:pPr lvl="1"/>
            <a:r>
              <a:rPr lang="pt-BR"/>
              <a:t>Os dados da indústria indicam que entre 50 e 70% de todo esforço gasto em um programa serão despendidos depois de ele ter sido entregue pela primeira vez ao cliente</a:t>
            </a:r>
          </a:p>
        </p:txBody>
      </p:sp>
    </p:spTree>
    <p:extLst>
      <p:ext uri="{BB962C8B-B14F-4D97-AF65-F5344CB8AC3E}">
        <p14:creationId xmlns:p14="http://schemas.microsoft.com/office/powerpoint/2010/main" val="113540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Mitos do Software</a:t>
            </a:r>
            <a:br>
              <a:rPr lang="pt-BR" dirty="0"/>
            </a:br>
            <a:r>
              <a:rPr lang="pt-BR" sz="3100" dirty="0"/>
              <a:t>Relacionados ao Profissional </a:t>
            </a:r>
            <a:r>
              <a:rPr lang="pt-BR" sz="2200" dirty="0"/>
              <a:t>[2/2]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Mito 2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Enquanto o programa não estiver “funcionando”, não teremos realmente nenhuma maneira de avaliar sua qualidade</a:t>
            </a:r>
          </a:p>
          <a:p>
            <a:pPr lvl="8"/>
            <a:endParaRPr lang="pt-BR" dirty="0"/>
          </a:p>
          <a:p>
            <a:r>
              <a:rPr lang="pt-BR" b="1" dirty="0"/>
              <a:t>Realidade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Um programa funcionando é somente uma parte de uma </a:t>
            </a:r>
            <a:r>
              <a:rPr lang="pt-BR" dirty="0">
                <a:solidFill>
                  <a:srgbClr val="800000"/>
                </a:solidFill>
              </a:rPr>
              <a:t>Configuração de Software</a:t>
            </a:r>
            <a:r>
              <a:rPr lang="pt-BR" dirty="0"/>
              <a:t> que inclui todos os itens de informação produzidos durante a construção e manutenção do software</a:t>
            </a:r>
          </a:p>
        </p:txBody>
      </p:sp>
    </p:spTree>
    <p:extLst>
      <p:ext uri="{BB962C8B-B14F-4D97-AF65-F5344CB8AC3E}">
        <p14:creationId xmlns:p14="http://schemas.microsoft.com/office/powerpoint/2010/main" val="253601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Resposta à Crise do Software</a:t>
            </a:r>
          </a:p>
        </p:txBody>
      </p:sp>
      <p:sp>
        <p:nvSpPr>
          <p:cNvPr id="7" name="Fluxograma: Fita perfurada 6"/>
          <p:cNvSpPr/>
          <p:nvPr/>
        </p:nvSpPr>
        <p:spPr>
          <a:xfrm>
            <a:off x="228600" y="1371600"/>
            <a:ext cx="8686800" cy="1905000"/>
          </a:xfrm>
          <a:prstGeom prst="flowChartPunchedTape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Software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397793" y="2708920"/>
            <a:ext cx="6348413" cy="4064000"/>
            <a:chOff x="1397793" y="2830394"/>
            <a:chExt cx="6348413" cy="4064000"/>
          </a:xfrm>
        </p:grpSpPr>
        <p:sp>
          <p:nvSpPr>
            <p:cNvPr id="3" name="CaixaDeTexto 2"/>
            <p:cNvSpPr txBox="1"/>
            <p:nvPr/>
          </p:nvSpPr>
          <p:spPr>
            <a:xfrm>
              <a:off x="3505200" y="3429000"/>
              <a:ext cx="2133600" cy="20574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pt-BR" sz="7200" b="1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Times New Roman" pitchFamily="18" charset="0"/>
                </a:rPr>
                <a:t>ES</a:t>
              </a:r>
            </a:p>
          </p:txBody>
        </p:sp>
        <p:pic>
          <p:nvPicPr>
            <p:cNvPr id="4098" name="Picture 2" descr="D:\Documentos\Imagens\_Aulas\TI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7793" y="2830394"/>
              <a:ext cx="6348413" cy="4064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3891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Crise do Software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Falhas Famosas de Softwares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Exemplos de algumas das mais famosas falhas desastrosas de softwares</a:t>
            </a:r>
          </a:p>
        </p:txBody>
      </p:sp>
    </p:spTree>
    <p:extLst>
      <p:ext uri="{BB962C8B-B14F-4D97-AF65-F5344CB8AC3E}">
        <p14:creationId xmlns:p14="http://schemas.microsoft.com/office/powerpoint/2010/main" val="282185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[1/17]</a:t>
            </a:r>
            <a:br>
              <a:rPr lang="en-US" dirty="0"/>
            </a:br>
            <a:r>
              <a:rPr lang="en-US" sz="3100" dirty="0"/>
              <a:t>Problemas no Mariner (1962)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50013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Mariner, um foguete com uma sonda espacial para Vênus, foi desviado de seu percurso de voo logo após o lançamento;</a:t>
            </a:r>
          </a:p>
          <a:p>
            <a:pPr lvl="1"/>
            <a:r>
              <a:rPr lang="en-US" dirty="0"/>
              <a:t>O controle da missão destruiu o foguete 293 segundos após a decolagem.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Um programador, ao passar para o computador uma fórmula que haviam lhe entregado escrita manualmente, se esqueceu de uma barra;</a:t>
            </a:r>
          </a:p>
          <a:p>
            <a:pPr lvl="1"/>
            <a:r>
              <a:rPr lang="en-US" dirty="0"/>
              <a:t>Sem ela, o software tratava variações normais de velocidade como se fossem sérios problemas, causando falhas por tentativas de correções que acabaram por enviar o foguete fora do curso.</a:t>
            </a:r>
          </a:p>
        </p:txBody>
      </p:sp>
    </p:spTree>
    <p:extLst>
      <p:ext uri="{BB962C8B-B14F-4D97-AF65-F5344CB8AC3E}">
        <p14:creationId xmlns:p14="http://schemas.microsoft.com/office/powerpoint/2010/main" val="213623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[2/17]</a:t>
            </a:r>
            <a:br>
              <a:rPr lang="en-US" dirty="0"/>
            </a:br>
            <a:r>
              <a:rPr lang="en-US" sz="3100" dirty="0"/>
              <a:t>Hartford Coliseu Desmorona (1978)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70 milhões de dólares, além de outros danos de 20 milhões para a economia local;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Poucas horas depois de milhares de fãs deixarem o Coliseu Hartford, o teto de treliça de aço desabou sob o peso da neve molhada.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O programador do software CAD, utilizado para projetar o coliseu, incorretamente assumiu que o suporte do telhado de aço enfrentaria apenas compressão natural;</a:t>
            </a:r>
          </a:p>
          <a:p>
            <a:pPr lvl="1"/>
            <a:r>
              <a:rPr lang="en-US" dirty="0"/>
              <a:t>Mas quando um dos suportes inesperadamente recebeu um bloco de neve, este desencadeou uma reação em cadeia que derrubou o telhado de outras seções como dominós.</a:t>
            </a:r>
          </a:p>
        </p:txBody>
      </p:sp>
    </p:spTree>
    <p:extLst>
      <p:ext uri="{BB962C8B-B14F-4D97-AF65-F5344CB8AC3E}">
        <p14:creationId xmlns:p14="http://schemas.microsoft.com/office/powerpoint/2010/main" val="423633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[3/17]</a:t>
            </a:r>
            <a:br>
              <a:rPr lang="en-US" dirty="0"/>
            </a:br>
            <a:r>
              <a:rPr lang="en-US" sz="3100" dirty="0"/>
              <a:t>CIA distribui gás aos soviéticos (1982)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Milhões de dólares e danos significativos à economia soviética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O software de controle se descontrolou e produziu uma intensa pressão no gasoduto Trans-Siberian, resultando na maior explosão não-nuclear da história.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Agentes da CIA supostamente implantaram um bug em um sistema de computador canadense, adquirido pelos soviéticos para controlar seus gasodutos;</a:t>
            </a:r>
          </a:p>
          <a:p>
            <a:pPr lvl="2"/>
            <a:r>
              <a:rPr lang="en-US" dirty="0"/>
              <a:t>A compra era parte de um plano estratégico soviético para roubar/obter tecnologia confidencial dos EUA;</a:t>
            </a:r>
          </a:p>
          <a:p>
            <a:pPr lvl="1"/>
            <a:r>
              <a:rPr lang="en-US" dirty="0"/>
              <a:t>A CIA descobriu e sabotou o software para que ele passasse na inspeção Soviética, mas </a:t>
            </a:r>
            <a:r>
              <a:rPr lang="en-US" dirty="0" err="1"/>
              <a:t>falham</a:t>
            </a:r>
            <a:r>
              <a:rPr lang="en-US" dirty="0"/>
              <a:t> na operação.</a:t>
            </a:r>
          </a:p>
        </p:txBody>
      </p:sp>
    </p:spTree>
    <p:extLst>
      <p:ext uri="{BB962C8B-B14F-4D97-AF65-F5344CB8AC3E}">
        <p14:creationId xmlns:p14="http://schemas.microsoft.com/office/powerpoint/2010/main" val="11132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[5/17]</a:t>
            </a:r>
            <a:br>
              <a:rPr lang="en-US" dirty="0"/>
            </a:br>
            <a:r>
              <a:rPr lang="en-US" sz="3100" dirty="0"/>
              <a:t>Máquina medicinal mata (1985)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Três mortos e três seriamente feridos.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A máquina de radiação canadense Therac-25 irradiou doses letais em pacientes.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Por causa de um bug sutil chamado de “condição de corrida“, um técnico acidentalmente configurou o Therac-25 de modo que o feixe de elétrons seria como um fogo de alta potência.</a:t>
            </a:r>
          </a:p>
        </p:txBody>
      </p:sp>
    </p:spTree>
    <p:extLst>
      <p:ext uri="{BB962C8B-B14F-4D97-AF65-F5344CB8AC3E}">
        <p14:creationId xmlns:p14="http://schemas.microsoft.com/office/powerpoint/2010/main" val="72967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[6/17]</a:t>
            </a:r>
            <a:br>
              <a:rPr lang="en-US" dirty="0"/>
            </a:br>
            <a:r>
              <a:rPr lang="en-US" sz="3100" dirty="0"/>
              <a:t>Crash na Wall Street (1987)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$500 bilhões em um dia.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Em 19 de outubro de 1987, o índice Dow Jones caiu 508 pontos, perdendo 22,6% de seu valor total;</a:t>
            </a:r>
          </a:p>
          <a:p>
            <a:pPr lvl="1"/>
            <a:r>
              <a:rPr lang="en-US" dirty="0"/>
              <a:t>Esta foi a maior perda que Wall Street já sofreu em um único dia.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Um mercado em grande alta foi interrompido por uma série de investigações conduzidas pela SEC e por outras forças do mercado.</a:t>
            </a:r>
          </a:p>
          <a:p>
            <a:pPr lvl="1"/>
            <a:r>
              <a:rPr lang="en-US" dirty="0"/>
              <a:t>Como os investidores fugiram de ações investigadas, um número muito grande de ordens de venda foram gerados pelos computadores, quebrando sistemas e deixando os investidores efetivamente cegos.</a:t>
            </a:r>
          </a:p>
        </p:txBody>
      </p:sp>
    </p:spTree>
    <p:extLst>
      <p:ext uri="{BB962C8B-B14F-4D97-AF65-F5344CB8AC3E}">
        <p14:creationId xmlns:p14="http://schemas.microsoft.com/office/powerpoint/2010/main" val="42642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[7/17]</a:t>
            </a:r>
            <a:br>
              <a:rPr lang="en-US" dirty="0"/>
            </a:br>
            <a:r>
              <a:rPr lang="en-US" sz="3100" dirty="0"/>
              <a:t>Linhas da AT&amp;T  “morrem” (1990)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293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75 milhões de ligações perdidas e 200 reservas aéreas perdidas</a:t>
            </a:r>
          </a:p>
          <a:p>
            <a:pPr lvl="5"/>
            <a:endParaRPr lang="en-US" dirty="0"/>
          </a:p>
          <a:p>
            <a:r>
              <a:rPr lang="en-US" dirty="0"/>
              <a:t>Desatre:</a:t>
            </a:r>
          </a:p>
          <a:p>
            <a:pPr lvl="1"/>
            <a:r>
              <a:rPr lang="en-US" dirty="0"/>
              <a:t>Um switch dos 114 centros de swiches da AT&amp;T sofreu um problema mecânico que fez com que todo o seu centro fosse desligado.</a:t>
            </a:r>
          </a:p>
          <a:p>
            <a:pPr lvl="1"/>
            <a:r>
              <a:rPr lang="en-US" dirty="0"/>
              <a:t>Quando o seu centro voltou a ativa, enviou uma mensagem aos outros, o que causou o desligamento dos outros centros e deixou a empresa parada por 9 horas.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Uma única linha de código em uma atualização de software implementada para acelerar chamadas causou um efeito cascata que desligou a rede.</a:t>
            </a:r>
          </a:p>
        </p:txBody>
      </p:sp>
    </p:spTree>
    <p:extLst>
      <p:ext uri="{BB962C8B-B14F-4D97-AF65-F5344CB8AC3E}">
        <p14:creationId xmlns:p14="http://schemas.microsoft.com/office/powerpoint/2010/main" val="300178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[11/17]</a:t>
            </a:r>
            <a:br>
              <a:rPr lang="en-US" dirty="0"/>
            </a:br>
            <a:r>
              <a:rPr lang="en-US" sz="3100" dirty="0"/>
              <a:t>Skynet quase traz o Dia do Juízo Final (1997)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Desatre:</a:t>
            </a:r>
          </a:p>
          <a:p>
            <a:pPr lvl="1"/>
            <a:r>
              <a:rPr lang="en-US" dirty="0"/>
              <a:t>Alguns operadores, na tentativa de desligar a Skynet (rede mundial de computadores), acabam fazendo a empresa responder disparando mísseis nucleares dos EUA à Rússia, iniciando uma guerra nuclear global a qual o que ficou conhecida como Dia do Juízo Final (29 de agosto de 1997).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Cyberdyne, o principal fabricante de armas, instalou a tecnologia Skynet em todos os equipamentos militares, formando uma rede contínua e removendo recursos humanos de defesa estratégica.</a:t>
            </a:r>
          </a:p>
          <a:p>
            <a:pPr lvl="1"/>
            <a:r>
              <a:rPr lang="en-US" dirty="0"/>
              <a:t>O Skynet se tornou consciente, foi ameaçado quando o homem tentou colocá-lo offline, procurou sobreviver, e revidou com uma guerra nuclear.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00200" y="457200"/>
            <a:ext cx="6248400" cy="6248400"/>
            <a:chOff x="1600200" y="457200"/>
            <a:chExt cx="6248400" cy="6248400"/>
          </a:xfrm>
        </p:grpSpPr>
        <p:sp>
          <p:nvSpPr>
            <p:cNvPr id="6" name="&quot;No&quot; Symbol 5"/>
            <p:cNvSpPr/>
            <p:nvPr/>
          </p:nvSpPr>
          <p:spPr>
            <a:xfrm>
              <a:off x="1600200" y="457200"/>
              <a:ext cx="6248400" cy="6248400"/>
            </a:xfrm>
            <a:prstGeom prst="noSmoking">
              <a:avLst/>
            </a:prstGeom>
            <a:solidFill>
              <a:srgbClr val="FF0000">
                <a:alpha val="50000"/>
              </a:srgbClr>
            </a:solidFill>
            <a:effectLst>
              <a:outerShdw blurRad="63500" dist="127000" dir="2700000" algn="tl" rotWithShape="0">
                <a:srgbClr val="000000">
                  <a:alpha val="60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5100000"/>
              </a:lightRig>
            </a:scene3d>
            <a:sp3d contourW="6350">
              <a:bevelT w="63500" h="63500"/>
              <a:bevelB w="63500" h="63500"/>
              <a:contourClr>
                <a:schemeClr val="accent6">
                  <a:shade val="30000"/>
                  <a:satMod val="130000"/>
                </a:schemeClr>
              </a:contourClr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2884539" y="3138784"/>
              <a:ext cx="3717825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x-none" sz="5400" b="1" cap="none" spc="0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  <a:alpha val="30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+mj-lt"/>
                </a:rPr>
                <a:t>Ficção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85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[13/17]</a:t>
            </a:r>
            <a:br>
              <a:rPr lang="en-US" dirty="0"/>
            </a:br>
            <a:r>
              <a:rPr lang="en-US" sz="3100" dirty="0"/>
              <a:t>Passaportes britânicos para lugar nenhum (1999)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£12.6 millões.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A agência de passaportes do Reino Unido implementou um sistema que falhou ao emitir documentos para meio milhão de cidadãos britânicos e teve que pagar milhões ao governo para compensar a raiva da população.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A Agência lançou seu novo sistema sem testá-lo de maneira adequada ou treinar seus funcionários;</a:t>
            </a:r>
          </a:p>
          <a:p>
            <a:pPr lvl="1"/>
            <a:r>
              <a:rPr lang="en-US" dirty="0"/>
              <a:t>Ao mesmo tempo, uma mudança na lei exigia que todos os menores de 16 anos viajando ao exterior deveriam obter um passaporte, resultando em um aumento enorme na procura de passaportes, o que sobrecarregou o sistema.</a:t>
            </a:r>
          </a:p>
        </p:txBody>
      </p:sp>
    </p:spTree>
    <p:extLst>
      <p:ext uri="{BB962C8B-B14F-4D97-AF65-F5344CB8AC3E}">
        <p14:creationId xmlns:p14="http://schemas.microsoft.com/office/powerpoint/2010/main" val="23878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[14/17]</a:t>
            </a:r>
            <a:br>
              <a:rPr lang="en-US" dirty="0"/>
            </a:br>
            <a:r>
              <a:rPr lang="en-US" sz="3100" dirty="0"/>
              <a:t>Bug do Milênio (1999)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Custo: $500 bilhões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Empresas gastaram bilhões com programadores para corrigir uma falha no software legado;</a:t>
            </a:r>
          </a:p>
          <a:p>
            <a:pPr lvl="1"/>
            <a:r>
              <a:rPr lang="en-US" dirty="0"/>
              <a:t>Embora nenhum falha significativa ocorreu, a preparação para o Bug do Milênio teve um custo significativo e impacto no tempo em todas as indústrias que usam a tecnologia computacional.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Para economizar espaço de armazenamento de computador, softwares legados muitas vezes armazenavam anos para datas com números de dois dígitos, como 99 para 1999;</a:t>
            </a:r>
          </a:p>
          <a:p>
            <a:pPr lvl="1"/>
            <a:r>
              <a:rPr lang="en-US" dirty="0"/>
              <a:t>Esses softwares também interpretavam 00 como 1900, em vez de 2000, por isso, quando o ano de 2000 viesse, bugs apareceriam.</a:t>
            </a:r>
          </a:p>
        </p:txBody>
      </p:sp>
    </p:spTree>
    <p:extLst>
      <p:ext uri="{BB962C8B-B14F-4D97-AF65-F5344CB8AC3E}">
        <p14:creationId xmlns:p14="http://schemas.microsoft.com/office/powerpoint/2010/main" val="157412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[16/17]</a:t>
            </a:r>
            <a:br>
              <a:rPr lang="en-US" dirty="0"/>
            </a:br>
            <a:r>
              <a:rPr lang="en-US" sz="3100" dirty="0"/>
              <a:t>EDS derruba centro de suporte a crianças (2004)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293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£539 milhões (e ainda cresce)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A grande empresa de serviços EDA desenvolveu um sistema para o Centro de Suporte à Crianças do Reino Unido (CSA) que acidentalmente pagou a mais 1,9 milhões de pessoas, recebendo o dinheiro de volta em menos de 700.000 casos, registrando uma lista incansável de erros.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A EDS apresentou um sistema de TI complexo e grande demais para o CSA, ao mesmo tempo em que tentava reestruturar a agência.</a:t>
            </a:r>
          </a:p>
        </p:txBody>
      </p:sp>
    </p:spTree>
    <p:extLst>
      <p:ext uri="{BB962C8B-B14F-4D97-AF65-F5344CB8AC3E}">
        <p14:creationId xmlns:p14="http://schemas.microsoft.com/office/powerpoint/2010/main" val="272245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Falhas Famosas de Softwares </a:t>
            </a:r>
            <a:r>
              <a:rPr lang="en-US" sz="2700" dirty="0"/>
              <a:t>[17/17]</a:t>
            </a:r>
            <a:br>
              <a:rPr lang="en-US" dirty="0"/>
            </a:br>
            <a:r>
              <a:rPr lang="en-US" sz="3100" dirty="0"/>
              <a:t>Desatre no FBI (2005)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293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Custo:</a:t>
            </a:r>
          </a:p>
          <a:p>
            <a:pPr lvl="1"/>
            <a:r>
              <a:rPr lang="en-US" dirty="0"/>
              <a:t>$105 milhões jogados fora.</a:t>
            </a:r>
          </a:p>
          <a:p>
            <a:pPr lvl="5"/>
            <a:endParaRPr lang="en-US" dirty="0"/>
          </a:p>
          <a:p>
            <a:r>
              <a:rPr lang="en-US" dirty="0"/>
              <a:t>Desastre:</a:t>
            </a:r>
          </a:p>
          <a:p>
            <a:pPr lvl="1"/>
            <a:r>
              <a:rPr lang="en-US" dirty="0"/>
              <a:t>O FBI desistiu da revisão de um sistema após quatro anos de esforço;</a:t>
            </a:r>
          </a:p>
          <a:p>
            <a:pPr lvl="1"/>
            <a:r>
              <a:rPr lang="en-US" dirty="0"/>
              <a:t>O projeto Arquivo Virtual foi um maciço sistema de software integrado para agentes compartilharem arquivos de casos e outras informações.</a:t>
            </a:r>
          </a:p>
          <a:p>
            <a:pPr lvl="5"/>
            <a:endParaRPr lang="en-US" dirty="0"/>
          </a:p>
          <a:p>
            <a:r>
              <a:rPr lang="en-US" dirty="0"/>
              <a:t>Causa:</a:t>
            </a:r>
          </a:p>
          <a:p>
            <a:pPr lvl="1"/>
            <a:r>
              <a:rPr lang="en-US" dirty="0"/>
              <a:t>Má gestão em uma tentativa de construir um projeto de longo prazo com tecnologia ultrapassada, resultando em um sistema complexo e inutilizável.</a:t>
            </a:r>
          </a:p>
        </p:txBody>
      </p:sp>
    </p:spTree>
    <p:extLst>
      <p:ext uri="{BB962C8B-B14F-4D97-AF65-F5344CB8AC3E}">
        <p14:creationId xmlns:p14="http://schemas.microsoft.com/office/powerpoint/2010/main" val="75589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Arial" charset="0"/>
              </a:rPr>
              <a:t>Em dupla, realizar uma pesquisa sobre um projeto onde houve falha de software;</a:t>
            </a:r>
          </a:p>
          <a:p>
            <a:r>
              <a:rPr lang="pt-BR" sz="2800" dirty="0">
                <a:latin typeface="Arial" charset="0"/>
              </a:rPr>
              <a:t>Relatar o caso, com o máximo de detalhes possíveis;</a:t>
            </a:r>
          </a:p>
          <a:p>
            <a:r>
              <a:rPr lang="pt-BR" sz="2800" dirty="0">
                <a:latin typeface="Arial" charset="0"/>
              </a:rPr>
              <a:t>Tem que ter ocorrido nos últimos 3 anos;</a:t>
            </a:r>
          </a:p>
          <a:p>
            <a:r>
              <a:rPr lang="pt-BR" sz="2800" dirty="0">
                <a:latin typeface="Arial" charset="0"/>
              </a:rPr>
              <a:t>Qual foi o prejuízo envolvido?</a:t>
            </a:r>
          </a:p>
          <a:p>
            <a:r>
              <a:rPr lang="pt-BR" sz="2800" dirty="0">
                <a:latin typeface="Arial" charset="0"/>
              </a:rPr>
              <a:t>Como poderia ter sido evitado?</a:t>
            </a:r>
          </a:p>
          <a:p>
            <a:r>
              <a:rPr lang="pt-BR" sz="2800" dirty="0">
                <a:latin typeface="Arial" charset="0"/>
              </a:rPr>
              <a:t>Apresentar o estudo em </a:t>
            </a:r>
            <a:r>
              <a:rPr lang="pt-BR" sz="2800" dirty="0" err="1">
                <a:latin typeface="Arial" charset="0"/>
              </a:rPr>
              <a:t>ppt</a:t>
            </a:r>
            <a:r>
              <a:rPr lang="pt-BR" sz="2800" dirty="0">
                <a:latin typeface="Arial" charset="0"/>
              </a:rPr>
              <a:t>;</a:t>
            </a:r>
          </a:p>
          <a:p>
            <a:r>
              <a:rPr lang="pt-BR" sz="2800" dirty="0">
                <a:latin typeface="Arial" charset="0"/>
              </a:rPr>
              <a:t>Não utilizar projetos já mencionados em aula.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077072"/>
            <a:ext cx="2261750" cy="133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6123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pt-BR" dirty="0"/>
              <a:t>Grupos x Falhas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charset="0"/>
              </a:rPr>
              <a:t>G1 –  Felipe Diniz e </a:t>
            </a:r>
            <a:r>
              <a:rPr lang="pt-BR" sz="2800" dirty="0" err="1">
                <a:latin typeface="Arial" charset="0"/>
              </a:rPr>
              <a:t>Adriel</a:t>
            </a:r>
            <a:r>
              <a:rPr lang="pt-BR" sz="2800" dirty="0">
                <a:latin typeface="Arial" charset="0"/>
              </a:rPr>
              <a:t> - </a:t>
            </a:r>
          </a:p>
          <a:p>
            <a:r>
              <a:rPr lang="pt-BR" sz="2800" dirty="0">
                <a:latin typeface="Arial" charset="0"/>
              </a:rPr>
              <a:t>G2 – Camila e Mário - Latam/Múltiplos 2018</a:t>
            </a:r>
          </a:p>
          <a:p>
            <a:r>
              <a:rPr lang="pt-BR" sz="2800" dirty="0">
                <a:latin typeface="Arial" charset="0"/>
              </a:rPr>
              <a:t>G3 – Gabriel e Leonardo - NHS systems</a:t>
            </a:r>
          </a:p>
          <a:p>
            <a:r>
              <a:rPr lang="pt-BR" sz="2800" dirty="0">
                <a:latin typeface="Arial" charset="0"/>
              </a:rPr>
              <a:t>G4 - Felipe Sousa e Joao Tomé - Banco Itaú</a:t>
            </a:r>
          </a:p>
          <a:p>
            <a:r>
              <a:rPr lang="pt-BR" sz="2800" dirty="0">
                <a:latin typeface="Arial" charset="0"/>
              </a:rPr>
              <a:t>G5 – Matheus e Pedro - </a:t>
            </a:r>
            <a:r>
              <a:rPr lang="pt-BR" sz="2800" dirty="0" err="1">
                <a:latin typeface="Arial" charset="0"/>
              </a:rPr>
              <a:t>Waze</a:t>
            </a:r>
            <a:endParaRPr lang="pt-BR" sz="2800" dirty="0">
              <a:latin typeface="Arial" charset="0"/>
            </a:endParaRPr>
          </a:p>
          <a:p>
            <a:r>
              <a:rPr lang="pt-BR" sz="2800" dirty="0">
                <a:latin typeface="Arial" charset="0"/>
              </a:rPr>
              <a:t>G6 - Lucas Alex. e Bruno Fabris - Facebook </a:t>
            </a:r>
          </a:p>
          <a:p>
            <a:r>
              <a:rPr lang="pt-BR" sz="2800" dirty="0">
                <a:latin typeface="Arial" charset="0"/>
              </a:rPr>
              <a:t>G7 - Augusto e Thalita - Corretora </a:t>
            </a:r>
            <a:r>
              <a:rPr lang="pt-BR" sz="2800" dirty="0" err="1">
                <a:latin typeface="Arial" charset="0"/>
              </a:rPr>
              <a:t>Clear</a:t>
            </a:r>
            <a:endParaRPr lang="pt-BR" sz="2800" dirty="0">
              <a:latin typeface="Arial" charset="0"/>
            </a:endParaRPr>
          </a:p>
          <a:p>
            <a:r>
              <a:rPr lang="pt-BR" sz="2800" dirty="0">
                <a:latin typeface="Arial" charset="0"/>
              </a:rPr>
              <a:t>G8 -  Matheus Boni. e Melissa - 737 </a:t>
            </a:r>
            <a:r>
              <a:rPr lang="pt-BR" sz="2800" dirty="0" err="1">
                <a:latin typeface="Arial" charset="0"/>
              </a:rPr>
              <a:t>max</a:t>
            </a:r>
            <a:r>
              <a:rPr lang="pt-BR" sz="2800" dirty="0">
                <a:latin typeface="Arial" charset="0"/>
              </a:rPr>
              <a:t> </a:t>
            </a:r>
            <a:r>
              <a:rPr lang="pt-BR" sz="2800" dirty="0" err="1">
                <a:latin typeface="Arial" charset="0"/>
              </a:rPr>
              <a:t>mcas</a:t>
            </a:r>
            <a:endParaRPr lang="pt-BR" sz="2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627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30E24-510B-40B2-A116-FC028685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– Teste de Stress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2C7EEC-AA08-46E7-A775-7765DE3BF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848"/>
            <a:ext cx="9144000" cy="351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77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30E24-510B-40B2-A116-FC028685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Migração de Dados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3A5118E5-F747-4B55-A82E-C3A960B2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charset="0"/>
              </a:rPr>
              <a:t>Dar exemplos de migração </a:t>
            </a:r>
            <a:r>
              <a:rPr lang="pt-BR" sz="2800">
                <a:latin typeface="Arial" charset="0"/>
              </a:rPr>
              <a:t>de dados</a:t>
            </a:r>
            <a:endParaRPr lang="pt-BR" sz="28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79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Tópicos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Crise do Software</a:t>
            </a:r>
          </a:p>
          <a:p>
            <a:pPr lvl="3"/>
            <a:endParaRPr lang="pt-BR" sz="1600" dirty="0">
              <a:solidFill>
                <a:srgbClr val="7F7F7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dirty="0">
                <a:solidFill>
                  <a:srgbClr val="7F7F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Falhas Famosas de Softwares</a:t>
            </a:r>
          </a:p>
          <a:p>
            <a:pPr lvl="3"/>
            <a:endParaRPr lang="pt-B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2800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Engenharia de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Introdução à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233220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Engenharia de Software</a:t>
            </a:r>
            <a:br>
              <a:rPr lang="en-US" dirty="0"/>
            </a:br>
            <a:r>
              <a:rPr lang="en-US" sz="3100" dirty="0"/>
              <a:t>Justificativa – Pressman </a:t>
            </a:r>
            <a:r>
              <a:rPr lang="en-US" sz="2200" dirty="0"/>
              <a:t>[1/2]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524000"/>
            <a:ext cx="8839200" cy="49293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década de 60 e princípio da década de 70 mostraram a </a:t>
            </a:r>
            <a:r>
              <a:rPr lang="en-US" dirty="0">
                <a:solidFill>
                  <a:srgbClr val="800000"/>
                </a:solidFill>
              </a:rPr>
              <a:t>inviabilidade</a:t>
            </a:r>
            <a:r>
              <a:rPr lang="en-US" dirty="0"/>
              <a:t> da ideia do </a:t>
            </a:r>
            <a:r>
              <a:rPr lang="en-US" dirty="0">
                <a:solidFill>
                  <a:srgbClr val="800000"/>
                </a:solidFill>
              </a:rPr>
              <a:t>sistema de informação</a:t>
            </a:r>
            <a:r>
              <a:rPr lang="en-US" dirty="0"/>
              <a:t> global para toda uma organização;</a:t>
            </a:r>
          </a:p>
          <a:p>
            <a:pPr lvl="5"/>
            <a:endParaRPr lang="en-US" dirty="0"/>
          </a:p>
          <a:p>
            <a:r>
              <a:rPr lang="en-US" dirty="0"/>
              <a:t>A despeito dos grandes avanços tecnológicos, várias organizações passaram pela desagradável experiência de terem </a:t>
            </a:r>
            <a:r>
              <a:rPr lang="en-US" dirty="0">
                <a:solidFill>
                  <a:srgbClr val="800000"/>
                </a:solidFill>
              </a:rPr>
              <a:t>altíssimos gastos em processamento de dados</a:t>
            </a:r>
            <a:r>
              <a:rPr lang="en-US" dirty="0"/>
              <a:t> e, contrariamente ao esperado, terem acumulado </a:t>
            </a:r>
            <a:r>
              <a:rPr lang="en-US" dirty="0">
                <a:solidFill>
                  <a:srgbClr val="800000"/>
                </a:solidFill>
              </a:rPr>
              <a:t>grandes insucessos</a:t>
            </a:r>
            <a:r>
              <a:rPr lang="en-US" dirty="0"/>
              <a:t> na implantação de ambiciosos </a:t>
            </a:r>
            <a:r>
              <a:rPr lang="en-US" dirty="0">
                <a:solidFill>
                  <a:srgbClr val="800000"/>
                </a:solidFill>
              </a:rPr>
              <a:t>Sistemas de Informação</a:t>
            </a:r>
            <a:r>
              <a:rPr lang="en-US" dirty="0"/>
              <a:t>, os quais englobariam toda a organização</a:t>
            </a:r>
          </a:p>
        </p:txBody>
      </p:sp>
    </p:spTree>
    <p:extLst>
      <p:ext uri="{BB962C8B-B14F-4D97-AF65-F5344CB8AC3E}">
        <p14:creationId xmlns:p14="http://schemas.microsoft.com/office/powerpoint/2010/main" val="129150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Engenharia de Software</a:t>
            </a:r>
            <a:br>
              <a:rPr lang="en-US" dirty="0"/>
            </a:br>
            <a:r>
              <a:rPr lang="en-US" sz="3100" dirty="0"/>
              <a:t>Justificativa – Pressman </a:t>
            </a:r>
            <a:r>
              <a:rPr lang="en-US" sz="2200" dirty="0"/>
              <a:t>[2/2]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Um Sistema de Informação </a:t>
            </a:r>
            <a:r>
              <a:rPr lang="en-US" dirty="0">
                <a:solidFill>
                  <a:srgbClr val="800000"/>
                </a:solidFill>
              </a:rPr>
              <a:t>não é</a:t>
            </a:r>
            <a:r>
              <a:rPr lang="en-US" dirty="0"/>
              <a:t> como muitos acreditavam, </a:t>
            </a:r>
            <a:r>
              <a:rPr lang="en-US" dirty="0">
                <a:solidFill>
                  <a:srgbClr val="800000"/>
                </a:solidFill>
              </a:rPr>
              <a:t>um sistema puramente técnico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Infelizmente, alguns ainda acreditam que é;</a:t>
            </a:r>
          </a:p>
          <a:p>
            <a:pPr lvl="5"/>
            <a:endParaRPr lang="en-US" dirty="0"/>
          </a:p>
          <a:p>
            <a:r>
              <a:rPr lang="en-US" dirty="0"/>
              <a:t>Cabe à gerência de </a:t>
            </a:r>
            <a:r>
              <a:rPr lang="en-US" dirty="0">
                <a:solidFill>
                  <a:srgbClr val="800000"/>
                </a:solidFill>
              </a:rPr>
              <a:t>Engenharia de Software</a:t>
            </a:r>
            <a:r>
              <a:rPr lang="en-US" dirty="0"/>
              <a:t> todo o </a:t>
            </a:r>
            <a:r>
              <a:rPr lang="en-US" dirty="0">
                <a:solidFill>
                  <a:srgbClr val="800000"/>
                </a:solidFill>
              </a:rPr>
              <a:t>suporte</a:t>
            </a:r>
            <a:r>
              <a:rPr lang="en-US" dirty="0"/>
              <a:t> no </a:t>
            </a:r>
            <a:r>
              <a:rPr lang="en-US" dirty="0">
                <a:solidFill>
                  <a:srgbClr val="800000"/>
                </a:solidFill>
              </a:rPr>
              <a:t>desenvolvimento</a:t>
            </a:r>
            <a:r>
              <a:rPr lang="en-US" dirty="0"/>
              <a:t> e </a:t>
            </a:r>
            <a:r>
              <a:rPr lang="en-US" dirty="0">
                <a:solidFill>
                  <a:srgbClr val="800000"/>
                </a:solidFill>
              </a:rPr>
              <a:t>manutenção</a:t>
            </a:r>
            <a:r>
              <a:rPr lang="en-US" dirty="0"/>
              <a:t> do </a:t>
            </a:r>
            <a:r>
              <a:rPr lang="en-US" dirty="0">
                <a:solidFill>
                  <a:srgbClr val="800000"/>
                </a:solidFill>
              </a:rPr>
              <a:t>software</a:t>
            </a:r>
            <a:r>
              <a:rPr lang="en-US" dirty="0"/>
              <a:t> constante do </a:t>
            </a:r>
            <a:r>
              <a:rPr lang="en-US" u="sng" dirty="0">
                <a:solidFill>
                  <a:srgbClr val="800000"/>
                </a:solidFill>
              </a:rPr>
              <a:t>Sistema Computacional</a:t>
            </a:r>
            <a:r>
              <a:rPr lang="en-US" dirty="0"/>
              <a:t> de apoio aos </a:t>
            </a:r>
            <a:r>
              <a:rPr lang="en-US" dirty="0">
                <a:solidFill>
                  <a:srgbClr val="800000"/>
                </a:solidFill>
              </a:rPr>
              <a:t>Sistemas de Informação</a:t>
            </a:r>
            <a:r>
              <a:rPr lang="en-US" dirty="0"/>
              <a:t> da organização.</a:t>
            </a:r>
          </a:p>
        </p:txBody>
      </p:sp>
      <p:sp>
        <p:nvSpPr>
          <p:cNvPr id="6" name="Texto explicativo retangular com cantos arredondados 6"/>
          <p:cNvSpPr/>
          <p:nvPr/>
        </p:nvSpPr>
        <p:spPr>
          <a:xfrm>
            <a:off x="4343401" y="5410200"/>
            <a:ext cx="2590799" cy="762000"/>
          </a:xfrm>
          <a:prstGeom prst="wedgeRoundRectCallout">
            <a:avLst>
              <a:gd name="adj1" fmla="val -101080"/>
              <a:gd name="adj2" fmla="val -70865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Hardware e redes de computadores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26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que é Engenharia?</a:t>
            </a:r>
          </a:p>
          <a:p>
            <a:pPr lvl="1"/>
            <a:r>
              <a:rPr lang="pt-BR" dirty="0">
                <a:solidFill>
                  <a:srgbClr val="800000"/>
                </a:solidFill>
              </a:rPr>
              <a:t>Ciência</a:t>
            </a:r>
            <a:r>
              <a:rPr lang="pt-BR" dirty="0"/>
              <a:t> de adquirir e de aplicar </a:t>
            </a:r>
            <a:r>
              <a:rPr lang="pt-BR" dirty="0">
                <a:solidFill>
                  <a:srgbClr val="800000"/>
                </a:solidFill>
              </a:rPr>
              <a:t>conhecimentos matemáticos</a:t>
            </a:r>
            <a:r>
              <a:rPr lang="pt-BR" dirty="0"/>
              <a:t>, </a:t>
            </a:r>
            <a:r>
              <a:rPr lang="pt-BR" dirty="0">
                <a:solidFill>
                  <a:srgbClr val="800000"/>
                </a:solidFill>
              </a:rPr>
              <a:t>técnicos</a:t>
            </a:r>
            <a:r>
              <a:rPr lang="pt-BR" dirty="0"/>
              <a:t> e </a:t>
            </a:r>
            <a:r>
              <a:rPr lang="pt-BR" dirty="0">
                <a:solidFill>
                  <a:srgbClr val="800000"/>
                </a:solidFill>
              </a:rPr>
              <a:t>científicos</a:t>
            </a:r>
            <a:r>
              <a:rPr lang="pt-BR" dirty="0"/>
              <a:t> na criação, aperfeiçoamento e implementação de utilidades</a:t>
            </a:r>
          </a:p>
          <a:p>
            <a:pPr lvl="2"/>
            <a:r>
              <a:rPr lang="pt-BR" dirty="0"/>
              <a:t>tais como materiais, estruturas, máquinas, aparelhos, sistemas ou processos, que realizem uma determinada função ou objetivo.</a:t>
            </a:r>
          </a:p>
          <a:p>
            <a:pPr marL="547687" lvl="2" indent="0">
              <a:buNone/>
            </a:pPr>
            <a:r>
              <a:rPr lang="pt-BR" sz="1400" dirty="0">
                <a:solidFill>
                  <a:srgbClr val="7F7F7F"/>
                </a:solidFill>
              </a:rPr>
              <a:t>[</a:t>
            </a:r>
            <a:r>
              <a:rPr lang="pt-BR" sz="1400" dirty="0" err="1">
                <a:solidFill>
                  <a:srgbClr val="7F7F7F"/>
                </a:solidFill>
              </a:rPr>
              <a:t>Wikipedia</a:t>
            </a:r>
            <a:r>
              <a:rPr lang="pt-BR" sz="1400" dirty="0">
                <a:solidFill>
                  <a:srgbClr val="7F7F7F"/>
                </a:solidFill>
              </a:rPr>
              <a:t>]</a:t>
            </a:r>
          </a:p>
          <a:p>
            <a:pPr lvl="1"/>
            <a:r>
              <a:rPr lang="pt-BR" dirty="0"/>
              <a:t>Aplicação dos </a:t>
            </a:r>
            <a:r>
              <a:rPr lang="pt-BR" dirty="0">
                <a:solidFill>
                  <a:srgbClr val="800000"/>
                </a:solidFill>
              </a:rPr>
              <a:t>princípios científicos</a:t>
            </a:r>
            <a:r>
              <a:rPr lang="pt-BR" dirty="0"/>
              <a:t> a:</a:t>
            </a:r>
          </a:p>
          <a:p>
            <a:pPr lvl="2"/>
            <a:r>
              <a:rPr lang="pt-BR" dirty="0"/>
              <a:t>exploração dos recursos naturais</a:t>
            </a:r>
          </a:p>
          <a:p>
            <a:pPr lvl="2"/>
            <a:r>
              <a:rPr lang="pt-BR" dirty="0"/>
              <a:t>projeto e à construção de comodidades</a:t>
            </a:r>
          </a:p>
          <a:p>
            <a:pPr lvl="2"/>
            <a:r>
              <a:rPr lang="pt-BR" dirty="0"/>
              <a:t>fornecimento de utilidades</a:t>
            </a:r>
          </a:p>
          <a:p>
            <a:pPr marL="547687" lvl="2" indent="0">
              <a:buNone/>
            </a:pPr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[Dicionário Editora Porto]</a:t>
            </a:r>
          </a:p>
          <a:p>
            <a:pPr lvl="5"/>
            <a:endParaRPr lang="pt-BR" dirty="0"/>
          </a:p>
          <a:p>
            <a:r>
              <a:rPr lang="pt-BR" dirty="0"/>
              <a:t>O Que é Engenharia</a:t>
            </a:r>
            <a:br>
              <a:rPr lang="pt-BR" dirty="0"/>
            </a:br>
            <a:r>
              <a:rPr lang="pt-BR" dirty="0"/>
              <a:t>de Software?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171050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Engenharia de Software</a:t>
            </a:r>
            <a:br>
              <a:rPr lang="pt-BR"/>
            </a:br>
            <a:r>
              <a:rPr lang="pt-BR" sz="3100"/>
              <a:t>Definições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“Estabelecimento e uso de sólidos </a:t>
            </a:r>
            <a:r>
              <a:rPr lang="pt-BR" dirty="0">
                <a:solidFill>
                  <a:srgbClr val="800000"/>
                </a:solidFill>
              </a:rPr>
              <a:t>princípios de engenharia </a:t>
            </a:r>
            <a:r>
              <a:rPr lang="pt-BR" dirty="0"/>
              <a:t>para que se possa obter um software </a:t>
            </a:r>
            <a:r>
              <a:rPr lang="pt-BR" dirty="0">
                <a:solidFill>
                  <a:srgbClr val="800000"/>
                </a:solidFill>
              </a:rPr>
              <a:t>economicamente viável</a:t>
            </a:r>
            <a:r>
              <a:rPr lang="pt-BR" dirty="0"/>
              <a:t> que seja </a:t>
            </a:r>
            <a:r>
              <a:rPr lang="pt-BR" dirty="0">
                <a:solidFill>
                  <a:srgbClr val="800000"/>
                </a:solidFill>
              </a:rPr>
              <a:t>confiável</a:t>
            </a:r>
            <a:r>
              <a:rPr lang="pt-BR" dirty="0"/>
              <a:t> e que </a:t>
            </a:r>
            <a:r>
              <a:rPr lang="pt-BR" dirty="0">
                <a:solidFill>
                  <a:srgbClr val="800000"/>
                </a:solidFill>
              </a:rPr>
              <a:t>funcione eficientemente</a:t>
            </a:r>
            <a:r>
              <a:rPr lang="pt-BR" dirty="0"/>
              <a:t> em máquinas reais”</a:t>
            </a:r>
          </a:p>
          <a:p>
            <a:pPr marL="546100" lvl="2" indent="0" algn="r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[Pressman]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“Aplicação de uma </a:t>
            </a:r>
            <a:r>
              <a:rPr lang="pt-BR" u="sng" dirty="0">
                <a:solidFill>
                  <a:srgbClr val="800000"/>
                </a:solidFill>
              </a:rPr>
              <a:t>abordagem sistemática</a:t>
            </a:r>
            <a:r>
              <a:rPr lang="pt-BR" dirty="0"/>
              <a:t>, </a:t>
            </a:r>
            <a:r>
              <a:rPr lang="pt-BR" dirty="0">
                <a:solidFill>
                  <a:srgbClr val="800000"/>
                </a:solidFill>
              </a:rPr>
              <a:t>disciplinada</a:t>
            </a:r>
            <a:r>
              <a:rPr lang="pt-BR" dirty="0"/>
              <a:t> e </a:t>
            </a:r>
            <a:r>
              <a:rPr lang="pt-BR" dirty="0">
                <a:solidFill>
                  <a:srgbClr val="800000"/>
                </a:solidFill>
              </a:rPr>
              <a:t>possível de ser medida</a:t>
            </a:r>
            <a:r>
              <a:rPr lang="pt-BR" dirty="0"/>
              <a:t> para o desenvolvimento, operação e manutenção do software”</a:t>
            </a:r>
          </a:p>
          <a:p>
            <a:pPr marL="546100" lvl="2" indent="0" algn="r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[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</a:rPr>
              <a:t>iEEE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]</a:t>
            </a:r>
          </a:p>
        </p:txBody>
      </p:sp>
      <p:sp>
        <p:nvSpPr>
          <p:cNvPr id="7" name="Texto explicativo retangular com cantos arredondados 6"/>
          <p:cNvSpPr/>
          <p:nvPr/>
        </p:nvSpPr>
        <p:spPr>
          <a:xfrm>
            <a:off x="3200399" y="3810000"/>
            <a:ext cx="2836461" cy="609600"/>
          </a:xfrm>
          <a:prstGeom prst="wedgeRoundRectCallout">
            <a:avLst>
              <a:gd name="adj1" fmla="val -1620"/>
              <a:gd name="adj2" fmla="val 116626"/>
              <a:gd name="adj3" fmla="val 16667"/>
            </a:avLst>
          </a:prstGeom>
          <a:solidFill>
            <a:schemeClr val="bg2">
              <a:lumMod val="90000"/>
              <a:alpha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Processo de Software</a:t>
            </a:r>
          </a:p>
        </p:txBody>
      </p:sp>
    </p:spTree>
    <p:extLst>
      <p:ext uri="{BB962C8B-B14F-4D97-AF65-F5344CB8AC3E}">
        <p14:creationId xmlns:p14="http://schemas.microsoft.com/office/powerpoint/2010/main" val="206667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Engenharia de Software</a:t>
            </a:r>
            <a:br>
              <a:rPr lang="pt-BR"/>
            </a:br>
            <a:r>
              <a:rPr lang="pt-BR" sz="3100"/>
              <a:t>Objetivo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Auxiliar no processo de produção de software, de maneira que:</a:t>
            </a:r>
          </a:p>
          <a:p>
            <a:pPr lvl="8"/>
            <a:endParaRPr lang="pt-BR" dirty="0"/>
          </a:p>
          <a:p>
            <a:pPr lvl="1"/>
            <a:r>
              <a:rPr lang="pt-BR" dirty="0"/>
              <a:t>o processo dê origem a produtos de </a:t>
            </a:r>
            <a:r>
              <a:rPr lang="pt-BR" dirty="0">
                <a:solidFill>
                  <a:srgbClr val="800000"/>
                </a:solidFill>
              </a:rPr>
              <a:t>alta qualidade</a:t>
            </a:r>
          </a:p>
          <a:p>
            <a:pPr lvl="1"/>
            <a:r>
              <a:rPr lang="pt-BR" dirty="0"/>
              <a:t>produtos sejam produzidos </a:t>
            </a:r>
            <a:r>
              <a:rPr lang="pt-BR" dirty="0">
                <a:solidFill>
                  <a:srgbClr val="800000"/>
                </a:solidFill>
              </a:rPr>
              <a:t>mais rapidamente</a:t>
            </a:r>
          </a:p>
          <a:p>
            <a:pPr lvl="1"/>
            <a:r>
              <a:rPr lang="pt-BR" dirty="0"/>
              <a:t>a um </a:t>
            </a:r>
            <a:r>
              <a:rPr lang="pt-BR" dirty="0">
                <a:solidFill>
                  <a:srgbClr val="800000"/>
                </a:solidFill>
              </a:rPr>
              <a:t>custo reduzido</a:t>
            </a:r>
          </a:p>
          <a:p>
            <a:pPr lvl="8"/>
            <a:endParaRPr lang="pt-BR" dirty="0"/>
          </a:p>
          <a:p>
            <a:r>
              <a:rPr lang="pt-BR" dirty="0"/>
              <a:t>Veio em decorrência da </a:t>
            </a:r>
            <a:r>
              <a:rPr lang="pt-BR" dirty="0">
                <a:solidFill>
                  <a:srgbClr val="800000"/>
                </a:solidFill>
              </a:rPr>
              <a:t>Crise do Software</a:t>
            </a:r>
          </a:p>
        </p:txBody>
      </p:sp>
    </p:spTree>
    <p:extLst>
      <p:ext uri="{BB962C8B-B14F-4D97-AF65-F5344CB8AC3E}">
        <p14:creationId xmlns:p14="http://schemas.microsoft.com/office/powerpoint/2010/main" val="25597201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Engenharia de Software</a:t>
            </a:r>
            <a:br>
              <a:rPr lang="pt-BR"/>
            </a:br>
            <a:r>
              <a:rPr lang="pt-BR" sz="3100"/>
              <a:t>Princípios </a:t>
            </a:r>
            <a:r>
              <a:rPr lang="pt-BR" sz="2200"/>
              <a:t>[1/3]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Formalidade</a:t>
            </a:r>
          </a:p>
          <a:p>
            <a:pPr lvl="1"/>
            <a:r>
              <a:rPr lang="pt-BR" dirty="0"/>
              <a:t>O processo de desenvolvimento contribui (por meio de um enfoque formal – </a:t>
            </a:r>
            <a:r>
              <a:rPr lang="pt-BR" dirty="0">
                <a:solidFill>
                  <a:srgbClr val="800000"/>
                </a:solidFill>
              </a:rPr>
              <a:t>especificado e documentado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para a produção de software mais confiável</a:t>
            </a:r>
          </a:p>
          <a:p>
            <a:pPr lvl="2"/>
            <a:r>
              <a:rPr lang="pt-BR" dirty="0"/>
              <a:t>para o controle dos custos associados</a:t>
            </a:r>
          </a:p>
          <a:p>
            <a:pPr lvl="2"/>
            <a:r>
              <a:rPr lang="pt-BR" dirty="0"/>
              <a:t>e para melhoria do seu desempenho</a:t>
            </a:r>
          </a:p>
          <a:p>
            <a:pPr lvl="1"/>
            <a:endParaRPr lang="pt-BR" dirty="0"/>
          </a:p>
          <a:p>
            <a:r>
              <a:rPr lang="pt-BR" b="1" dirty="0"/>
              <a:t>Abstração</a:t>
            </a:r>
          </a:p>
          <a:p>
            <a:pPr lvl="1"/>
            <a:r>
              <a:rPr lang="pt-BR" dirty="0"/>
              <a:t>Permite que o desenvolvedor se concentre no problema a ser resolvido</a:t>
            </a:r>
          </a:p>
          <a:p>
            <a:pPr lvl="2"/>
            <a:r>
              <a:rPr lang="pt-BR" dirty="0"/>
              <a:t> sem se perder em detalhes existentes no mundo real</a:t>
            </a:r>
          </a:p>
          <a:p>
            <a:pPr lvl="1"/>
            <a:r>
              <a:rPr lang="pt-BR" dirty="0">
                <a:solidFill>
                  <a:srgbClr val="800000"/>
                </a:solidFill>
              </a:rPr>
              <a:t>Diferentes visões</a:t>
            </a:r>
            <a:r>
              <a:rPr lang="pt-BR" dirty="0"/>
              <a:t> podem existir sobre a mesma realidade</a:t>
            </a:r>
          </a:p>
          <a:p>
            <a:pPr lvl="2"/>
            <a:r>
              <a:rPr lang="pt-BR" dirty="0"/>
              <a:t>cada uma com </a:t>
            </a:r>
            <a:r>
              <a:rPr lang="pt-BR" dirty="0">
                <a:solidFill>
                  <a:srgbClr val="800000"/>
                </a:solidFill>
              </a:rPr>
              <a:t>enfoque diferente</a:t>
            </a:r>
          </a:p>
        </p:txBody>
      </p:sp>
    </p:spTree>
    <p:extLst>
      <p:ext uri="{BB962C8B-B14F-4D97-AF65-F5344CB8AC3E}">
        <p14:creationId xmlns:p14="http://schemas.microsoft.com/office/powerpoint/2010/main" val="2491926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pt-BR" dirty="0"/>
              <a:t>Engenharia de Software</a:t>
            </a:r>
            <a:br>
              <a:rPr lang="pt-BR" dirty="0"/>
            </a:br>
            <a:r>
              <a:rPr lang="pt-BR" sz="3100" dirty="0"/>
              <a:t>Princípios </a:t>
            </a:r>
            <a:r>
              <a:rPr lang="pt-BR" sz="2200" dirty="0"/>
              <a:t>[2/3]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850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b="1" dirty="0"/>
              <a:t>Decomposição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dirty="0">
                <a:solidFill>
                  <a:srgbClr val="800000"/>
                </a:solidFill>
              </a:rPr>
              <a:t>Subdivisão do trabalho</a:t>
            </a:r>
            <a:r>
              <a:rPr lang="pt-BR" dirty="0">
                <a:solidFill>
                  <a:srgbClr val="000000"/>
                </a:solidFill>
              </a:rPr>
              <a:t> em atividades específicas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dirty="0">
                <a:solidFill>
                  <a:srgbClr val="000000"/>
                </a:solidFill>
              </a:rPr>
              <a:t>com o objetivo de </a:t>
            </a:r>
            <a:r>
              <a:rPr lang="pt-BR" dirty="0">
                <a:solidFill>
                  <a:srgbClr val="800000"/>
                </a:solidFill>
              </a:rPr>
              <a:t>gerenciar a complexidade</a:t>
            </a:r>
          </a:p>
          <a:p>
            <a:pPr lvl="5">
              <a:defRPr/>
            </a:pPr>
            <a:endParaRPr lang="pt-BR" kern="0" dirty="0">
              <a:solidFill>
                <a:srgbClr val="000000"/>
              </a:solidFill>
            </a:endParaRPr>
          </a:p>
          <a:p>
            <a:pPr lvl="1">
              <a:buFont typeface="Arial" pitchFamily="34" charset="0"/>
              <a:buChar char="•"/>
              <a:defRPr/>
            </a:pPr>
            <a:r>
              <a:rPr lang="pt-BR" b="1" kern="0" dirty="0">
                <a:solidFill>
                  <a:srgbClr val="000000"/>
                </a:solidFill>
              </a:rPr>
              <a:t>Decomposição do Processo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Permite o </a:t>
            </a:r>
            <a:r>
              <a:rPr lang="pt-BR" kern="0" dirty="0">
                <a:solidFill>
                  <a:srgbClr val="800000"/>
                </a:solidFill>
              </a:rPr>
              <a:t>planejamento das atividades</a:t>
            </a:r>
            <a:r>
              <a:rPr lang="pt-BR" kern="0" dirty="0">
                <a:solidFill>
                  <a:srgbClr val="000000"/>
                </a:solidFill>
              </a:rPr>
              <a:t> e </a:t>
            </a:r>
            <a:r>
              <a:rPr lang="pt-BR" kern="0" dirty="0">
                <a:solidFill>
                  <a:srgbClr val="800000"/>
                </a:solidFill>
              </a:rPr>
              <a:t>diminui o tempo extra</a:t>
            </a:r>
            <a:r>
              <a:rPr lang="pt-BR" kern="0" dirty="0">
                <a:solidFill>
                  <a:srgbClr val="000000"/>
                </a:solidFill>
              </a:rPr>
              <a:t> que seria gasto mudando de uma atividade para outra 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Permite a atribuição de </a:t>
            </a:r>
            <a:r>
              <a:rPr lang="pt-BR" kern="0" dirty="0">
                <a:solidFill>
                  <a:srgbClr val="800000"/>
                </a:solidFill>
              </a:rPr>
              <a:t>tarefas</a:t>
            </a:r>
            <a:r>
              <a:rPr lang="pt-BR" kern="0" dirty="0">
                <a:solidFill>
                  <a:srgbClr val="000000"/>
                </a:solidFill>
              </a:rPr>
              <a:t> a </a:t>
            </a:r>
            <a:r>
              <a:rPr lang="pt-BR" kern="0" dirty="0">
                <a:solidFill>
                  <a:srgbClr val="800000"/>
                </a:solidFill>
              </a:rPr>
              <a:t>pessoas</a:t>
            </a:r>
            <a:r>
              <a:rPr lang="pt-BR" kern="0" dirty="0">
                <a:solidFill>
                  <a:srgbClr val="000000"/>
                </a:solidFill>
              </a:rPr>
              <a:t> diferentes</a:t>
            </a:r>
          </a:p>
          <a:p>
            <a:pPr lvl="5">
              <a:defRPr/>
            </a:pPr>
            <a:endParaRPr lang="pt-BR" kern="0" dirty="0">
              <a:solidFill>
                <a:srgbClr val="000000"/>
              </a:solidFill>
            </a:endParaRPr>
          </a:p>
          <a:p>
            <a:pPr lvl="1">
              <a:buFont typeface="Arial" pitchFamily="34" charset="0"/>
              <a:buChar char="•"/>
              <a:defRPr/>
            </a:pPr>
            <a:r>
              <a:rPr lang="pt-BR" b="1" kern="0" dirty="0">
                <a:solidFill>
                  <a:srgbClr val="000000"/>
                </a:solidFill>
              </a:rPr>
              <a:t>Decomposição do Produto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Permite que </a:t>
            </a:r>
            <a:r>
              <a:rPr lang="pt-BR" kern="0" dirty="0">
                <a:solidFill>
                  <a:srgbClr val="800000"/>
                </a:solidFill>
              </a:rPr>
              <a:t>atividades de desenvolvimento</a:t>
            </a:r>
            <a:r>
              <a:rPr lang="pt-BR" kern="0" dirty="0">
                <a:solidFill>
                  <a:srgbClr val="000000"/>
                </a:solidFill>
              </a:rPr>
              <a:t> sejam feitas </a:t>
            </a:r>
            <a:r>
              <a:rPr lang="pt-BR" kern="0" dirty="0">
                <a:solidFill>
                  <a:srgbClr val="800000"/>
                </a:solidFill>
              </a:rPr>
              <a:t>em paralelo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Permite a criação de </a:t>
            </a:r>
            <a:r>
              <a:rPr lang="pt-BR" kern="0" dirty="0">
                <a:solidFill>
                  <a:srgbClr val="800000"/>
                </a:solidFill>
              </a:rPr>
              <a:t>componentes independentes</a:t>
            </a:r>
          </a:p>
          <a:p>
            <a:pPr lvl="3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componentes reutilizáveis</a:t>
            </a:r>
          </a:p>
        </p:txBody>
      </p:sp>
    </p:spTree>
    <p:extLst>
      <p:ext uri="{BB962C8B-B14F-4D97-AF65-F5344CB8AC3E}">
        <p14:creationId xmlns:p14="http://schemas.microsoft.com/office/powerpoint/2010/main" val="31651197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Engenharia de Software</a:t>
            </a:r>
            <a:br>
              <a:rPr lang="pt-BR" dirty="0"/>
            </a:br>
            <a:r>
              <a:rPr lang="pt-BR" sz="3100" dirty="0"/>
              <a:t>Princípios </a:t>
            </a:r>
            <a:r>
              <a:rPr lang="pt-BR" sz="2200" dirty="0"/>
              <a:t>[3/3]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b="1" kern="0" dirty="0">
                <a:solidFill>
                  <a:srgbClr val="000000"/>
                </a:solidFill>
              </a:rPr>
              <a:t>Generalização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Uma </a:t>
            </a:r>
            <a:r>
              <a:rPr lang="pt-BR" kern="0" dirty="0"/>
              <a:t>solução</a:t>
            </a:r>
            <a:r>
              <a:rPr lang="pt-BR" kern="0" dirty="0">
                <a:solidFill>
                  <a:srgbClr val="000000"/>
                </a:solidFill>
              </a:rPr>
              <a:t> mais </a:t>
            </a:r>
            <a:r>
              <a:rPr lang="pt-BR" kern="0" dirty="0">
                <a:solidFill>
                  <a:srgbClr val="800000"/>
                </a:solidFill>
              </a:rPr>
              <a:t>geral</a:t>
            </a:r>
            <a:r>
              <a:rPr lang="pt-BR" kern="0" dirty="0">
                <a:solidFill>
                  <a:srgbClr val="000000"/>
                </a:solidFill>
              </a:rPr>
              <a:t> para um problema tem maior potencial de ser </a:t>
            </a:r>
            <a:r>
              <a:rPr lang="pt-BR" kern="0" dirty="0">
                <a:solidFill>
                  <a:srgbClr val="800000"/>
                </a:solidFill>
              </a:rPr>
              <a:t>reutilizada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Solução </a:t>
            </a:r>
            <a:r>
              <a:rPr lang="pt-BR" kern="0" dirty="0">
                <a:solidFill>
                  <a:srgbClr val="800000"/>
                </a:solidFill>
              </a:rPr>
              <a:t>generalizada</a:t>
            </a:r>
            <a:r>
              <a:rPr lang="pt-BR" kern="0" dirty="0">
                <a:solidFill>
                  <a:srgbClr val="000000"/>
                </a:solidFill>
              </a:rPr>
              <a:t> pode ser mais </a:t>
            </a:r>
            <a:r>
              <a:rPr lang="pt-BR" kern="0" dirty="0">
                <a:solidFill>
                  <a:srgbClr val="800000"/>
                </a:solidFill>
              </a:rPr>
              <a:t>custosa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kern="0" dirty="0">
                <a:solidFill>
                  <a:srgbClr val="000000"/>
                </a:solidFill>
              </a:rPr>
              <a:t>por isso é necessário avaliar os problemas de custo e eficiência</a:t>
            </a:r>
          </a:p>
          <a:p>
            <a:pPr lvl="5">
              <a:defRPr/>
            </a:pPr>
            <a:endParaRPr lang="pt-BR" kern="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b="1" kern="0" dirty="0"/>
              <a:t>Flexibilização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dirty="0"/>
              <a:t>Permitir que o produto possa ser </a:t>
            </a:r>
            <a:r>
              <a:rPr lang="pt-BR" dirty="0">
                <a:solidFill>
                  <a:srgbClr val="800000"/>
                </a:solidFill>
              </a:rPr>
              <a:t>modificado com facilidade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pt-BR" dirty="0"/>
              <a:t>necessário no processo de desenvolvimento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pt-BR" dirty="0"/>
              <a:t>O processo deve ter flexibilidade suficiente para permitir que </a:t>
            </a:r>
            <a:r>
              <a:rPr lang="pt-BR" dirty="0">
                <a:solidFill>
                  <a:srgbClr val="800000"/>
                </a:solidFill>
              </a:rPr>
              <a:t>partes do produto</a:t>
            </a:r>
            <a:r>
              <a:rPr lang="pt-BR" dirty="0"/>
              <a:t> possam ser </a:t>
            </a:r>
            <a:r>
              <a:rPr lang="pt-BR" dirty="0">
                <a:solidFill>
                  <a:srgbClr val="800000"/>
                </a:solidFill>
              </a:rPr>
              <a:t>utilizadas em outros sistemas</a:t>
            </a:r>
          </a:p>
        </p:txBody>
      </p:sp>
    </p:spTree>
    <p:extLst>
      <p:ext uri="{BB962C8B-B14F-4D97-AF65-F5344CB8AC3E}">
        <p14:creationId xmlns:p14="http://schemas.microsoft.com/office/powerpoint/2010/main" val="2577073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Engenharia de Software</a:t>
            </a:r>
            <a:br>
              <a:rPr lang="pt-BR"/>
            </a:br>
            <a:r>
              <a:rPr lang="pt-BR" sz="3100"/>
              <a:t>Fases Genéricas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Análise</a:t>
            </a:r>
            <a:r>
              <a:rPr lang="pt-BR" dirty="0"/>
              <a:t> (ou Especificação):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Estabelecer os requisitos e restrições do sistema.</a:t>
            </a:r>
            <a:endParaRPr lang="pt-BR" b="1" dirty="0"/>
          </a:p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Projeto: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Produzir um modelo documentado do sistema.</a:t>
            </a:r>
          </a:p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Implementação: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Construir o sistema.</a:t>
            </a:r>
          </a:p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Verificação, Validação e Testes </a:t>
            </a:r>
            <a:r>
              <a:rPr lang="pt-BR" dirty="0"/>
              <a:t>(</a:t>
            </a:r>
            <a:r>
              <a:rPr lang="pt-BR" i="1" dirty="0"/>
              <a:t>VV&amp;T</a:t>
            </a:r>
            <a:r>
              <a:rPr lang="pt-BR" dirty="0"/>
              <a:t>):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Verificar se o sistema atende às especificações requeridas.</a:t>
            </a:r>
          </a:p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Implantação: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Liberar o sistema para o cliente e garantir que ele seja operacional.</a:t>
            </a:r>
          </a:p>
          <a:p>
            <a:pPr marL="465138" indent="-465138" eaLnBrk="1" hangingPunct="1">
              <a:lnSpc>
                <a:spcPct val="95000"/>
              </a:lnSpc>
              <a:buFont typeface="+mj-lt"/>
              <a:buAutoNum type="arabicPeriod"/>
            </a:pPr>
            <a:r>
              <a:rPr lang="pt-BR" b="1" dirty="0"/>
              <a:t>Manutenção:</a:t>
            </a:r>
          </a:p>
          <a:p>
            <a:pPr marL="739775" lvl="1" indent="-465138" eaLnBrk="1" hangingPunct="1">
              <a:lnSpc>
                <a:spcPct val="95000"/>
              </a:lnSpc>
            </a:pPr>
            <a:r>
              <a:rPr lang="pt-BR" dirty="0"/>
              <a:t>Eliminar defeitos e evoluir o  sistema conforme demanda.</a:t>
            </a:r>
          </a:p>
        </p:txBody>
      </p:sp>
    </p:spTree>
    <p:extLst>
      <p:ext uri="{BB962C8B-B14F-4D97-AF65-F5344CB8AC3E}">
        <p14:creationId xmlns:p14="http://schemas.microsoft.com/office/powerpoint/2010/main" val="21440279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28600" y="2228850"/>
            <a:ext cx="8623300" cy="2952750"/>
            <a:chOff x="144" y="912"/>
            <a:chExt cx="5432" cy="1860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144" y="1392"/>
              <a:ext cx="5432" cy="1380"/>
              <a:chOff x="144" y="1392"/>
              <a:chExt cx="5432" cy="1380"/>
            </a:xfrm>
          </p:grpSpPr>
          <p:sp>
            <p:nvSpPr>
              <p:cNvPr id="19" name="Oval 6"/>
              <p:cNvSpPr>
                <a:spLocks noChangeArrowheads="1"/>
              </p:cNvSpPr>
              <p:nvPr/>
            </p:nvSpPr>
            <p:spPr bwMode="auto">
              <a:xfrm>
                <a:off x="144" y="1392"/>
                <a:ext cx="5432" cy="1380"/>
              </a:xfrm>
              <a:prstGeom prst="ellipse">
                <a:avLst/>
              </a:prstGeom>
              <a:solidFill>
                <a:srgbClr val="CCECFF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 defTabSz="762000"/>
                <a:endParaRPr lang="pt-BR" sz="2400">
                  <a:solidFill>
                    <a:srgbClr val="474747"/>
                  </a:solidFill>
                  <a:latin typeface="Matura MT Script Capitals" pitchFamily="66" charset="0"/>
                </a:endParaRPr>
              </a:p>
            </p:txBody>
          </p:sp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2339" y="2379"/>
                <a:ext cx="1041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pt-BR" sz="2400" b="1" i="1"/>
                  <a:t>Qualidade</a:t>
                </a:r>
              </a:p>
            </p:txBody>
          </p:sp>
        </p:grpSp>
        <p:grpSp>
          <p:nvGrpSpPr>
            <p:cNvPr id="10" name="Group 8"/>
            <p:cNvGrpSpPr>
              <a:grpSpLocks/>
            </p:cNvGrpSpPr>
            <p:nvPr/>
          </p:nvGrpSpPr>
          <p:grpSpPr bwMode="auto">
            <a:xfrm>
              <a:off x="672" y="1152"/>
              <a:ext cx="4416" cy="1188"/>
              <a:chOff x="672" y="1152"/>
              <a:chExt cx="4416" cy="1188"/>
            </a:xfrm>
          </p:grpSpPr>
          <p:sp>
            <p:nvSpPr>
              <p:cNvPr id="17" name="Oval 9"/>
              <p:cNvSpPr>
                <a:spLocks noChangeArrowheads="1"/>
              </p:cNvSpPr>
              <p:nvPr/>
            </p:nvSpPr>
            <p:spPr bwMode="auto">
              <a:xfrm>
                <a:off x="672" y="1152"/>
                <a:ext cx="4416" cy="1188"/>
              </a:xfrm>
              <a:prstGeom prst="ellipse">
                <a:avLst/>
              </a:prstGeom>
              <a:solidFill>
                <a:srgbClr val="7BD6F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pt-BR">
                  <a:latin typeface="Arial" charset="0"/>
                </a:endParaRPr>
              </a:p>
            </p:txBody>
          </p:sp>
          <p:sp>
            <p:nvSpPr>
              <p:cNvPr id="18" name="Rectangle 10"/>
              <p:cNvSpPr>
                <a:spLocks noChangeArrowheads="1"/>
              </p:cNvSpPr>
              <p:nvPr/>
            </p:nvSpPr>
            <p:spPr bwMode="auto">
              <a:xfrm>
                <a:off x="2391" y="1947"/>
                <a:ext cx="97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pt-BR" sz="2400" b="1" i="1"/>
                  <a:t>Processo</a:t>
                </a:r>
              </a:p>
            </p:txBody>
          </p:sp>
        </p:grpSp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1200" y="1056"/>
              <a:ext cx="3346" cy="828"/>
              <a:chOff x="1200" y="1056"/>
              <a:chExt cx="3346" cy="828"/>
            </a:xfrm>
          </p:grpSpPr>
          <p:sp>
            <p:nvSpPr>
              <p:cNvPr id="15" name="Oval 12"/>
              <p:cNvSpPr>
                <a:spLocks noChangeArrowheads="1"/>
              </p:cNvSpPr>
              <p:nvPr/>
            </p:nvSpPr>
            <p:spPr bwMode="auto">
              <a:xfrm>
                <a:off x="1200" y="1056"/>
                <a:ext cx="3346" cy="828"/>
              </a:xfrm>
              <a:prstGeom prst="ellipse">
                <a:avLst/>
              </a:prstGeom>
              <a:solidFill>
                <a:srgbClr val="6AC5E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pt-BR">
                  <a:latin typeface="Arial" charset="0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2421" y="1563"/>
                <a:ext cx="90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pt-BR" sz="2400" b="1" i="1"/>
                  <a:t>Métodos</a:t>
                </a:r>
              </a:p>
            </p:txBody>
          </p:sp>
        </p:grp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1584" y="912"/>
              <a:ext cx="2570" cy="636"/>
              <a:chOff x="1584" y="912"/>
              <a:chExt cx="2570" cy="636"/>
            </a:xfrm>
          </p:grpSpPr>
          <p:sp>
            <p:nvSpPr>
              <p:cNvPr id="13" name="Oval 15"/>
              <p:cNvSpPr>
                <a:spLocks noChangeArrowheads="1"/>
              </p:cNvSpPr>
              <p:nvPr/>
            </p:nvSpPr>
            <p:spPr bwMode="auto">
              <a:xfrm>
                <a:off x="1584" y="912"/>
                <a:ext cx="2570" cy="636"/>
              </a:xfrm>
              <a:prstGeom prst="ellipse">
                <a:avLst/>
              </a:prstGeom>
              <a:solidFill>
                <a:srgbClr val="3D9DBB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pt-BR">
                  <a:latin typeface="Arial" charset="0"/>
                </a:endParaRPr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2235" y="1179"/>
                <a:ext cx="1268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pt-BR" sz="2400" b="1" i="1"/>
                  <a:t>Ferramentas</a:t>
                </a:r>
              </a:p>
            </p:txBody>
          </p:sp>
        </p:grpSp>
      </p:grpSp>
      <p:sp>
        <p:nvSpPr>
          <p:cNvPr id="23" name="Texto explicativo retangular com cantos arredondados 22"/>
          <p:cNvSpPr/>
          <p:nvPr/>
        </p:nvSpPr>
        <p:spPr>
          <a:xfrm>
            <a:off x="3659092" y="1447800"/>
            <a:ext cx="3553134" cy="914400"/>
          </a:xfrm>
          <a:prstGeom prst="wedgeRoundRectCallout">
            <a:avLst>
              <a:gd name="adj1" fmla="val -24666"/>
              <a:gd name="adj2" fmla="val 94238"/>
              <a:gd name="adj3" fmla="val 16667"/>
            </a:avLst>
          </a:prstGeom>
          <a:solidFill>
            <a:schemeClr val="bg2">
              <a:lumMod val="9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Apoio automatizado ou semi-automatizado aos métodos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Ex.: Ferramentas </a:t>
            </a:r>
            <a:r>
              <a:rPr lang="pt-BR" sz="1800" i="1">
                <a:solidFill>
                  <a:schemeClr val="tx1"/>
                </a:solidFill>
              </a:rPr>
              <a:t>CASE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Engenharia de Software</a:t>
            </a:r>
            <a:br>
              <a:rPr lang="pt-BR"/>
            </a:br>
            <a:r>
              <a:rPr lang="pt-BR" sz="3100"/>
              <a:t>Camadas</a:t>
            </a:r>
            <a:endParaRPr lang="pt-BR"/>
          </a:p>
        </p:txBody>
      </p:sp>
      <p:sp>
        <p:nvSpPr>
          <p:cNvPr id="22" name="Texto explicativo retangular com cantos arredondados 21"/>
          <p:cNvSpPr/>
          <p:nvPr/>
        </p:nvSpPr>
        <p:spPr>
          <a:xfrm>
            <a:off x="69211" y="2514600"/>
            <a:ext cx="3283590" cy="3184526"/>
          </a:xfrm>
          <a:prstGeom prst="wedgeRoundRectCallout">
            <a:avLst>
              <a:gd name="adj1" fmla="val 65203"/>
              <a:gd name="adj2" fmla="val -18422"/>
              <a:gd name="adj3" fmla="val 16667"/>
            </a:avLst>
          </a:prstGeom>
          <a:solidFill>
            <a:schemeClr val="bg2">
              <a:lumMod val="9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itchFamily="34" charset="0"/>
              <a:buChar char="•"/>
            </a:pPr>
            <a:r>
              <a:rPr lang="pt-BR" sz="1800" b="1">
                <a:solidFill>
                  <a:schemeClr val="tx1"/>
                </a:solidFill>
              </a:rPr>
              <a:t>Como</a:t>
            </a:r>
            <a:r>
              <a:rPr lang="pt-BR" sz="1800">
                <a:solidFill>
                  <a:schemeClr val="tx1"/>
                </a:solidFill>
              </a:rPr>
              <a:t> desenvolver o software detalhadamente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Geralmente introduzem uma notação </a:t>
            </a:r>
            <a:r>
              <a:rPr lang="pt-BR" sz="1800" b="1">
                <a:solidFill>
                  <a:schemeClr val="tx1"/>
                </a:solidFill>
              </a:rPr>
              <a:t>gráfica</a:t>
            </a:r>
            <a:r>
              <a:rPr lang="pt-BR" sz="1800">
                <a:solidFill>
                  <a:schemeClr val="tx1"/>
                </a:solidFill>
              </a:rPr>
              <a:t> ou orientada a uma </a:t>
            </a:r>
            <a:r>
              <a:rPr lang="pt-BR" sz="1800" b="1">
                <a:solidFill>
                  <a:schemeClr val="tx1"/>
                </a:solidFill>
              </a:rPr>
              <a:t>linguagem especial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Normalmente introduzem um conjunto de critérios para a qualidade de software</a:t>
            </a:r>
          </a:p>
        </p:txBody>
      </p:sp>
      <p:sp>
        <p:nvSpPr>
          <p:cNvPr id="21" name="Texto explicativo retangular com cantos arredondados 20"/>
          <p:cNvSpPr/>
          <p:nvPr/>
        </p:nvSpPr>
        <p:spPr>
          <a:xfrm>
            <a:off x="6172200" y="3238500"/>
            <a:ext cx="2897187" cy="727075"/>
          </a:xfrm>
          <a:prstGeom prst="wedgeRoundRectCallout">
            <a:avLst>
              <a:gd name="adj1" fmla="val -86692"/>
              <a:gd name="adj2" fmla="val 66285"/>
              <a:gd name="adj3" fmla="val 16667"/>
            </a:avLst>
          </a:prstGeom>
          <a:solidFill>
            <a:schemeClr val="bg2">
              <a:lumMod val="9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Elo de ligação entre métodos e ferramentas</a:t>
            </a:r>
          </a:p>
        </p:txBody>
      </p:sp>
      <p:sp>
        <p:nvSpPr>
          <p:cNvPr id="24" name="Texto explicativo retangular com cantos arredondados 23"/>
          <p:cNvSpPr/>
          <p:nvPr/>
        </p:nvSpPr>
        <p:spPr>
          <a:xfrm>
            <a:off x="4920015" y="5486400"/>
            <a:ext cx="3087359" cy="914400"/>
          </a:xfrm>
          <a:prstGeom prst="wedgeRoundRectCallout">
            <a:avLst>
              <a:gd name="adj1" fmla="val -63751"/>
              <a:gd name="adj2" fmla="val -108748"/>
              <a:gd name="adj3" fmla="val 16667"/>
            </a:avLst>
          </a:prstGeom>
          <a:solidFill>
            <a:schemeClr val="bg2">
              <a:lumMod val="90000"/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800">
                <a:solidFill>
                  <a:schemeClr val="tx1"/>
                </a:solidFill>
              </a:rPr>
              <a:t>Objetivo/Enfoque da Engenharia de Software</a:t>
            </a:r>
            <a:endParaRPr lang="pt-BR" sz="180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19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21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Engenheiro de Software</a:t>
            </a:r>
            <a:br>
              <a:rPr lang="pt-BR"/>
            </a:br>
            <a:r>
              <a:rPr lang="pt-BR" sz="3100"/>
              <a:t>Questões Éticas </a:t>
            </a:r>
            <a:r>
              <a:rPr lang="pt-BR" sz="2200"/>
              <a:t>[1/4]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Responsabilidade Profissional</a:t>
            </a:r>
          </a:p>
          <a:p>
            <a:pPr lvl="8"/>
            <a:endParaRPr lang="pt-BR" b="1" dirty="0"/>
          </a:p>
          <a:p>
            <a:pPr lvl="1"/>
            <a:r>
              <a:rPr lang="pt-BR" dirty="0"/>
              <a:t>O trabalho do engenheiro de software envolve responsabilidades mais amplas do que a simples aplicação de habilidades técnicas</a:t>
            </a:r>
          </a:p>
          <a:p>
            <a:pPr lvl="8"/>
            <a:endParaRPr lang="pt-BR" dirty="0"/>
          </a:p>
          <a:p>
            <a:pPr lvl="1"/>
            <a:r>
              <a:rPr lang="pt-BR" dirty="0"/>
              <a:t>O engenheiro de software deve se comportar de maneira responsável, ética e moral, para ser respeitado </a:t>
            </a:r>
            <a:r>
              <a:rPr lang="pt-BR"/>
              <a:t>como profissional</a:t>
            </a:r>
            <a:endParaRPr lang="pt-BR" dirty="0"/>
          </a:p>
          <a:p>
            <a:pPr lvl="8"/>
            <a:endParaRPr lang="pt-BR" dirty="0"/>
          </a:p>
          <a:p>
            <a:pPr lvl="1"/>
            <a:r>
              <a:rPr lang="pt-BR" dirty="0"/>
              <a:t>O comportamento ético é muito mais do que simplesmente respeitar as leis</a:t>
            </a:r>
          </a:p>
        </p:txBody>
      </p:sp>
    </p:spTree>
    <p:extLst>
      <p:ext uri="{BB962C8B-B14F-4D97-AF65-F5344CB8AC3E}">
        <p14:creationId xmlns:p14="http://schemas.microsoft.com/office/powerpoint/2010/main" val="4227691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Engenheiro de Software</a:t>
            </a:r>
            <a:br>
              <a:rPr lang="pt-BR"/>
            </a:br>
            <a:r>
              <a:rPr lang="pt-BR" sz="3100"/>
              <a:t>Questões Éticas </a:t>
            </a:r>
            <a:r>
              <a:rPr lang="pt-BR" sz="2200"/>
              <a:t>[2/4]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b="1"/>
              <a:t>Confidencialidade</a:t>
            </a:r>
          </a:p>
          <a:p>
            <a:pPr lvl="8"/>
            <a:endParaRPr lang="pt-BR"/>
          </a:p>
          <a:p>
            <a:pPr lvl="1"/>
            <a:r>
              <a:rPr lang="pt-BR"/>
              <a:t>O engenheiro de software devem respeitar a confidencialidade de seus empregadores ou clientes</a:t>
            </a:r>
          </a:p>
          <a:p>
            <a:pPr lvl="2"/>
            <a:r>
              <a:rPr lang="pt-BR"/>
              <a:t>mesmo que não tenham assinado um acordo formal para tanto</a:t>
            </a:r>
          </a:p>
          <a:p>
            <a:pPr lvl="1"/>
            <a:endParaRPr lang="pt-BR"/>
          </a:p>
          <a:p>
            <a:r>
              <a:rPr lang="pt-BR" b="1"/>
              <a:t>Competência</a:t>
            </a:r>
          </a:p>
          <a:p>
            <a:pPr lvl="8"/>
            <a:endParaRPr lang="pt-BR"/>
          </a:p>
          <a:p>
            <a:pPr lvl="1"/>
            <a:r>
              <a:rPr lang="pt-BR"/>
              <a:t>O engenheiro de software não deve enganar quanto ao seu grau de competência</a:t>
            </a:r>
          </a:p>
          <a:p>
            <a:pPr lvl="2"/>
            <a:r>
              <a:rPr lang="pt-BR"/>
              <a:t>não aceitar serviços que estão fora de seu limite de competência</a:t>
            </a:r>
          </a:p>
        </p:txBody>
      </p:sp>
    </p:spTree>
    <p:extLst>
      <p:ext uri="{BB962C8B-B14F-4D97-AF65-F5344CB8AC3E}">
        <p14:creationId xmlns:p14="http://schemas.microsoft.com/office/powerpoint/2010/main" val="6868881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Engenheiro de Software</a:t>
            </a:r>
            <a:br>
              <a:rPr lang="pt-BR"/>
            </a:br>
            <a:r>
              <a:rPr lang="pt-BR" sz="3100"/>
              <a:t>Questões Éticas </a:t>
            </a:r>
            <a:r>
              <a:rPr lang="pt-BR" sz="2200"/>
              <a:t>[3/4]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/>
              <a:t>Direitos de Propriedade Intelectual</a:t>
            </a:r>
          </a:p>
          <a:p>
            <a:pPr lvl="8"/>
            <a:endParaRPr lang="pt-BR"/>
          </a:p>
          <a:p>
            <a:pPr lvl="1"/>
            <a:r>
              <a:rPr lang="pt-BR"/>
              <a:t>O engenheiro de software deve estar ciente das leis locais que regulam o uso da propriedade intelectual</a:t>
            </a:r>
          </a:p>
          <a:p>
            <a:pPr lvl="2"/>
            <a:r>
              <a:rPr lang="pt-BR"/>
              <a:t>como patentes e direitos autorais.</a:t>
            </a:r>
          </a:p>
          <a:p>
            <a:pPr lvl="8"/>
            <a:endParaRPr lang="pt-BR"/>
          </a:p>
          <a:p>
            <a:pPr lvl="1"/>
            <a:r>
              <a:rPr lang="pt-BR"/>
              <a:t>O engenheiro de software deve ser cuidadoso, afim de assegurar que a propriedade intelectual de empregadores e clientes seja protegida</a:t>
            </a:r>
          </a:p>
        </p:txBody>
      </p:sp>
    </p:spTree>
    <p:extLst>
      <p:ext uri="{BB962C8B-B14F-4D97-AF65-F5344CB8AC3E}">
        <p14:creationId xmlns:p14="http://schemas.microsoft.com/office/powerpoint/2010/main" val="31661380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/>
              <a:t>Engenheiro de Software</a:t>
            </a:r>
            <a:br>
              <a:rPr lang="pt-BR"/>
            </a:br>
            <a:r>
              <a:rPr lang="pt-BR" sz="3100"/>
              <a:t>Questões Éticas </a:t>
            </a:r>
            <a:r>
              <a:rPr lang="pt-BR" sz="2200"/>
              <a:t>[4/4]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/>
              <a:t>Má utilização de equipamento</a:t>
            </a:r>
          </a:p>
          <a:p>
            <a:pPr lvl="8"/>
            <a:endParaRPr lang="pt-BR"/>
          </a:p>
          <a:p>
            <a:pPr lvl="1"/>
            <a:r>
              <a:rPr lang="pt-BR"/>
              <a:t>O engenheiro de software não deve empregar suas habilidades técnicas para o mau uso de computadores ou equipamentos alheios</a:t>
            </a:r>
          </a:p>
          <a:p>
            <a:pPr lvl="2"/>
            <a:r>
              <a:rPr lang="pt-BR"/>
              <a:t>O mau uso de computadores abrange desde situações triviais (jogos) até situações mais sérias (disseminação de vírus)</a:t>
            </a:r>
          </a:p>
          <a:p>
            <a:pPr lvl="2"/>
            <a:endParaRPr lang="pt-BR"/>
          </a:p>
          <a:p>
            <a:r>
              <a:rPr lang="pt-BR" b="1"/>
              <a:t>Código de ética e conduta profissional</a:t>
            </a:r>
          </a:p>
          <a:p>
            <a:pPr lvl="8"/>
            <a:endParaRPr lang="pt-BR"/>
          </a:p>
          <a:p>
            <a:pPr lvl="1"/>
            <a:r>
              <a:rPr lang="pt-BR"/>
              <a:t>ACM (Association for Computing Machinery)</a:t>
            </a:r>
          </a:p>
          <a:p>
            <a:pPr lvl="2"/>
            <a:r>
              <a:rPr lang="pt-BR"/>
              <a:t>www.acm.org/constitution/code.html</a:t>
            </a:r>
          </a:p>
        </p:txBody>
      </p:sp>
    </p:spTree>
    <p:extLst>
      <p:ext uri="{BB962C8B-B14F-4D97-AF65-F5344CB8AC3E}">
        <p14:creationId xmlns:p14="http://schemas.microsoft.com/office/powerpoint/2010/main" val="31681761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SANCHES, ROSELY. Material Didático: Engenharia de Software. ICMC-USP, 2002.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PRESSMAN, ROGER S. Engenharia de Software. 5ª edição. Rio de Janeiro: McGraw-Hill, 2002.</a:t>
            </a:r>
          </a:p>
          <a:p>
            <a:pPr marL="1737360" lvl="8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SOMERVILLE, IAN. Engenharia de Software. 6ª edição. São Paulo: </a:t>
            </a:r>
            <a:r>
              <a:rPr lang="pt-BR" dirty="0" err="1"/>
              <a:t>Addison</a:t>
            </a:r>
            <a:r>
              <a:rPr lang="pt-BR" dirty="0"/>
              <a:t> Wesley, 2003.</a:t>
            </a:r>
          </a:p>
        </p:txBody>
      </p:sp>
    </p:spTree>
    <p:extLst>
      <p:ext uri="{BB962C8B-B14F-4D97-AF65-F5344CB8AC3E}">
        <p14:creationId xmlns:p14="http://schemas.microsoft.com/office/powerpoint/2010/main" val="1437536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2886</Words>
  <Application>Microsoft Office PowerPoint</Application>
  <PresentationFormat>Apresentação na tela (4:3)</PresentationFormat>
  <Paragraphs>389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6" baseType="lpstr">
      <vt:lpstr>Arial</vt:lpstr>
      <vt:lpstr>Calibri</vt:lpstr>
      <vt:lpstr>Matura MT Script Capitals</vt:lpstr>
      <vt:lpstr>Times New Roman</vt:lpstr>
      <vt:lpstr>Tema do Office</vt:lpstr>
      <vt:lpstr>Engenharia de Requisitos de Software</vt:lpstr>
      <vt:lpstr>Tópicos</vt:lpstr>
      <vt:lpstr>Crise do Software [1/2]</vt:lpstr>
      <vt:lpstr>Crise do Software [2/2]</vt:lpstr>
      <vt:lpstr>Crise do Software Problemas [1/2]</vt:lpstr>
      <vt:lpstr>Crise do Software Problemas [2/2]</vt:lpstr>
      <vt:lpstr>Crise do Software Causas dos Problemas [1/2]</vt:lpstr>
      <vt:lpstr>Crise do Software Causas dos Problemas [2/2]</vt:lpstr>
      <vt:lpstr>Crise do Software</vt:lpstr>
      <vt:lpstr>Crise do Software Mitos do Software</vt:lpstr>
      <vt:lpstr>Mitos do Software Administrativos [1/3]</vt:lpstr>
      <vt:lpstr>Mitos do Software Administrativos [2/3]</vt:lpstr>
      <vt:lpstr>Mitos do Software Administrativos [3/3]</vt:lpstr>
      <vt:lpstr>Mitos do Software Relacionados ao Cliente [1/3]</vt:lpstr>
      <vt:lpstr>Mitos do Software Relacionados ao Cliente [2/3]</vt:lpstr>
      <vt:lpstr>Mitos do Software Relacionados ao Cliente [3/3]</vt:lpstr>
      <vt:lpstr>Mitos do Software Relacionados ao Profissional [1/2]</vt:lpstr>
      <vt:lpstr>Mitos do Software Relacionados ao Profissional [2/2]</vt:lpstr>
      <vt:lpstr>Resposta à Crise do Software</vt:lpstr>
      <vt:lpstr>Tópicos</vt:lpstr>
      <vt:lpstr>Falhas Famosas de Softwares [1/17] Problemas no Mariner (1962)</vt:lpstr>
      <vt:lpstr>Falhas Famosas de Softwares [2/17] Hartford Coliseu Desmorona (1978)</vt:lpstr>
      <vt:lpstr>Falhas Famosas de Softwares [3/17] CIA distribui gás aos soviéticos (1982)</vt:lpstr>
      <vt:lpstr>Falhas Famosas de Softwares [5/17] Máquina medicinal mata (1985)</vt:lpstr>
      <vt:lpstr>Falhas Famosas de Softwares [6/17] Crash na Wall Street (1987)</vt:lpstr>
      <vt:lpstr>Falhas Famosas de Softwares [7/17] Linhas da AT&amp;T  “morrem” (1990)</vt:lpstr>
      <vt:lpstr>Falhas Famosas de Softwares [11/17] Skynet quase traz o Dia do Juízo Final (1997)</vt:lpstr>
      <vt:lpstr>Falhas Famosas de Softwares [13/17] Passaportes britânicos para lugar nenhum (1999)</vt:lpstr>
      <vt:lpstr>Falhas Famosas de Softwares [14/17] Bug do Milênio (1999)</vt:lpstr>
      <vt:lpstr>Falhas Famosas de Softwares [16/17] EDS derruba centro de suporte a crianças (2004)</vt:lpstr>
      <vt:lpstr>Falhas Famosas de Softwares [17/17] Desatre no FBI (2005)</vt:lpstr>
      <vt:lpstr>Exercício</vt:lpstr>
      <vt:lpstr>Grupos x Falhas</vt:lpstr>
      <vt:lpstr>Arquitetura – Teste de Stress</vt:lpstr>
      <vt:lpstr>Migração de Dados</vt:lpstr>
      <vt:lpstr>Tópicos</vt:lpstr>
      <vt:lpstr>Engenharia de Software Justificativa – Pressman [1/2]</vt:lpstr>
      <vt:lpstr>Engenharia de Software Justificativa – Pressman [2/2]</vt:lpstr>
      <vt:lpstr>Engenharia de Software</vt:lpstr>
      <vt:lpstr>Engenharia de Software Definições</vt:lpstr>
      <vt:lpstr>Engenharia de Software Objetivo</vt:lpstr>
      <vt:lpstr>Engenharia de Software Princípios [1/3]</vt:lpstr>
      <vt:lpstr>Engenharia de Software Princípios [2/3]</vt:lpstr>
      <vt:lpstr>Engenharia de Software Princípios [3/3]</vt:lpstr>
      <vt:lpstr>Engenharia de Software Fases Genéricas</vt:lpstr>
      <vt:lpstr>Engenharia de Software Camadas</vt:lpstr>
      <vt:lpstr>Engenheiro de Software Questões Éticas [1/4]</vt:lpstr>
      <vt:lpstr>Engenheiro de Software Questões Éticas [2/4]</vt:lpstr>
      <vt:lpstr>Engenheiro de Software Questões Éticas [3/4]</vt:lpstr>
      <vt:lpstr>Engenheiro de Software Questões Éticas [4/4]</vt:lpstr>
      <vt:lpstr>Bibliografia</vt:lpstr>
    </vt:vector>
  </TitlesOfParts>
  <Company>Toledo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Marketing</dc:creator>
  <cp:lastModifiedBy>ALISSON AUGUSTO CARNELOS KUHN</cp:lastModifiedBy>
  <cp:revision>66</cp:revision>
  <cp:lastPrinted>2019-02-04T23:29:22Z</cp:lastPrinted>
  <dcterms:created xsi:type="dcterms:W3CDTF">2014-09-02T19:41:53Z</dcterms:created>
  <dcterms:modified xsi:type="dcterms:W3CDTF">2023-03-03T22:05:24Z</dcterms:modified>
</cp:coreProperties>
</file>