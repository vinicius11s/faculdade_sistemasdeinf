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6" r:id="rId2"/>
    <p:sldId id="259" r:id="rId3"/>
    <p:sldId id="260" r:id="rId4"/>
    <p:sldId id="261" r:id="rId5"/>
    <p:sldId id="262" r:id="rId6"/>
    <p:sldId id="32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21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24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27" r:id="rId61"/>
    <p:sldId id="328" r:id="rId62"/>
    <p:sldId id="329" r:id="rId63"/>
    <p:sldId id="331" r:id="rId64"/>
    <p:sldId id="316" r:id="rId65"/>
    <p:sldId id="330" r:id="rId66"/>
    <p:sldId id="332" r:id="rId67"/>
    <p:sldId id="317" r:id="rId68"/>
    <p:sldId id="258" r:id="rId69"/>
    <p:sldId id="319" r:id="rId7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7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B9D3F-8C19-4D41-8187-1A6513CFFE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4209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0605C-D84B-4E0C-87ED-4E41307C9F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07851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63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70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08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51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85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57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53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82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96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23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Requisitos de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684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Requisitos de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5BDB89-DDF9-4865-8231-79ECC92A095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1816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3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1">
          <a:blip r:embed="rId2">
            <a:alphaModFix amt="5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1816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Requisitos de Software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BDB89-DDF9-4865-8231-79ECC92A095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6" name="Picture 5" descr="magnify_question_mark_800_cl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429000"/>
            <a:ext cx="6096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257300" y="1041400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4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Requisitos de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99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canva.com/pt_br/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hyperlink" Target="https://www.mindmeister.com/pt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836712"/>
            <a:ext cx="7772400" cy="1470025"/>
          </a:xfrm>
        </p:spPr>
        <p:txBody>
          <a:bodyPr/>
          <a:lstStyle/>
          <a:p>
            <a:r>
              <a:rPr lang="pt-BR" dirty="0"/>
              <a:t>Engenharia de Requisitos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Alisson Kuhn</a:t>
            </a:r>
          </a:p>
          <a:p>
            <a:r>
              <a:rPr lang="pt-BR" sz="2400" dirty="0"/>
              <a:t>alissonkuhn@hotmail.com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839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Tópicos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rgbClr val="800000"/>
                </a:solidFill>
              </a:rPr>
              <a:t>Requisitos de Software</a:t>
            </a:r>
          </a:p>
          <a:p>
            <a:pPr marL="1737360" lvl="8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Obtenção de Requisitos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Definições</a:t>
            </a:r>
            <a:r>
              <a:rPr lang="en-US" dirty="0"/>
              <a:t> e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requisitos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66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Requisitos de Software</a:t>
            </a:r>
            <a:br>
              <a:rPr lang="pt-BR" dirty="0"/>
            </a:br>
            <a:r>
              <a:rPr lang="pt-BR" sz="3100" dirty="0"/>
              <a:t>Introdução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pt-B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</a:t>
            </a:r>
            <a:r>
              <a:rPr lang="pt-BR" sz="2400" i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 mais árdua</a:t>
            </a:r>
            <a:r>
              <a:rPr lang="pt-B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construção de um sistema de software é </a:t>
            </a:r>
            <a:r>
              <a:rPr lang="pt-BR" sz="2400" i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decidir o que construir</a:t>
            </a:r>
            <a:r>
              <a:rPr lang="pt-B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Nenhuma outra parte do trabalho compromete mais o sistema se for feito de maneira imprópria. Nenhuma outra parte é mais difícil de corrigir a posteriori.”</a:t>
            </a:r>
          </a:p>
          <a:p>
            <a:pPr marL="0" indent="0" algn="ctr">
              <a:buNone/>
            </a:pPr>
            <a:endParaRPr lang="pt-BR" sz="900" dirty="0"/>
          </a:p>
          <a:p>
            <a:pPr marL="0" indent="0" algn="ctr">
              <a:buNone/>
            </a:pPr>
            <a:endParaRPr lang="pt-BR" sz="900" dirty="0"/>
          </a:p>
          <a:p>
            <a:pPr marL="0" indent="0" algn="r">
              <a:buNone/>
            </a:pPr>
            <a:r>
              <a:rPr lang="pt-BR" sz="1800" dirty="0"/>
              <a:t>F. P. Brooks Jr, “No Silver </a:t>
            </a:r>
            <a:r>
              <a:rPr lang="pt-BR" sz="1800" dirty="0" err="1"/>
              <a:t>Bullet</a:t>
            </a:r>
            <a:r>
              <a:rPr lang="pt-BR" sz="1800" dirty="0"/>
              <a:t>: </a:t>
            </a:r>
            <a:r>
              <a:rPr lang="pt-BR" sz="1800" dirty="0" err="1"/>
              <a:t>Essence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Accidents</a:t>
            </a:r>
            <a:r>
              <a:rPr lang="pt-BR" sz="1800" dirty="0"/>
              <a:t> in Software </a:t>
            </a:r>
            <a:r>
              <a:rPr lang="pt-BR" sz="1800" dirty="0" err="1"/>
              <a:t>Engineering</a:t>
            </a:r>
            <a:r>
              <a:rPr lang="pt-BR" sz="1800" dirty="0"/>
              <a:t>”, IEEE Computer, abril 1987.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66800"/>
            <a:ext cx="7005868" cy="2249995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359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é um Requisito?</a:t>
            </a:r>
          </a:p>
          <a:p>
            <a:pPr lvl="8"/>
            <a:endParaRPr lang="pt-BR" dirty="0"/>
          </a:p>
          <a:p>
            <a:r>
              <a:rPr lang="pt-BR" dirty="0"/>
              <a:t>O que é uma Especificação?</a:t>
            </a:r>
          </a:p>
          <a:p>
            <a:pPr lvl="8"/>
            <a:endParaRPr lang="pt-BR" dirty="0"/>
          </a:p>
          <a:p>
            <a:r>
              <a:rPr lang="pt-BR" dirty="0"/>
              <a:t>Requisito = Especificação?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 de Software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[1/3]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7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 de Software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[2/3]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412776"/>
            <a:ext cx="8839200" cy="518160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Requisito</a:t>
            </a:r>
          </a:p>
          <a:p>
            <a:pPr lvl="1"/>
            <a:r>
              <a:rPr lang="pt-BR" dirty="0">
                <a:solidFill>
                  <a:srgbClr val="800000"/>
                </a:solidFill>
              </a:rPr>
              <a:t>Condição</a:t>
            </a:r>
            <a:r>
              <a:rPr lang="pt-BR" dirty="0"/>
              <a:t> necessária para a </a:t>
            </a:r>
            <a:r>
              <a:rPr lang="pt-BR" dirty="0">
                <a:solidFill>
                  <a:srgbClr val="800000"/>
                </a:solidFill>
              </a:rPr>
              <a:t>obtenção</a:t>
            </a:r>
            <a:r>
              <a:rPr lang="pt-BR" dirty="0"/>
              <a:t> de certo </a:t>
            </a:r>
            <a:r>
              <a:rPr lang="pt-BR" dirty="0">
                <a:solidFill>
                  <a:srgbClr val="800000"/>
                </a:solidFill>
              </a:rPr>
              <a:t>objetivo</a:t>
            </a:r>
            <a:r>
              <a:rPr lang="pt-BR" dirty="0"/>
              <a:t>, ou para o </a:t>
            </a:r>
            <a:r>
              <a:rPr lang="pt-BR" dirty="0">
                <a:solidFill>
                  <a:srgbClr val="800000"/>
                </a:solidFill>
              </a:rPr>
              <a:t>preenchimento</a:t>
            </a:r>
            <a:r>
              <a:rPr lang="pt-BR" dirty="0"/>
              <a:t> de certo </a:t>
            </a:r>
            <a:r>
              <a:rPr lang="pt-BR" dirty="0">
                <a:solidFill>
                  <a:srgbClr val="800000"/>
                </a:solidFill>
              </a:rPr>
              <a:t>fim</a:t>
            </a:r>
          </a:p>
          <a:p>
            <a:pPr lvl="8"/>
            <a:endParaRPr lang="pt-BR" dirty="0"/>
          </a:p>
          <a:p>
            <a:r>
              <a:rPr lang="pt-BR" dirty="0"/>
              <a:t>Especificação</a:t>
            </a:r>
          </a:p>
          <a:p>
            <a:pPr lvl="1"/>
            <a:r>
              <a:rPr lang="pt-BR" dirty="0"/>
              <a:t>“</a:t>
            </a:r>
            <a:r>
              <a:rPr lang="pt-BR" dirty="0">
                <a:solidFill>
                  <a:srgbClr val="800000"/>
                </a:solidFill>
              </a:rPr>
              <a:t>Descrição</a:t>
            </a:r>
            <a:r>
              <a:rPr lang="pt-BR" dirty="0"/>
              <a:t> rigorosa e minuciosa das </a:t>
            </a:r>
            <a:r>
              <a:rPr lang="pt-BR" dirty="0">
                <a:solidFill>
                  <a:srgbClr val="800000"/>
                </a:solidFill>
              </a:rPr>
              <a:t>características</a:t>
            </a:r>
            <a:r>
              <a:rPr lang="pt-BR" dirty="0"/>
              <a:t> que um material, uma obra, ou um serviço </a:t>
            </a:r>
            <a:r>
              <a:rPr lang="pt-BR" dirty="0">
                <a:solidFill>
                  <a:srgbClr val="800000"/>
                </a:solidFill>
              </a:rPr>
              <a:t>deverão apresentar</a:t>
            </a:r>
            <a:r>
              <a:rPr lang="pt-BR" dirty="0"/>
              <a:t>”</a:t>
            </a:r>
          </a:p>
          <a:p>
            <a:pPr marL="547687" lvl="2" indent="0" algn="r">
              <a:buNone/>
            </a:pPr>
            <a:r>
              <a:rPr lang="pt-BR" i="1" dirty="0" err="1"/>
              <a:t>Aurério</a:t>
            </a:r>
            <a:r>
              <a:rPr lang="pt-BR" i="1" dirty="0"/>
              <a:t>, 1998</a:t>
            </a:r>
          </a:p>
          <a:p>
            <a:pPr lvl="8"/>
            <a:endParaRPr lang="pt-BR" dirty="0"/>
          </a:p>
          <a:p>
            <a:r>
              <a:rPr lang="pt-BR" dirty="0"/>
              <a:t>Portanto: </a:t>
            </a:r>
            <a:r>
              <a:rPr lang="pt-BR" b="1" dirty="0"/>
              <a:t>Especificação ≠ Requisitos</a:t>
            </a:r>
          </a:p>
          <a:p>
            <a:pPr lvl="1"/>
            <a:r>
              <a:rPr lang="pt-BR" dirty="0"/>
              <a:t>Especificação de Requisitos</a:t>
            </a:r>
          </a:p>
          <a:p>
            <a:pPr lvl="2"/>
            <a:r>
              <a:rPr lang="pt-BR" dirty="0"/>
              <a:t>Serve como padrão para checar se as fases de projeto e implementação do processo de desenvolvimento de software estão corretas</a:t>
            </a:r>
          </a:p>
        </p:txBody>
      </p:sp>
    </p:spTree>
    <p:extLst>
      <p:ext uri="{BB962C8B-B14F-4D97-AF65-F5344CB8AC3E}">
        <p14:creationId xmlns:p14="http://schemas.microsoft.com/office/powerpoint/2010/main" val="304924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 de Software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[2/3]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412776"/>
            <a:ext cx="8839200" cy="5181600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Requisito</a:t>
            </a:r>
          </a:p>
          <a:p>
            <a:pPr marL="0" indent="0">
              <a:buNone/>
            </a:pPr>
            <a:r>
              <a:rPr lang="pt-BR" dirty="0"/>
              <a:t>	Cadastro do Aluno</a:t>
            </a:r>
          </a:p>
          <a:p>
            <a:r>
              <a:rPr lang="pt-BR" b="1" dirty="0"/>
              <a:t>Especificação</a:t>
            </a:r>
          </a:p>
          <a:p>
            <a:pPr marL="457200" lvl="1" indent="0">
              <a:buNone/>
            </a:pPr>
            <a:r>
              <a:rPr lang="pt-BR" sz="2400" dirty="0"/>
              <a:t>	O cadastro do aluno deverá conter todas as informações necessárias para satisfazer as necessidades da Toledo Prudente, dentre elas será necessário: Nome, RG, CPF, Comprovante Militar, Endereço, outros....Quando um aluno for incluir um novo cadastro, o sistema devera validar se o nome e o CPF já estão cadastrados no banco de dados da Toledo, de forma a não duplicar as informações. O CPF informado pelo aluno, deverá ser validado de forma a garantia que o mesmo está correto. Todos os documentos deverão ser anexo dos digitalmente no ato do cadastro.</a:t>
            </a:r>
          </a:p>
        </p:txBody>
      </p:sp>
    </p:spTree>
    <p:extLst>
      <p:ext uri="{BB962C8B-B14F-4D97-AF65-F5344CB8AC3E}">
        <p14:creationId xmlns:p14="http://schemas.microsoft.com/office/powerpoint/2010/main" val="198744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 de Software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[3/3]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Requisito:</a:t>
            </a:r>
          </a:p>
          <a:p>
            <a:pPr lvl="1"/>
            <a:r>
              <a:rPr lang="pt-BR" sz="2400" dirty="0"/>
              <a:t>“Uma </a:t>
            </a:r>
            <a:r>
              <a:rPr lang="pt-BR" sz="2400" dirty="0">
                <a:solidFill>
                  <a:srgbClr val="800000"/>
                </a:solidFill>
              </a:rPr>
              <a:t>condição</a:t>
            </a:r>
            <a:r>
              <a:rPr lang="pt-BR" sz="2400" dirty="0"/>
              <a:t> ou capacidade </a:t>
            </a:r>
            <a:r>
              <a:rPr lang="pt-BR" sz="2400" dirty="0">
                <a:solidFill>
                  <a:srgbClr val="800000"/>
                </a:solidFill>
              </a:rPr>
              <a:t>que deve ser satisfeita</a:t>
            </a:r>
            <a:r>
              <a:rPr lang="pt-BR" sz="2400" dirty="0"/>
              <a:t> ou possuída por um </a:t>
            </a:r>
            <a:r>
              <a:rPr lang="pt-BR" sz="2400" dirty="0">
                <a:solidFill>
                  <a:srgbClr val="800000"/>
                </a:solidFill>
              </a:rPr>
              <a:t>sistema</a:t>
            </a:r>
            <a:r>
              <a:rPr lang="pt-BR" sz="2400" dirty="0"/>
              <a:t> ou </a:t>
            </a:r>
            <a:r>
              <a:rPr lang="pt-BR" sz="2400" dirty="0">
                <a:solidFill>
                  <a:srgbClr val="800000"/>
                </a:solidFill>
              </a:rPr>
              <a:t>componente do sistema</a:t>
            </a:r>
            <a:r>
              <a:rPr lang="pt-BR" sz="2400" dirty="0"/>
              <a:t> para satisfazer um contrato, um padrão ou uma especificação”</a:t>
            </a:r>
          </a:p>
          <a:p>
            <a:pPr marL="547687" lvl="2" indent="0" algn="r">
              <a:buNone/>
            </a:pPr>
            <a:r>
              <a:rPr lang="pt-BR" sz="2000" dirty="0"/>
              <a:t>IEEE </a:t>
            </a:r>
            <a:r>
              <a:rPr lang="pt-BR" sz="2000" dirty="0" err="1"/>
              <a:t>Std</a:t>
            </a:r>
            <a:r>
              <a:rPr lang="pt-BR" sz="2000" dirty="0"/>
              <a:t> 610.12, 1990</a:t>
            </a:r>
          </a:p>
          <a:p>
            <a:pPr lvl="5" algn="just"/>
            <a:endParaRPr lang="pt-BR" sz="1800" dirty="0"/>
          </a:p>
          <a:p>
            <a:r>
              <a:rPr lang="pt-BR" sz="2800" dirty="0"/>
              <a:t>Requisitos são </a:t>
            </a:r>
            <a:r>
              <a:rPr lang="pt-BR" sz="2800" dirty="0">
                <a:solidFill>
                  <a:srgbClr val="800000"/>
                </a:solidFill>
              </a:rPr>
              <a:t>propriedades desejáveis</a:t>
            </a:r>
            <a:r>
              <a:rPr lang="pt-BR" sz="2800" dirty="0"/>
              <a:t> para um sistema de software</a:t>
            </a:r>
          </a:p>
          <a:p>
            <a:pPr lvl="1"/>
            <a:r>
              <a:rPr lang="pt-BR" sz="2400" dirty="0"/>
              <a:t>Um requisito pode ser mensurável (ex., tempo médio de atendimento de requisições), ou avaliado subjetivamente (ex., qualidade da documentação) </a:t>
            </a:r>
          </a:p>
        </p:txBody>
      </p:sp>
    </p:spTree>
    <p:extLst>
      <p:ext uri="{BB962C8B-B14F-4D97-AF65-F5344CB8AC3E}">
        <p14:creationId xmlns:p14="http://schemas.microsoft.com/office/powerpoint/2010/main" val="179052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 de Software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Considerações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[1/2]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87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Uma </a:t>
            </a:r>
            <a:r>
              <a:rPr lang="pt-BR" dirty="0">
                <a:solidFill>
                  <a:srgbClr val="800000"/>
                </a:solidFill>
              </a:rPr>
              <a:t>compreensão completa</a:t>
            </a:r>
            <a:r>
              <a:rPr lang="pt-BR" dirty="0"/>
              <a:t> dos </a:t>
            </a:r>
            <a:r>
              <a:rPr lang="pt-BR" dirty="0">
                <a:solidFill>
                  <a:srgbClr val="800000"/>
                </a:solidFill>
              </a:rPr>
              <a:t>requisitos</a:t>
            </a:r>
            <a:r>
              <a:rPr lang="pt-BR" dirty="0"/>
              <a:t> de software é fundamental para que o desenvolvimento de software seja bem sucedido</a:t>
            </a:r>
          </a:p>
          <a:p>
            <a:pPr lvl="8"/>
            <a:endParaRPr lang="pt-BR" dirty="0"/>
          </a:p>
          <a:p>
            <a:r>
              <a:rPr lang="pt-BR" dirty="0"/>
              <a:t>A </a:t>
            </a:r>
            <a:r>
              <a:rPr lang="pt-BR" dirty="0">
                <a:solidFill>
                  <a:srgbClr val="800000"/>
                </a:solidFill>
              </a:rPr>
              <a:t>satisfação dos requisitos</a:t>
            </a:r>
            <a:r>
              <a:rPr lang="pt-BR" dirty="0"/>
              <a:t> especificados pelos usuários é a </a:t>
            </a:r>
            <a:r>
              <a:rPr lang="pt-BR" dirty="0">
                <a:solidFill>
                  <a:srgbClr val="800000"/>
                </a:solidFill>
              </a:rPr>
              <a:t>pré-condição</a:t>
            </a:r>
            <a:r>
              <a:rPr lang="pt-BR" dirty="0"/>
              <a:t> básica para o </a:t>
            </a:r>
            <a:r>
              <a:rPr lang="pt-BR" dirty="0">
                <a:solidFill>
                  <a:srgbClr val="800000"/>
                </a:solidFill>
              </a:rPr>
              <a:t>sucesso de um software</a:t>
            </a:r>
          </a:p>
          <a:p>
            <a:pPr lvl="1"/>
            <a:r>
              <a:rPr lang="pt-BR" b="1" dirty="0"/>
              <a:t>Software mal especificado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Desapontar o usuário</a:t>
            </a:r>
          </a:p>
          <a:p>
            <a:pPr lvl="2"/>
            <a:r>
              <a:rPr lang="pt-BR" dirty="0"/>
              <a:t>Causar problemas à equipe de desenvolvimento</a:t>
            </a:r>
          </a:p>
          <a:p>
            <a:pPr lvl="3"/>
            <a:r>
              <a:rPr lang="pt-BR" dirty="0"/>
              <a:t>Constantes modificações</a:t>
            </a:r>
          </a:p>
        </p:txBody>
      </p:sp>
    </p:spTree>
    <p:extLst>
      <p:ext uri="{BB962C8B-B14F-4D97-AF65-F5344CB8AC3E}">
        <p14:creationId xmlns:p14="http://schemas.microsoft.com/office/powerpoint/2010/main" val="376526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 de Software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Considerações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[2/2]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1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412776"/>
            <a:ext cx="8839200" cy="518160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Os requisitos podem ser </a:t>
            </a:r>
            <a:r>
              <a:rPr lang="pt-BR" dirty="0">
                <a:solidFill>
                  <a:srgbClr val="800000"/>
                </a:solidFill>
              </a:rPr>
              <a:t>escritos de diferentes maneiras</a:t>
            </a:r>
            <a:r>
              <a:rPr lang="pt-BR" dirty="0"/>
              <a:t>:  </a:t>
            </a:r>
          </a:p>
          <a:p>
            <a:pPr lvl="1"/>
            <a:r>
              <a:rPr lang="pt-BR" dirty="0"/>
              <a:t>Declaração em </a:t>
            </a:r>
            <a:r>
              <a:rPr lang="pt-BR" dirty="0">
                <a:solidFill>
                  <a:srgbClr val="800000"/>
                </a:solidFill>
              </a:rPr>
              <a:t>linguagem natural</a:t>
            </a:r>
            <a:r>
              <a:rPr lang="pt-BR" dirty="0"/>
              <a:t> sobre um serviço ou uma restrição  </a:t>
            </a:r>
          </a:p>
          <a:p>
            <a:pPr lvl="1"/>
            <a:r>
              <a:rPr lang="pt-BR" dirty="0"/>
              <a:t>Uma </a:t>
            </a:r>
            <a:r>
              <a:rPr lang="pt-BR" dirty="0">
                <a:solidFill>
                  <a:srgbClr val="800000"/>
                </a:solidFill>
              </a:rPr>
              <a:t>definição formal</a:t>
            </a:r>
            <a:r>
              <a:rPr lang="pt-BR" dirty="0"/>
              <a:t> sobre uma função do software  </a:t>
            </a:r>
          </a:p>
          <a:p>
            <a:pPr lvl="5"/>
            <a:endParaRPr lang="pt-BR" dirty="0"/>
          </a:p>
          <a:p>
            <a:r>
              <a:rPr lang="pt-BR" dirty="0"/>
              <a:t>São </a:t>
            </a:r>
            <a:r>
              <a:rPr lang="pt-BR" dirty="0">
                <a:solidFill>
                  <a:srgbClr val="800000"/>
                </a:solidFill>
              </a:rPr>
              <a:t>fundamentais</a:t>
            </a:r>
            <a:r>
              <a:rPr lang="pt-BR" dirty="0"/>
              <a:t> para o desenvolvimento de um software com </a:t>
            </a:r>
            <a:r>
              <a:rPr lang="pt-BR" dirty="0">
                <a:solidFill>
                  <a:srgbClr val="800000"/>
                </a:solidFill>
              </a:rPr>
              <a:t>qualidade</a:t>
            </a:r>
          </a:p>
          <a:p>
            <a:pPr lvl="5"/>
            <a:endParaRPr lang="pt-BR" dirty="0"/>
          </a:p>
          <a:p>
            <a:r>
              <a:rPr lang="pt-BR" dirty="0"/>
              <a:t>Quem os lê:</a:t>
            </a:r>
          </a:p>
          <a:p>
            <a:pPr lvl="1"/>
            <a:r>
              <a:rPr lang="pt-BR" dirty="0"/>
              <a:t>Clientes, Usuários do Sistema, Gerente, Líder do Projeto, Programador, Testador, Responsável pela manutenção</a:t>
            </a:r>
          </a:p>
        </p:txBody>
      </p:sp>
    </p:spTree>
    <p:extLst>
      <p:ext uri="{BB962C8B-B14F-4D97-AF65-F5344CB8AC3E}">
        <p14:creationId xmlns:p14="http://schemas.microsoft.com/office/powerpoint/2010/main" val="15285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às Classes de Organização </a:t>
            </a:r>
            <a:r>
              <a:rPr lang="pt-BR" sz="2200" dirty="0"/>
              <a:t>[1/3]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152400" y="1412776"/>
            <a:ext cx="8839200" cy="5181600"/>
          </a:xfrm>
        </p:spPr>
        <p:txBody>
          <a:bodyPr>
            <a:normAutofit/>
          </a:bodyPr>
          <a:lstStyle/>
          <a:p>
            <a:r>
              <a:rPr lang="pt-BR" sz="2400" b="1" dirty="0"/>
              <a:t>Requisitos Funcionais</a:t>
            </a:r>
            <a:r>
              <a:rPr lang="pt-BR" sz="2400" dirty="0"/>
              <a:t>:  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Aqueles diretamente relacionados à </a:t>
            </a:r>
            <a:r>
              <a:rPr lang="pt-BR" sz="2000" dirty="0">
                <a:solidFill>
                  <a:srgbClr val="800000"/>
                </a:solidFill>
              </a:rPr>
              <a:t>funcionalidade</a:t>
            </a:r>
            <a:r>
              <a:rPr lang="pt-BR" sz="2000" dirty="0"/>
              <a:t> do Software  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Descrevem </a:t>
            </a:r>
            <a:r>
              <a:rPr lang="pt-BR" sz="2000" b="1" dirty="0">
                <a:solidFill>
                  <a:srgbClr val="800000"/>
                </a:solidFill>
              </a:rPr>
              <a:t>o que</a:t>
            </a:r>
            <a:r>
              <a:rPr lang="pt-BR" sz="2000" dirty="0"/>
              <a:t> o software deve realizar</a:t>
            </a:r>
          </a:p>
          <a:p>
            <a:pPr lvl="2"/>
            <a:r>
              <a:rPr lang="pt-BR" sz="1800" dirty="0"/>
              <a:t>serviços (funcionalidades)  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Devem ser </a:t>
            </a:r>
            <a:r>
              <a:rPr lang="pt-BR" sz="2000" dirty="0">
                <a:solidFill>
                  <a:srgbClr val="800000"/>
                </a:solidFill>
              </a:rPr>
              <a:t>completos</a:t>
            </a:r>
            <a:r>
              <a:rPr lang="pt-BR" sz="2000" dirty="0"/>
              <a:t>, </a:t>
            </a:r>
            <a:r>
              <a:rPr lang="pt-BR" sz="2000" dirty="0">
                <a:solidFill>
                  <a:srgbClr val="800000"/>
                </a:solidFill>
              </a:rPr>
              <a:t>precisos</a:t>
            </a:r>
            <a:r>
              <a:rPr lang="pt-BR" sz="2000" dirty="0"/>
              <a:t> e </a:t>
            </a:r>
            <a:r>
              <a:rPr lang="pt-BR" sz="2000" dirty="0">
                <a:solidFill>
                  <a:srgbClr val="800000"/>
                </a:solidFill>
              </a:rPr>
              <a:t>consistentes</a:t>
            </a:r>
            <a:r>
              <a:rPr lang="pt-BR" sz="2000" dirty="0"/>
              <a:t>  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Exemplos:</a:t>
            </a:r>
          </a:p>
          <a:p>
            <a:pPr lvl="2"/>
            <a:r>
              <a:rPr lang="pt-BR" sz="1800" b="1" dirty="0"/>
              <a:t>RF001</a:t>
            </a:r>
            <a:r>
              <a:rPr lang="pt-BR" sz="1800" dirty="0"/>
              <a:t>: O sistema deve permitir que um aluno realize sua matrícula em uma disciplina pela Internet.</a:t>
            </a:r>
          </a:p>
          <a:p>
            <a:pPr lvl="2"/>
            <a:r>
              <a:rPr lang="pt-BR" sz="1800" b="1" dirty="0"/>
              <a:t>RF002</a:t>
            </a:r>
            <a:r>
              <a:rPr lang="pt-BR" sz="1800" dirty="0"/>
              <a:t>: O sistema deve permitir que um cliente realize empréstimo de mais de um livro.</a:t>
            </a:r>
          </a:p>
          <a:p>
            <a:pPr lvl="2"/>
            <a:r>
              <a:rPr lang="pt-BR" sz="1800" b="1" dirty="0"/>
              <a:t>RF003</a:t>
            </a:r>
            <a:r>
              <a:rPr lang="pt-BR" sz="1800" dirty="0"/>
              <a:t>: O sistema deve controlar o horário de entrada e saída dos funcionários.</a:t>
            </a:r>
          </a:p>
        </p:txBody>
      </p:sp>
    </p:spTree>
    <p:extLst>
      <p:ext uri="{BB962C8B-B14F-4D97-AF65-F5344CB8AC3E}">
        <p14:creationId xmlns:p14="http://schemas.microsoft.com/office/powerpoint/2010/main" val="1854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às Classes de Organização </a:t>
            </a:r>
            <a:r>
              <a:rPr lang="pt-BR" sz="2200" dirty="0"/>
              <a:t>[2/3]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b="1" dirty="0"/>
              <a:t>Requisitos Não-Funcionais</a:t>
            </a:r>
            <a:r>
              <a:rPr lang="pt-BR" sz="2400" dirty="0"/>
              <a:t>:</a:t>
            </a:r>
          </a:p>
          <a:p>
            <a:pPr lvl="1"/>
            <a:r>
              <a:rPr lang="pt-BR" sz="2000" dirty="0"/>
              <a:t>Relacionados aos </a:t>
            </a:r>
            <a:r>
              <a:rPr lang="pt-BR" sz="2000" dirty="0">
                <a:solidFill>
                  <a:srgbClr val="800000"/>
                </a:solidFill>
              </a:rPr>
              <a:t>aspectos de qualidade</a:t>
            </a:r>
            <a:r>
              <a:rPr lang="pt-BR" sz="2000" dirty="0"/>
              <a:t> que o software deverá apresentar ou </a:t>
            </a:r>
            <a:r>
              <a:rPr lang="pt-BR" sz="2000" dirty="0">
                <a:solidFill>
                  <a:srgbClr val="800000"/>
                </a:solidFill>
              </a:rPr>
              <a:t>restrições</a:t>
            </a:r>
            <a:r>
              <a:rPr lang="pt-BR" sz="2000" dirty="0"/>
              <a:t> a serem atendidas  </a:t>
            </a:r>
          </a:p>
          <a:p>
            <a:pPr marL="1188720" lvl="5" indent="0">
              <a:buNone/>
            </a:pPr>
            <a:endParaRPr lang="pt-BR" sz="1600" dirty="0"/>
          </a:p>
          <a:p>
            <a:pPr lvl="1"/>
            <a:r>
              <a:rPr lang="pt-BR" sz="2000" dirty="0"/>
              <a:t>Geralmente dizem respeito ao sistema como um todo  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Ex.:</a:t>
            </a:r>
          </a:p>
          <a:p>
            <a:pPr lvl="2"/>
            <a:r>
              <a:rPr lang="pt-BR" sz="1800" b="1" dirty="0"/>
              <a:t>RNF001</a:t>
            </a:r>
            <a:r>
              <a:rPr lang="pt-BR" sz="1800" dirty="0"/>
              <a:t>: O tempo de resposta para uma consulta deve demandar no máximo 3 segundos</a:t>
            </a:r>
          </a:p>
          <a:p>
            <a:pPr lvl="2"/>
            <a:r>
              <a:rPr lang="pt-BR" sz="1800" b="1" dirty="0"/>
              <a:t>RNF002</a:t>
            </a:r>
            <a:r>
              <a:rPr lang="pt-BR" sz="1800" dirty="0"/>
              <a:t>: O sistema deve ser executado no ambiente Windows.</a:t>
            </a:r>
          </a:p>
          <a:p>
            <a:pPr lvl="2"/>
            <a:r>
              <a:rPr lang="pt-BR" sz="1800" b="1" dirty="0"/>
              <a:t>RNF003</a:t>
            </a:r>
            <a:r>
              <a:rPr lang="pt-BR" sz="1800" dirty="0"/>
              <a:t>: O usuário será capaz de utilizar todas as funcionalidades dos sistema após 2 horas de treinamento.</a:t>
            </a:r>
          </a:p>
          <a:p>
            <a:pPr lvl="2"/>
            <a:r>
              <a:rPr lang="pt-BR" sz="1800" b="1" dirty="0"/>
              <a:t>RNF004</a:t>
            </a:r>
            <a:r>
              <a:rPr lang="pt-BR" sz="1800" dirty="0"/>
              <a:t>: O relatório mensal dos horários, por funcionários, deve ser impresso em papel timbrado.</a:t>
            </a:r>
          </a:p>
        </p:txBody>
      </p:sp>
    </p:spTree>
    <p:extLst>
      <p:ext uri="{BB962C8B-B14F-4D97-AF65-F5344CB8AC3E}">
        <p14:creationId xmlns:p14="http://schemas.microsoft.com/office/powerpoint/2010/main" val="92409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às Classes de Organização </a:t>
            </a:r>
            <a:r>
              <a:rPr lang="pt-BR" sz="2200" dirty="0"/>
              <a:t>[3/3]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Requisitos Inversos</a:t>
            </a:r>
            <a:r>
              <a:rPr lang="pt-BR" dirty="0"/>
              <a:t>:</a:t>
            </a:r>
          </a:p>
          <a:p>
            <a:pPr lvl="5"/>
            <a:r>
              <a:rPr lang="pt-BR" dirty="0"/>
              <a:t> </a:t>
            </a:r>
          </a:p>
          <a:p>
            <a:pPr lvl="1"/>
            <a:r>
              <a:rPr lang="pt-BR" dirty="0"/>
              <a:t>Relacionados a </a:t>
            </a:r>
            <a:r>
              <a:rPr lang="pt-BR" dirty="0">
                <a:solidFill>
                  <a:srgbClr val="800000"/>
                </a:solidFill>
              </a:rPr>
              <a:t>condições</a:t>
            </a:r>
            <a:r>
              <a:rPr lang="pt-BR" dirty="0"/>
              <a:t> que </a:t>
            </a:r>
            <a:r>
              <a:rPr lang="pt-BR" dirty="0">
                <a:solidFill>
                  <a:srgbClr val="800000"/>
                </a:solidFill>
              </a:rPr>
              <a:t>nunca</a:t>
            </a:r>
            <a:r>
              <a:rPr lang="pt-BR" dirty="0"/>
              <a:t> poderão </a:t>
            </a:r>
            <a:r>
              <a:rPr lang="pt-BR" dirty="0">
                <a:solidFill>
                  <a:srgbClr val="800000"/>
                </a:solidFill>
              </a:rPr>
              <a:t>ocorrer</a:t>
            </a:r>
            <a:r>
              <a:rPr lang="pt-BR" dirty="0"/>
              <a:t> ou que estão </a:t>
            </a:r>
            <a:r>
              <a:rPr lang="pt-BR" dirty="0">
                <a:solidFill>
                  <a:srgbClr val="800000"/>
                </a:solidFill>
              </a:rPr>
              <a:t>fora do escopo</a:t>
            </a:r>
            <a:r>
              <a:rPr lang="pt-BR" dirty="0"/>
              <a:t> da solução. </a:t>
            </a:r>
          </a:p>
          <a:p>
            <a:pPr lvl="5"/>
            <a:endParaRPr lang="pt-BR" dirty="0"/>
          </a:p>
          <a:p>
            <a:pPr lvl="1"/>
            <a:r>
              <a:rPr lang="pt-BR" dirty="0"/>
              <a:t>São, de certa maneira, restrições de alcance geral (restrições de escopo)</a:t>
            </a:r>
          </a:p>
          <a:p>
            <a:pPr lvl="5"/>
            <a:endParaRPr lang="pt-BR" dirty="0"/>
          </a:p>
          <a:p>
            <a:pPr lvl="1"/>
            <a:r>
              <a:rPr lang="pt-BR" dirty="0"/>
              <a:t>Ex.:</a:t>
            </a:r>
          </a:p>
          <a:p>
            <a:pPr lvl="2"/>
            <a:r>
              <a:rPr lang="pt-BR" b="1" dirty="0"/>
              <a:t>RI001</a:t>
            </a:r>
            <a:r>
              <a:rPr lang="pt-BR" dirty="0"/>
              <a:t>: O sistema não deve permitir apagar os dados do cliente.</a:t>
            </a:r>
          </a:p>
          <a:p>
            <a:pPr lvl="2"/>
            <a:r>
              <a:rPr lang="pt-BR" b="1" dirty="0"/>
              <a:t>RI002</a:t>
            </a:r>
            <a:r>
              <a:rPr lang="pt-BR" dirty="0"/>
              <a:t>: O sistema deverá ser implementado somente em idioma nacional.</a:t>
            </a:r>
          </a:p>
          <a:p>
            <a:pPr lvl="2"/>
            <a:r>
              <a:rPr lang="pt-BR" b="1" dirty="0"/>
              <a:t>RI003</a:t>
            </a:r>
            <a:r>
              <a:rPr lang="pt-BR" dirty="0"/>
              <a:t>: O sistema não emitirá nota fiscal.</a:t>
            </a:r>
          </a:p>
          <a:p>
            <a:pPr lvl="2"/>
            <a:r>
              <a:rPr lang="pt-BR" b="1" dirty="0"/>
              <a:t>RI004</a:t>
            </a:r>
            <a:r>
              <a:rPr lang="pt-BR" dirty="0"/>
              <a:t>: O sistema não permitirá vender a crediário.</a:t>
            </a:r>
          </a:p>
        </p:txBody>
      </p:sp>
    </p:spTree>
    <p:extLst>
      <p:ext uri="{BB962C8B-B14F-4D97-AF65-F5344CB8AC3E}">
        <p14:creationId xmlns:p14="http://schemas.microsoft.com/office/powerpoint/2010/main" val="289262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aos Níveis de Detalhes </a:t>
            </a:r>
            <a:r>
              <a:rPr lang="pt-BR" sz="2200" dirty="0"/>
              <a:t>[1/5]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Requisitos de Usuário</a:t>
            </a:r>
            <a:r>
              <a:rPr lang="pt-BR" dirty="0"/>
              <a:t>:</a:t>
            </a:r>
          </a:p>
          <a:p>
            <a:pPr lvl="5"/>
            <a:endParaRPr lang="pt-BR" dirty="0"/>
          </a:p>
          <a:p>
            <a:pPr lvl="1"/>
            <a:r>
              <a:rPr lang="pt-BR" dirty="0"/>
              <a:t>Declarações (em linguagem natural ou diagramas) sobre as funções que o sistema deve fornecer e as restrições sobre as quais deve operar (funcionais e não funcionais).</a:t>
            </a:r>
          </a:p>
          <a:p>
            <a:pPr lvl="6"/>
            <a:endParaRPr lang="pt-BR" dirty="0"/>
          </a:p>
          <a:p>
            <a:pPr lvl="1"/>
            <a:r>
              <a:rPr lang="pt-BR" dirty="0"/>
              <a:t>Escritos para os clientes e usuários</a:t>
            </a:r>
          </a:p>
          <a:p>
            <a:pPr marL="2286000" lvl="5" indent="0">
              <a:buNone/>
            </a:pPr>
            <a:endParaRPr lang="pt-BR" dirty="0"/>
          </a:p>
          <a:p>
            <a:pPr lvl="1"/>
            <a:r>
              <a:rPr lang="pt-BR" dirty="0"/>
              <a:t>Exemplo:</a:t>
            </a:r>
          </a:p>
          <a:p>
            <a:pPr lvl="2"/>
            <a:r>
              <a:rPr lang="pt-BR" dirty="0"/>
              <a:t> 1. O software deve oferecer um meio de representar e acessar arquivos externos criados por outras ferramentas</a:t>
            </a:r>
          </a:p>
          <a:p>
            <a:pPr marL="547687" lvl="2" indent="0" algn="r">
              <a:buNone/>
            </a:pPr>
            <a:endParaRPr lang="pt-BR" dirty="0"/>
          </a:p>
          <a:p>
            <a:pPr marL="547687" lvl="2" indent="0" algn="r">
              <a:buNone/>
            </a:pPr>
            <a:r>
              <a:rPr lang="pt-BR" dirty="0" err="1"/>
              <a:t>Sommerville</a:t>
            </a:r>
            <a:r>
              <a:rPr lang="pt-BR" dirty="0"/>
              <a:t>, 2003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528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aos Níveis de Detalhes </a:t>
            </a:r>
            <a:r>
              <a:rPr lang="pt-BR" sz="2200" dirty="0"/>
              <a:t>[2/5]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152400" y="1412776"/>
            <a:ext cx="8839200" cy="5181600"/>
          </a:xfrm>
        </p:spPr>
        <p:txBody>
          <a:bodyPr>
            <a:noAutofit/>
          </a:bodyPr>
          <a:lstStyle/>
          <a:p>
            <a:r>
              <a:rPr lang="pt-BR" sz="2400" b="1" dirty="0"/>
              <a:t>Requisitos de Sistema</a:t>
            </a:r>
            <a:r>
              <a:rPr lang="pt-BR" sz="2400" dirty="0"/>
              <a:t>: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Estabelecem detalhadamente as restrições que o sistema deverá atender (são descrições mais detalhadas dos requisitos do usuário; ponto de partida para o projeto do sistema).  </a:t>
            </a:r>
          </a:p>
          <a:p>
            <a:pPr lvl="1"/>
            <a:r>
              <a:rPr lang="pt-BR" sz="2000" dirty="0"/>
              <a:t>Escritos para servir como contrato  </a:t>
            </a:r>
          </a:p>
          <a:p>
            <a:pPr lvl="1"/>
            <a:r>
              <a:rPr lang="pt-BR" sz="2000" dirty="0"/>
              <a:t>Exemplos:</a:t>
            </a:r>
          </a:p>
          <a:p>
            <a:pPr lvl="2"/>
            <a:r>
              <a:rPr lang="pt-BR" sz="1800" dirty="0"/>
              <a:t>1.1. O usuário deve dispor de recursos para definir o tipo dos arquivos externos</a:t>
            </a:r>
          </a:p>
          <a:p>
            <a:pPr lvl="2"/>
            <a:r>
              <a:rPr lang="pt-BR" sz="1800" dirty="0"/>
              <a:t>1.2. Cada tipo de arquivo externo pode ter uma ferramenta associada</a:t>
            </a:r>
          </a:p>
          <a:p>
            <a:pPr lvl="2"/>
            <a:r>
              <a:rPr lang="pt-BR" sz="1800" dirty="0"/>
              <a:t>1.3. Cada tipo de arquivo externo pode ser representado por um ícone específico na tela do usuário</a:t>
            </a:r>
          </a:p>
          <a:p>
            <a:pPr lvl="2"/>
            <a:r>
              <a:rPr lang="pt-BR" sz="1800" dirty="0"/>
              <a:t>1.4. Quando um usuário seleciona um arquivo externo, a ferramenta associada é ativada para manipular adequadamente esse arquivo</a:t>
            </a:r>
          </a:p>
          <a:p>
            <a:pPr marL="547687" lvl="2" indent="0" algn="r">
              <a:buNone/>
            </a:pPr>
            <a:r>
              <a:rPr lang="pt-BR" sz="1800" dirty="0" err="1"/>
              <a:t>Sommerville</a:t>
            </a:r>
            <a:r>
              <a:rPr lang="pt-BR" sz="1800" dirty="0"/>
              <a:t>, 2003</a:t>
            </a:r>
          </a:p>
          <a:p>
            <a:pPr lvl="2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62157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aos Níveis de Detalhes </a:t>
            </a:r>
            <a:r>
              <a:rPr lang="pt-BR" sz="2200" dirty="0"/>
              <a:t>[3/5]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b="1" dirty="0"/>
              <a:t>Requisitos de Interfaces Externas </a:t>
            </a:r>
            <a:r>
              <a:rPr lang="pt-BR" sz="1400" b="1" dirty="0"/>
              <a:t>[1/2]</a:t>
            </a:r>
            <a:r>
              <a:rPr lang="pt-BR" sz="2400" dirty="0"/>
              <a:t>: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Interfaces externas </a:t>
            </a:r>
            <a:r>
              <a:rPr lang="pt-BR" sz="2000" dirty="0" err="1"/>
              <a:t>estabecem</a:t>
            </a:r>
            <a:r>
              <a:rPr lang="pt-BR" sz="2000" dirty="0"/>
              <a:t> requisitos para que o sistema possa </a:t>
            </a:r>
            <a:r>
              <a:rPr lang="pt-BR" sz="2000" dirty="0">
                <a:solidFill>
                  <a:srgbClr val="C00000"/>
                </a:solidFill>
              </a:rPr>
              <a:t>interoperar</a:t>
            </a:r>
            <a:r>
              <a:rPr lang="pt-BR" sz="2000" dirty="0"/>
              <a:t> com </a:t>
            </a:r>
            <a:r>
              <a:rPr lang="pt-BR" sz="2000" dirty="0">
                <a:solidFill>
                  <a:srgbClr val="C00000"/>
                </a:solidFill>
              </a:rPr>
              <a:t>outros sistemas</a:t>
            </a:r>
            <a:r>
              <a:rPr lang="pt-BR" sz="2000" dirty="0"/>
              <a:t> e com os </a:t>
            </a:r>
            <a:r>
              <a:rPr lang="pt-BR" sz="2000" dirty="0">
                <a:solidFill>
                  <a:srgbClr val="C00000"/>
                </a:solidFill>
              </a:rPr>
              <a:t>usuários</a:t>
            </a:r>
            <a:r>
              <a:rPr lang="pt-BR" sz="2000" dirty="0"/>
              <a:t> (são, portanto, requisitos de sistema). O IEEE classifica as interfaces externas em:</a:t>
            </a:r>
          </a:p>
          <a:p>
            <a:pPr lvl="2"/>
            <a:r>
              <a:rPr lang="pt-BR" sz="1800" dirty="0"/>
              <a:t>Interfaces de usuário;</a:t>
            </a:r>
          </a:p>
          <a:p>
            <a:pPr lvl="2"/>
            <a:r>
              <a:rPr lang="pt-BR" sz="1800" dirty="0"/>
              <a:t>Interfaces de hardware;</a:t>
            </a:r>
          </a:p>
          <a:p>
            <a:pPr lvl="2"/>
            <a:r>
              <a:rPr lang="pt-BR" sz="1800" dirty="0"/>
              <a:t>Interfaces de software;</a:t>
            </a:r>
          </a:p>
          <a:p>
            <a:pPr lvl="2"/>
            <a:r>
              <a:rPr lang="pt-BR" sz="1800" dirty="0"/>
              <a:t>Interface de comunicação.  </a:t>
            </a:r>
          </a:p>
          <a:p>
            <a:pPr lvl="5"/>
            <a:endParaRPr lang="pt-BR" sz="1600" dirty="0"/>
          </a:p>
          <a:p>
            <a:pPr lvl="1"/>
            <a:r>
              <a:rPr lang="pt-BR" sz="2000" dirty="0"/>
              <a:t>As interfaces de software definem:</a:t>
            </a:r>
          </a:p>
          <a:p>
            <a:pPr lvl="2"/>
            <a:r>
              <a:rPr lang="pt-BR" sz="1800" dirty="0"/>
              <a:t>Procedimentos (serviços providos/requeridos)</a:t>
            </a:r>
          </a:p>
          <a:p>
            <a:pPr lvl="2"/>
            <a:r>
              <a:rPr lang="pt-BR" sz="1800" dirty="0"/>
              <a:t>Estruturas de dados (trocados entre sistemas)</a:t>
            </a:r>
          </a:p>
          <a:p>
            <a:pPr lvl="2"/>
            <a:r>
              <a:rPr lang="pt-BR" sz="1800" dirty="0"/>
              <a:t>Representação de dados trocados (XML, Base64, ...)</a:t>
            </a:r>
          </a:p>
        </p:txBody>
      </p:sp>
    </p:spTree>
    <p:extLst>
      <p:ext uri="{BB962C8B-B14F-4D97-AF65-F5344CB8AC3E}">
        <p14:creationId xmlns:p14="http://schemas.microsoft.com/office/powerpoint/2010/main" val="204212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aos Níveis de Detalhes </a:t>
            </a:r>
            <a:r>
              <a:rPr lang="pt-BR" sz="2200" dirty="0"/>
              <a:t>[4/5]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pt-BR" b="1" dirty="0"/>
              <a:t>Requisitos de Interfaces Externas </a:t>
            </a:r>
            <a:r>
              <a:rPr lang="pt-BR" sz="1800" b="1" dirty="0"/>
              <a:t>[2/2]</a:t>
            </a:r>
            <a:r>
              <a:rPr lang="pt-BR" dirty="0"/>
              <a:t>:</a:t>
            </a:r>
          </a:p>
        </p:txBody>
      </p:sp>
      <p:pic>
        <p:nvPicPr>
          <p:cNvPr id="6" name="Picture 5" descr="03-15-2009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3" y="2362200"/>
            <a:ext cx="9005937" cy="403860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79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Tipos de Requisitos</a:t>
            </a:r>
            <a:br>
              <a:rPr lang="pt-BR" dirty="0"/>
            </a:br>
            <a:r>
              <a:rPr lang="pt-BR" sz="3100" dirty="0"/>
              <a:t>Quanto aos Níveis de Detalhes </a:t>
            </a:r>
            <a:r>
              <a:rPr lang="pt-BR" sz="2200" dirty="0"/>
              <a:t>[5/5]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Especificação de Projeto de Software</a:t>
            </a:r>
            <a:r>
              <a:rPr lang="pt-BR" dirty="0"/>
              <a:t>:</a:t>
            </a:r>
          </a:p>
          <a:p>
            <a:pPr lvl="5"/>
            <a:endParaRPr lang="pt-BR" dirty="0"/>
          </a:p>
          <a:p>
            <a:pPr lvl="1"/>
            <a:r>
              <a:rPr lang="pt-BR" dirty="0"/>
              <a:t>Descrição </a:t>
            </a:r>
            <a:r>
              <a:rPr lang="pt-BR" dirty="0">
                <a:solidFill>
                  <a:srgbClr val="800000"/>
                </a:solidFill>
              </a:rPr>
              <a:t>abstrata</a:t>
            </a:r>
            <a:r>
              <a:rPr lang="pt-BR" dirty="0"/>
              <a:t> do projeto de software; base para o projeto e a implementação.  </a:t>
            </a:r>
          </a:p>
          <a:p>
            <a:pPr lvl="5"/>
            <a:endParaRPr lang="pt-BR" dirty="0"/>
          </a:p>
          <a:p>
            <a:pPr lvl="1"/>
            <a:r>
              <a:rPr lang="pt-BR" dirty="0"/>
              <a:t>Acrescenta mais detalhes à especificação dos requisitos de sistema.  </a:t>
            </a:r>
          </a:p>
          <a:p>
            <a:pPr lvl="5"/>
            <a:endParaRPr lang="pt-BR" dirty="0"/>
          </a:p>
          <a:p>
            <a:pPr lvl="1"/>
            <a:r>
              <a:rPr lang="pt-BR" dirty="0"/>
              <a:t>Escrita para desenvolvedores  </a:t>
            </a:r>
          </a:p>
          <a:p>
            <a:pPr lvl="5"/>
            <a:endParaRPr lang="pt-BR" dirty="0"/>
          </a:p>
          <a:p>
            <a:pPr marL="547687" lvl="2" indent="0" algn="r">
              <a:buNone/>
            </a:pPr>
            <a:r>
              <a:rPr lang="pt-BR" dirty="0" err="1"/>
              <a:t>Sommerville</a:t>
            </a:r>
            <a:r>
              <a:rPr lang="pt-BR" dirty="0"/>
              <a:t>, 2003</a:t>
            </a:r>
          </a:p>
        </p:txBody>
      </p:sp>
    </p:spTree>
    <p:extLst>
      <p:ext uri="{BB962C8B-B14F-4D97-AF65-F5344CB8AC3E}">
        <p14:creationId xmlns:p14="http://schemas.microsoft.com/office/powerpoint/2010/main" val="238854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Dê</a:t>
            </a:r>
            <a:r>
              <a:rPr lang="en-US" dirty="0"/>
              <a:t> </a:t>
            </a:r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exemplos</a:t>
            </a:r>
            <a:r>
              <a:rPr lang="en-US" dirty="0"/>
              <a:t> de </a:t>
            </a:r>
            <a:r>
              <a:rPr lang="en-US" dirty="0" err="1"/>
              <a:t>Requisitos</a:t>
            </a:r>
            <a:r>
              <a:rPr lang="en-US" dirty="0"/>
              <a:t> </a:t>
            </a:r>
            <a:r>
              <a:rPr lang="en-US" dirty="0" err="1"/>
              <a:t>Funcionais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Funcionais</a:t>
            </a:r>
            <a:r>
              <a:rPr lang="en-US" dirty="0"/>
              <a:t> e </a:t>
            </a:r>
            <a:r>
              <a:rPr lang="en-US" dirty="0" err="1"/>
              <a:t>Inversos</a:t>
            </a:r>
            <a:r>
              <a:rPr lang="en-US" dirty="0"/>
              <a:t> para: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Sistema do Portal do </a:t>
            </a:r>
            <a:r>
              <a:rPr lang="en-US" dirty="0" err="1"/>
              <a:t>Aluno</a:t>
            </a:r>
            <a:r>
              <a:rPr lang="en-US" dirty="0"/>
              <a:t> Toledo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Sistema de Internet Banking</a:t>
            </a:r>
          </a:p>
          <a:p>
            <a:pPr marL="731837" lvl="1" indent="-457200">
              <a:buFont typeface="+mj-lt"/>
              <a:buAutoNum type="arabicPeriod"/>
            </a:pPr>
            <a:endParaRPr lang="en-US" dirty="0"/>
          </a:p>
          <a:p>
            <a:pPr marL="274637" lvl="1" indent="0">
              <a:buNone/>
            </a:pPr>
            <a:r>
              <a:rPr lang="en-US" dirty="0" err="1"/>
              <a:t>Funcionais</a:t>
            </a:r>
            <a:r>
              <a:rPr lang="en-US" dirty="0"/>
              <a:t> RF001: 7</a:t>
            </a:r>
          </a:p>
          <a:p>
            <a:pPr marL="274637" lvl="1" indent="0">
              <a:buNone/>
            </a:pP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funcionais</a:t>
            </a:r>
            <a:r>
              <a:rPr lang="en-US" dirty="0"/>
              <a:t> RNF001: 3</a:t>
            </a:r>
          </a:p>
          <a:p>
            <a:pPr marL="274637" lvl="1" indent="0">
              <a:buNone/>
            </a:pPr>
            <a:r>
              <a:rPr lang="en-US" dirty="0" err="1"/>
              <a:t>Inversos</a:t>
            </a:r>
            <a:r>
              <a:rPr lang="en-US" dirty="0"/>
              <a:t> RI001: 2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77072"/>
            <a:ext cx="2808312" cy="165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160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Tópicos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>
          <a:solidFill>
            <a:srgbClr val="FFFF00"/>
          </a:solidFill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Requisitos de Software</a:t>
            </a:r>
          </a:p>
          <a:p>
            <a:pPr marL="1737360" lvl="8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rgbClr val="800000"/>
                </a:solidFill>
              </a:rPr>
              <a:t>Obtenção de Requisitos</a:t>
            </a:r>
            <a:endParaRPr lang="pt-B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Problemas</a:t>
            </a:r>
            <a:r>
              <a:rPr lang="en-US" dirty="0"/>
              <a:t> e </a:t>
            </a:r>
            <a:r>
              <a:rPr lang="en-US" dirty="0" err="1"/>
              <a:t>técnicas</a:t>
            </a:r>
            <a:r>
              <a:rPr lang="en-US" dirty="0"/>
              <a:t> de </a:t>
            </a:r>
            <a:r>
              <a:rPr lang="en-US" dirty="0" err="1"/>
              <a:t>obtenção</a:t>
            </a:r>
            <a:r>
              <a:rPr lang="en-US" dirty="0"/>
              <a:t> de </a:t>
            </a:r>
            <a:r>
              <a:rPr lang="en-US" dirty="0" err="1"/>
              <a:t>requisitos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82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7848600" cy="58864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>
                <a:alpha val="43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 com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8917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Requisitos</a:t>
            </a:r>
            <a:r>
              <a:rPr lang="en-US" dirty="0"/>
              <a:t> mal </a:t>
            </a:r>
            <a:r>
              <a:rPr lang="en-US" dirty="0" err="1"/>
              <a:t>definidos</a:t>
            </a:r>
            <a:r>
              <a:rPr lang="en-US" dirty="0"/>
              <a:t> </a:t>
            </a:r>
            <a:r>
              <a:rPr lang="en-US" sz="2800" dirty="0"/>
              <a:t>[1/2]</a:t>
            </a:r>
            <a:endParaRPr lang="en-US" dirty="0"/>
          </a:p>
        </p:txBody>
      </p:sp>
      <p:pic>
        <p:nvPicPr>
          <p:cNvPr id="6" name="Picture 5" descr="caval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371600"/>
            <a:ext cx="5029200" cy="314325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ounded Rectangular Callout 6"/>
          <p:cNvSpPr/>
          <p:nvPr/>
        </p:nvSpPr>
        <p:spPr>
          <a:xfrm>
            <a:off x="609600" y="1371600"/>
            <a:ext cx="2895600" cy="1219200"/>
          </a:xfrm>
          <a:prstGeom prst="wedgeRoundRectCallout">
            <a:avLst>
              <a:gd name="adj1" fmla="val 92010"/>
              <a:gd name="adj2" fmla="val 87352"/>
              <a:gd name="adj3" fmla="val 16667"/>
            </a:avLst>
          </a:prstGeom>
          <a:gradFill>
            <a:gsLst>
              <a:gs pos="0">
                <a:schemeClr val="accent1">
                  <a:shade val="70000"/>
                  <a:satMod val="150000"/>
                  <a:alpha val="60000"/>
                </a:schemeClr>
              </a:gs>
              <a:gs pos="34000">
                <a:schemeClr val="accent1">
                  <a:shade val="70000"/>
                  <a:satMod val="140000"/>
                  <a:alpha val="60000"/>
                </a:schemeClr>
              </a:gs>
              <a:gs pos="70000">
                <a:schemeClr val="accent1">
                  <a:tint val="100000"/>
                  <a:shade val="90000"/>
                  <a:satMod val="140000"/>
                  <a:alpha val="60000"/>
                </a:schemeClr>
              </a:gs>
              <a:gs pos="100000">
                <a:schemeClr val="accent1">
                  <a:tint val="100000"/>
                  <a:shade val="100000"/>
                  <a:satMod val="100000"/>
                  <a:alpha val="6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Veículo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barato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, total flex,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baixo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consumo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de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combustúvel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combustível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vegetal:</a:t>
            </a:r>
          </a:p>
        </p:txBody>
      </p:sp>
      <p:pic>
        <p:nvPicPr>
          <p:cNvPr id="8" name="Picture 7" descr="road-map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733800"/>
            <a:ext cx="4179606" cy="298450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ounded Rectangular Callout 8"/>
          <p:cNvSpPr/>
          <p:nvPr/>
        </p:nvSpPr>
        <p:spPr>
          <a:xfrm>
            <a:off x="4648200" y="4800600"/>
            <a:ext cx="1981200" cy="1143000"/>
          </a:xfrm>
          <a:prstGeom prst="wedgeRoundRectCallout">
            <a:avLst>
              <a:gd name="adj1" fmla="val -132185"/>
              <a:gd name="adj2" fmla="val -21390"/>
              <a:gd name="adj3" fmla="val 16667"/>
            </a:avLst>
          </a:prstGeom>
          <a:gradFill>
            <a:gsLst>
              <a:gs pos="0">
                <a:schemeClr val="accent1">
                  <a:shade val="70000"/>
                  <a:satMod val="150000"/>
                  <a:alpha val="60000"/>
                </a:schemeClr>
              </a:gs>
              <a:gs pos="34000">
                <a:schemeClr val="accent1">
                  <a:shade val="70000"/>
                  <a:satMod val="140000"/>
                  <a:alpha val="60000"/>
                </a:schemeClr>
              </a:gs>
              <a:gs pos="70000">
                <a:schemeClr val="accent1">
                  <a:tint val="100000"/>
                  <a:shade val="90000"/>
                  <a:satMod val="140000"/>
                  <a:alpha val="60000"/>
                </a:schemeClr>
              </a:gs>
              <a:gs pos="100000">
                <a:schemeClr val="accent1">
                  <a:tint val="100000"/>
                  <a:shade val="100000"/>
                  <a:satMod val="100000"/>
                  <a:alpha val="6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Sistema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de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navegação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de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fácil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manuseio</a:t>
            </a:r>
            <a:endParaRPr lang="en-US" sz="1800" dirty="0">
              <a:solidFill>
                <a:srgbClr val="000000"/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96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Requisitos</a:t>
            </a:r>
            <a:r>
              <a:rPr lang="en-US" dirty="0"/>
              <a:t> mal </a:t>
            </a:r>
            <a:r>
              <a:rPr lang="en-US" dirty="0" err="1"/>
              <a:t>definidos</a:t>
            </a:r>
            <a:r>
              <a:rPr lang="en-US" dirty="0"/>
              <a:t> </a:t>
            </a:r>
            <a:r>
              <a:rPr lang="en-US" sz="2800" dirty="0"/>
              <a:t>[2/2]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6400800" y="2209800"/>
            <a:ext cx="1981200" cy="1143000"/>
          </a:xfrm>
          <a:prstGeom prst="wedgeRoundRectCallout">
            <a:avLst>
              <a:gd name="adj1" fmla="val -38070"/>
              <a:gd name="adj2" fmla="val 5796"/>
              <a:gd name="adj3" fmla="val 16667"/>
            </a:avLst>
          </a:prstGeom>
          <a:gradFill>
            <a:gsLst>
              <a:gs pos="0">
                <a:schemeClr val="accent1">
                  <a:shade val="70000"/>
                  <a:satMod val="150000"/>
                  <a:alpha val="60000"/>
                </a:schemeClr>
              </a:gs>
              <a:gs pos="34000">
                <a:schemeClr val="accent1">
                  <a:shade val="70000"/>
                  <a:satMod val="140000"/>
                  <a:alpha val="60000"/>
                </a:schemeClr>
              </a:gs>
              <a:gs pos="70000">
                <a:schemeClr val="accent1">
                  <a:tint val="100000"/>
                  <a:shade val="90000"/>
                  <a:satMod val="140000"/>
                  <a:alpha val="60000"/>
                </a:schemeClr>
              </a:gs>
              <a:gs pos="100000">
                <a:schemeClr val="accent1">
                  <a:tint val="100000"/>
                  <a:shade val="100000"/>
                  <a:satMod val="100000"/>
                  <a:alpha val="6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Cliente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satisfeito</a:t>
            </a:r>
            <a:r>
              <a:rPr lang="en-US" sz="1800" dirty="0">
                <a:solidFill>
                  <a:srgbClr val="000000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</a:p>
        </p:txBody>
      </p:sp>
      <p:pic>
        <p:nvPicPr>
          <p:cNvPr id="5" name="Picture 4" descr="Software Test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0" y="2362200"/>
            <a:ext cx="5626100" cy="449580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114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Obtenção de Requisitos</a:t>
            </a:r>
          </a:p>
        </p:txBody>
      </p:sp>
      <p:pic>
        <p:nvPicPr>
          <p:cNvPr id="23558" name="Picture 4"/>
          <p:cNvPicPr>
            <a:picLocks noChangeAspect="1" noChangeArrowheads="1"/>
          </p:cNvPicPr>
          <p:nvPr/>
        </p:nvPicPr>
        <p:blipFill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640763" cy="45926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tx1">
                <a:alpha val="43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77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Obtenção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do Engenheiro de Requisitos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51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Capacidade para </a:t>
            </a:r>
            <a:r>
              <a:rPr lang="pt-BR" sz="2800" dirty="0">
                <a:solidFill>
                  <a:srgbClr val="800000"/>
                </a:solidFill>
              </a:rPr>
              <a:t>compreender conceitos abstratos</a:t>
            </a:r>
            <a:r>
              <a:rPr lang="pt-BR" sz="2800" dirty="0"/>
              <a:t>, reorganizar esses conceitos em divisões lógicas e sintetizar soluções com base em cada divisão</a:t>
            </a:r>
          </a:p>
          <a:p>
            <a:pPr lvl="8"/>
            <a:endParaRPr lang="pt-BR" sz="1800" dirty="0"/>
          </a:p>
          <a:p>
            <a:r>
              <a:rPr lang="pt-BR" sz="2800" dirty="0"/>
              <a:t>Capacidade de </a:t>
            </a:r>
            <a:r>
              <a:rPr lang="pt-BR" sz="2800" dirty="0">
                <a:solidFill>
                  <a:srgbClr val="800000"/>
                </a:solidFill>
              </a:rPr>
              <a:t>absorver fatos</a:t>
            </a:r>
            <a:r>
              <a:rPr lang="pt-BR" sz="2800" dirty="0"/>
              <a:t> pertinentes a partir de </a:t>
            </a:r>
            <a:r>
              <a:rPr lang="pt-BR" sz="2800" dirty="0">
                <a:solidFill>
                  <a:srgbClr val="800000"/>
                </a:solidFill>
              </a:rPr>
              <a:t>fontes conflitantes</a:t>
            </a:r>
            <a:r>
              <a:rPr lang="pt-BR" sz="2800" dirty="0"/>
              <a:t> ou </a:t>
            </a:r>
            <a:r>
              <a:rPr lang="pt-BR" sz="2800" dirty="0">
                <a:solidFill>
                  <a:srgbClr val="800000"/>
                </a:solidFill>
              </a:rPr>
              <a:t>confusas</a:t>
            </a:r>
          </a:p>
          <a:p>
            <a:pPr lvl="8"/>
            <a:endParaRPr lang="pt-BR" sz="1800" dirty="0"/>
          </a:p>
          <a:p>
            <a:r>
              <a:rPr lang="pt-BR" sz="2800" dirty="0"/>
              <a:t>Capacidade de </a:t>
            </a:r>
            <a:r>
              <a:rPr lang="pt-BR" sz="2800" dirty="0">
                <a:solidFill>
                  <a:srgbClr val="800000"/>
                </a:solidFill>
              </a:rPr>
              <a:t>se comunicar bem</a:t>
            </a:r>
            <a:r>
              <a:rPr lang="pt-BR" sz="2800" dirty="0"/>
              <a:t> de maneira escrita e verbal</a:t>
            </a:r>
          </a:p>
          <a:p>
            <a:pPr lvl="8"/>
            <a:endParaRPr lang="pt-BR" sz="1800" dirty="0"/>
          </a:p>
          <a:p>
            <a:r>
              <a:rPr lang="pt-BR" sz="2800" dirty="0"/>
              <a:t>Capacidade de “</a:t>
            </a:r>
            <a:r>
              <a:rPr lang="pt-BR" sz="2800" dirty="0">
                <a:solidFill>
                  <a:srgbClr val="800000"/>
                </a:solidFill>
              </a:rPr>
              <a:t>ver a floresta em vez das árvores</a:t>
            </a:r>
            <a:r>
              <a:rPr lang="pt-BR" sz="28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94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Obtenção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Tentando levantar requisitos... 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Dilbert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Scott Adams]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requisitos-dilber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9120"/>
            <a:ext cx="9144000" cy="4180680"/>
          </a:xfrm>
          <a:prstGeom prst="rect">
            <a:avLst/>
          </a:prstGeom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782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Alguns meios de Coleta de Dados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905000"/>
            <a:ext cx="7772400" cy="2971800"/>
          </a:xfrm>
        </p:spPr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Entrevista</a:t>
            </a:r>
          </a:p>
          <a:p>
            <a:pPr lvl="2"/>
            <a:endParaRPr lang="pt-BR" dirty="0">
              <a:solidFill>
                <a:srgbClr val="000000"/>
              </a:solidFill>
            </a:endParaRPr>
          </a:p>
          <a:p>
            <a:pPr lvl="2"/>
            <a:endParaRPr lang="pt-BR" dirty="0">
              <a:solidFill>
                <a:srgbClr val="000000"/>
              </a:solidFill>
            </a:endParaRPr>
          </a:p>
          <a:p>
            <a:pPr lvl="2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Coleta de Documentos</a:t>
            </a:r>
          </a:p>
          <a:p>
            <a:pPr lvl="2"/>
            <a:endParaRPr lang="pt-BR" dirty="0">
              <a:solidFill>
                <a:srgbClr val="000000"/>
              </a:solidFill>
            </a:endParaRPr>
          </a:p>
          <a:p>
            <a:pPr lvl="2"/>
            <a:endParaRPr lang="pt-BR" dirty="0">
              <a:solidFill>
                <a:srgbClr val="000000"/>
              </a:solidFill>
            </a:endParaRPr>
          </a:p>
          <a:p>
            <a:pPr lvl="2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Observação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162" y="1524000"/>
            <a:ext cx="5189838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99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676400"/>
            <a:ext cx="5817662" cy="4876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74900"/>
            <a:ext cx="2832100" cy="31115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>
                <a:alpha val="43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534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Como obter os requisitos?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372552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00"/>
                </a:solidFill>
              </a:rPr>
              <a:t>Primeira conversa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pode-se utilizar as perguntas propostas por </a:t>
            </a:r>
            <a:r>
              <a:rPr lang="pt-BR" i="1" dirty="0" err="1">
                <a:solidFill>
                  <a:srgbClr val="000000"/>
                </a:solidFill>
              </a:rPr>
              <a:t>Gause</a:t>
            </a:r>
            <a:r>
              <a:rPr lang="pt-BR" i="1" dirty="0">
                <a:solidFill>
                  <a:srgbClr val="000000"/>
                </a:solidFill>
              </a:rPr>
              <a:t> e Weinberg</a:t>
            </a:r>
            <a:r>
              <a:rPr lang="pt-BR" baseline="30000" dirty="0">
                <a:solidFill>
                  <a:srgbClr val="000000"/>
                </a:solidFill>
              </a:rPr>
              <a:t>1</a:t>
            </a:r>
            <a:r>
              <a:rPr lang="pt-BR" dirty="0">
                <a:solidFill>
                  <a:srgbClr val="000000"/>
                </a:solidFill>
              </a:rPr>
              <a:t> para “</a:t>
            </a:r>
            <a:r>
              <a:rPr lang="pt-BR" dirty="0">
                <a:solidFill>
                  <a:srgbClr val="800000"/>
                </a:solidFill>
              </a:rPr>
              <a:t>quebrar o gelo</a:t>
            </a:r>
            <a:r>
              <a:rPr lang="pt-BR" dirty="0">
                <a:solidFill>
                  <a:srgbClr val="000000"/>
                </a:solidFill>
              </a:rPr>
              <a:t>” e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levantar as primeiras informações sobre o sistema a fim de definir o escopo do software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limites de dados e controle do software, de desempenho, de confiabilidade e de interfaces</a:t>
            </a:r>
          </a:p>
          <a:p>
            <a:pPr lvl="2"/>
            <a:endParaRPr lang="pt-BR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600" baseline="30000" dirty="0">
                <a:solidFill>
                  <a:srgbClr val="000000"/>
                </a:solidFill>
              </a:rPr>
              <a:t>1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Gause</a:t>
            </a:r>
            <a:r>
              <a:rPr lang="en-US" sz="1600" dirty="0">
                <a:solidFill>
                  <a:srgbClr val="000000"/>
                </a:solidFill>
              </a:rPr>
              <a:t>, D. C.; Weinberg, G. M. </a:t>
            </a:r>
            <a:r>
              <a:rPr lang="en-US" sz="1600" b="1" dirty="0">
                <a:solidFill>
                  <a:srgbClr val="000000"/>
                </a:solidFill>
              </a:rPr>
              <a:t>Exploring Requirements: Quality Before Design</a:t>
            </a:r>
            <a:r>
              <a:rPr lang="en-US" sz="1600" dirty="0">
                <a:solidFill>
                  <a:srgbClr val="000000"/>
                </a:solidFill>
              </a:rPr>
              <a:t>. Dorset House, 1989</a:t>
            </a:r>
          </a:p>
        </p:txBody>
      </p:sp>
    </p:spTree>
    <p:extLst>
      <p:ext uri="{BB962C8B-B14F-4D97-AF65-F5344CB8AC3E}">
        <p14:creationId xmlns:p14="http://schemas.microsoft.com/office/powerpoint/2010/main" val="157079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Algumas perguntas para o 1º encontro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Sobre o Cliente: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Quem está por trás do pedido deste trabalho?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Quem usará a solução?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Qual o benefício econômico de uma solução bem sucedida?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84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Algumas perguntas para o 1º encontro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641304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Sobre o Problema: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Como você caracteriza as “boas saídas” que seriam geradas por uma solução bem sucedida?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Qual(</a:t>
            </a:r>
            <a:r>
              <a:rPr lang="pt-BR" dirty="0" err="1">
                <a:solidFill>
                  <a:srgbClr val="000000"/>
                </a:solidFill>
              </a:rPr>
              <a:t>is</a:t>
            </a:r>
            <a:r>
              <a:rPr lang="pt-BR" dirty="0">
                <a:solidFill>
                  <a:srgbClr val="000000"/>
                </a:solidFill>
              </a:rPr>
              <a:t>) problema(s) essa solução enfrentaria?</a:t>
            </a:r>
          </a:p>
          <a:p>
            <a:pPr lvl="1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Você poderia me mostrar (ou descrever) o ambiente de negócios em que a solução será usada?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Existem questões de desempenho ou restrições especiais que afetarão a maneira pela qual a solução é abordada?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38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Algumas perguntas para o 1º encontro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[3/3]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Sobre a Efetividade do Encontro: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Você é a pessoa certa para responder a essas perguntas?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Estou fazendo perguntas relevantes?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Há mais alguém que possa fornecer informações adicionais?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Existe algo mais que eu deva lhe perguntar?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2800" b="1" dirty="0">
                <a:solidFill>
                  <a:srgbClr val="800000"/>
                </a:solidFill>
              </a:rPr>
              <a:t>Entrevista</a:t>
            </a:r>
          </a:p>
          <a:p>
            <a:pPr lvl="8"/>
            <a:endParaRPr lang="pt-BR" sz="1800" dirty="0"/>
          </a:p>
          <a:p>
            <a:r>
              <a:rPr lang="pt-BR" sz="2800" dirty="0">
                <a:solidFill>
                  <a:srgbClr val="000000"/>
                </a:solidFill>
              </a:rPr>
              <a:t>Questionário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r>
              <a:rPr lang="pt-BR" sz="2800" dirty="0">
                <a:solidFill>
                  <a:srgbClr val="000000"/>
                </a:solidFill>
              </a:rPr>
              <a:t>Brainstorming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r>
              <a:rPr lang="pt-BR" sz="2800" dirty="0">
                <a:solidFill>
                  <a:srgbClr val="000000"/>
                </a:solidFill>
              </a:rPr>
              <a:t>Rastreamento de Processo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r>
              <a:rPr lang="pt-BR" sz="2800" dirty="0">
                <a:solidFill>
                  <a:srgbClr val="000000"/>
                </a:solidFill>
              </a:rPr>
              <a:t>Estudos de Caso</a:t>
            </a:r>
          </a:p>
          <a:p>
            <a:endParaRPr lang="pt-BR" sz="2800" dirty="0">
              <a:solidFill>
                <a:srgbClr val="000000"/>
              </a:solidFill>
            </a:endParaRPr>
          </a:p>
          <a:p>
            <a:r>
              <a:rPr lang="pt-BR" sz="2800" dirty="0">
                <a:solidFill>
                  <a:srgbClr val="000000"/>
                </a:solidFill>
              </a:rPr>
              <a:t>Mapa Mental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r>
              <a:rPr lang="pt-BR" sz="2800" dirty="0">
                <a:solidFill>
                  <a:srgbClr val="000000"/>
                </a:solidFill>
              </a:rPr>
              <a:t>Simulações e Protótipos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71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[1/6]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solidFill>
                  <a:srgbClr val="000000"/>
                </a:solidFill>
              </a:rPr>
              <a:t>Técnica mais comum</a:t>
            </a:r>
          </a:p>
          <a:p>
            <a:pPr lvl="8"/>
            <a:endParaRPr lang="pt-BR" sz="1600" dirty="0">
              <a:solidFill>
                <a:srgbClr val="000000"/>
              </a:solidFill>
            </a:endParaRPr>
          </a:p>
          <a:p>
            <a:r>
              <a:rPr lang="pt-BR" sz="2400" dirty="0">
                <a:solidFill>
                  <a:srgbClr val="000000"/>
                </a:solidFill>
              </a:rPr>
              <a:t>Habilidade do entrevistador:</a:t>
            </a:r>
          </a:p>
          <a:p>
            <a:pPr lvl="1"/>
            <a:r>
              <a:rPr lang="pt-BR" sz="2000" dirty="0">
                <a:solidFill>
                  <a:srgbClr val="000000"/>
                </a:solidFill>
              </a:rPr>
              <a:t>fator significante na determinação do sucesso da entrevista</a:t>
            </a:r>
          </a:p>
          <a:p>
            <a:pPr lvl="2"/>
            <a:r>
              <a:rPr lang="pt-BR" sz="1800" dirty="0">
                <a:solidFill>
                  <a:srgbClr val="000000"/>
                </a:solidFill>
              </a:rPr>
              <a:t>obtenção de conhecimento útil</a:t>
            </a:r>
          </a:p>
          <a:p>
            <a:pPr lvl="8"/>
            <a:endParaRPr lang="pt-BR" sz="1600" dirty="0">
              <a:solidFill>
                <a:srgbClr val="000000"/>
              </a:solidFill>
            </a:endParaRPr>
          </a:p>
          <a:p>
            <a:r>
              <a:rPr lang="pt-BR" sz="2400" b="1" dirty="0">
                <a:solidFill>
                  <a:srgbClr val="000000"/>
                </a:solidFill>
              </a:rPr>
              <a:t>Entrevista Desestruturada</a:t>
            </a:r>
          </a:p>
          <a:p>
            <a:pPr lvl="1"/>
            <a:r>
              <a:rPr lang="pt-BR" sz="2000" dirty="0">
                <a:solidFill>
                  <a:srgbClr val="000000"/>
                </a:solidFill>
              </a:rPr>
              <a:t>deseja-se explorar um problema (estágios iniciais de um tópico considerado)</a:t>
            </a:r>
          </a:p>
          <a:p>
            <a:pPr lvl="1"/>
            <a:r>
              <a:rPr lang="pt-BR" sz="2000" dirty="0">
                <a:solidFill>
                  <a:srgbClr val="000000"/>
                </a:solidFill>
              </a:rPr>
              <a:t>entrevista mais informal</a:t>
            </a:r>
          </a:p>
          <a:p>
            <a:pPr lvl="8"/>
            <a:endParaRPr lang="pt-BR" sz="1600" dirty="0">
              <a:solidFill>
                <a:srgbClr val="000000"/>
              </a:solidFill>
            </a:endParaRPr>
          </a:p>
          <a:p>
            <a:r>
              <a:rPr lang="pt-BR" sz="2400" b="1" dirty="0">
                <a:solidFill>
                  <a:srgbClr val="000000"/>
                </a:solidFill>
              </a:rPr>
              <a:t>Entrevista Estruturada</a:t>
            </a:r>
          </a:p>
          <a:p>
            <a:pPr lvl="1"/>
            <a:r>
              <a:rPr lang="pt-BR" sz="2000" dirty="0">
                <a:solidFill>
                  <a:srgbClr val="000000"/>
                </a:solidFill>
              </a:rPr>
              <a:t>deseja-se informações específicas do conteúdo e do problema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80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[2/6]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000000"/>
                </a:solidFill>
              </a:rPr>
              <a:t>O background de experiência e conhecimento do </a:t>
            </a:r>
            <a:r>
              <a:rPr lang="pt-BR" b="1" dirty="0">
                <a:solidFill>
                  <a:srgbClr val="000000"/>
                </a:solidFill>
              </a:rPr>
              <a:t>entrevistado</a:t>
            </a:r>
            <a:r>
              <a:rPr lang="pt-BR" dirty="0">
                <a:solidFill>
                  <a:srgbClr val="000000"/>
                </a:solidFill>
              </a:rPr>
              <a:t> é levado em consideração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000000"/>
                </a:solidFill>
              </a:rPr>
              <a:t>Planejar a entrevista é um fator importante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Definir o processo de anotação (manual, gravação em fita ou em vídeo)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Depende do consentimento dos participantes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Informar ao especialista a respeito da modo de anotação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Estipular o tempo necessário para a entrevista, além dos recursos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40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[3/6]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b="1" dirty="0">
                <a:solidFill>
                  <a:srgbClr val="000000"/>
                </a:solidFill>
              </a:rPr>
              <a:t>Durante a entrevista</a:t>
            </a:r>
            <a:r>
              <a:rPr lang="pt-BR" sz="2000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sz="1400" dirty="0">
              <a:solidFill>
                <a:srgbClr val="000000"/>
              </a:solidFill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</a:rPr>
              <a:t>Motivar os participantes</a:t>
            </a:r>
          </a:p>
          <a:p>
            <a:pPr lvl="8"/>
            <a:endParaRPr lang="pt-BR" sz="1400" dirty="0">
              <a:solidFill>
                <a:srgbClr val="000000"/>
              </a:solidFill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</a:rPr>
              <a:t>Fornecer um resumo verbal do problema</a:t>
            </a:r>
          </a:p>
          <a:p>
            <a:pPr lvl="8"/>
            <a:endParaRPr lang="pt-BR" sz="1400" dirty="0">
              <a:solidFill>
                <a:srgbClr val="000000"/>
              </a:solidFill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</a:rPr>
              <a:t>Relacionar a pergunta inicial com o tópico global da sessão</a:t>
            </a:r>
          </a:p>
          <a:p>
            <a:pPr lvl="8"/>
            <a:endParaRPr lang="pt-BR" sz="1400" dirty="0">
              <a:solidFill>
                <a:srgbClr val="000000"/>
              </a:solidFill>
            </a:endParaRPr>
          </a:p>
          <a:p>
            <a:r>
              <a:rPr lang="pt-BR" sz="2000" b="1" dirty="0">
                <a:solidFill>
                  <a:srgbClr val="000000"/>
                </a:solidFill>
              </a:rPr>
              <a:t>Após a entrevista</a:t>
            </a:r>
            <a:r>
              <a:rPr lang="pt-BR" sz="2000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sz="1400" dirty="0">
              <a:solidFill>
                <a:srgbClr val="000000"/>
              </a:solidFill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</a:rPr>
              <a:t>Documentar todos os pontos relevantes obtidos</a:t>
            </a:r>
          </a:p>
          <a:p>
            <a:pPr lvl="8"/>
            <a:endParaRPr lang="pt-BR" sz="1400" dirty="0">
              <a:solidFill>
                <a:srgbClr val="000000"/>
              </a:solidFill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</a:rPr>
              <a:t>Enviar a documentação ao entrevistado (aprovação final)</a:t>
            </a:r>
          </a:p>
          <a:p>
            <a:pPr lvl="8"/>
            <a:endParaRPr lang="pt-BR" sz="1400" dirty="0">
              <a:solidFill>
                <a:srgbClr val="000000"/>
              </a:solidFill>
            </a:endParaRPr>
          </a:p>
          <a:p>
            <a:pPr lvl="1"/>
            <a:r>
              <a:rPr lang="pt-BR" sz="1800" dirty="0">
                <a:solidFill>
                  <a:srgbClr val="000000"/>
                </a:solidFill>
              </a:rPr>
              <a:t>Se for necessário um esclarecimento posterior, contatar o entrevistado para marcar outra reunião</a:t>
            </a:r>
            <a:endParaRPr 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[4/6]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As perguntas podem ser classificadas em: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b="1" dirty="0">
                <a:solidFill>
                  <a:srgbClr val="000000"/>
                </a:solidFill>
              </a:rPr>
              <a:t>Abertas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tendem a não ser específicas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não são seguidas por alternativas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encorajam resposta livre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apropriadas quando deseja-se observar respostas de alto nível para reconhecer o escopo de entendimento do entrevistado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possibilitam ao entrevistado o fornecimento de informações que o entrevistador não tem conhecimento para perguntar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as respostas a essas perguntas consomem muito tempo, e podem trazer pouca informação</a:t>
            </a:r>
          </a:p>
          <a:p>
            <a:pPr lvl="1"/>
            <a:r>
              <a:rPr lang="pt-BR" b="1" dirty="0">
                <a:solidFill>
                  <a:srgbClr val="000000"/>
                </a:solidFill>
              </a:rPr>
              <a:t>Fechadas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definem limites no tipo, nível e quantidade de informação fornecida pelo entrevistado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fornecem escolha de alternativas ou níveis de resposta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78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[5/6]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00"/>
                </a:solidFill>
              </a:rPr>
              <a:t>Níveis de perguntas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b="1" dirty="0">
                <a:solidFill>
                  <a:srgbClr val="000000"/>
                </a:solidFill>
              </a:rPr>
              <a:t>Primárias</a:t>
            </a:r>
            <a:r>
              <a:rPr lang="pt-BR" dirty="0">
                <a:solidFill>
                  <a:srgbClr val="000000"/>
                </a:solidFill>
              </a:rPr>
              <a:t>: aquelas que o entrevistador usa para introduzir áreas ou transições para outras áreas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b="1" dirty="0">
                <a:solidFill>
                  <a:srgbClr val="000000"/>
                </a:solidFill>
              </a:rPr>
              <a:t>Secundárias</a:t>
            </a:r>
            <a:r>
              <a:rPr lang="pt-BR" dirty="0">
                <a:solidFill>
                  <a:srgbClr val="000000"/>
                </a:solidFill>
              </a:rPr>
              <a:t>: perguntas, na maioria das vezes, exploradoras</a:t>
            </a:r>
          </a:p>
          <a:p>
            <a:pPr lvl="2"/>
            <a:r>
              <a:rPr lang="pt-BR" b="1" dirty="0">
                <a:solidFill>
                  <a:srgbClr val="000000"/>
                </a:solidFill>
              </a:rPr>
              <a:t>Propósito</a:t>
            </a:r>
            <a:r>
              <a:rPr lang="pt-BR" dirty="0">
                <a:solidFill>
                  <a:srgbClr val="000000"/>
                </a:solidFill>
              </a:rPr>
              <a:t>: descobrir mais sobre as informações oferecidas em resposta a alguma pergunta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63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[6/6]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Durante as entrevistas podem surgir situações que interferem nos objetivos da sessão: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Respostas ambíguas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Comentários irrelevantes, respostas genéricas, dentre outras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Depois de obtido o conhecimento, avaliá-lo junto ao especialista de domínio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47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Entrevista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800000"/>
                </a:solidFill>
              </a:rPr>
              <a:t>Questionário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Brainstorming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Rastreamento de Processo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Estudos de Caso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Simulações e Protótipos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29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Questionário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Existem muitas pessoas que conhecem as informações necessárias para o desenvolvimento do sistema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800000"/>
                </a:solidFill>
              </a:rPr>
              <a:t>Preparado</a:t>
            </a:r>
            <a:r>
              <a:rPr lang="pt-BR" dirty="0">
                <a:solidFill>
                  <a:srgbClr val="000000"/>
                </a:solidFill>
              </a:rPr>
              <a:t> antecipadamente com </a:t>
            </a:r>
            <a:r>
              <a:rPr lang="pt-BR" dirty="0">
                <a:solidFill>
                  <a:srgbClr val="800000"/>
                </a:solidFill>
              </a:rPr>
              <a:t>questões objetivas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000000"/>
                </a:solidFill>
              </a:rPr>
              <a:t>Desvantagens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Comunicação com os usuários é seriamente restringida, não há uma real troca de informações face a face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Preparação exige tempo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05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Questionário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Montagem do Questionário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b="1" dirty="0">
                <a:solidFill>
                  <a:srgbClr val="000000"/>
                </a:solidFill>
              </a:rPr>
              <a:t>Preparação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pPr lvl="1"/>
            <a:r>
              <a:rPr lang="pt-BR" sz="2400" dirty="0">
                <a:solidFill>
                  <a:srgbClr val="000000"/>
                </a:solidFill>
              </a:rPr>
              <a:t>Identificar o tipo de informação que deseja obter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pPr lvl="1"/>
            <a:r>
              <a:rPr lang="pt-BR" sz="2400" dirty="0">
                <a:solidFill>
                  <a:srgbClr val="000000"/>
                </a:solidFill>
              </a:rPr>
              <a:t>Escolher um formato adequado para o questionário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pPr lvl="1"/>
            <a:r>
              <a:rPr lang="pt-BR" sz="2400" dirty="0">
                <a:solidFill>
                  <a:srgbClr val="000000"/>
                </a:solidFill>
              </a:rPr>
              <a:t>Deixar espaço suficiente para resposta de questões descritivas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pPr lvl="1"/>
            <a:r>
              <a:rPr lang="pt-BR" sz="2400" dirty="0">
                <a:solidFill>
                  <a:srgbClr val="000000"/>
                </a:solidFill>
              </a:rPr>
              <a:t>Montar questões de maneira simples, clara e concisa</a:t>
            </a:r>
          </a:p>
          <a:p>
            <a:pPr lvl="8"/>
            <a:endParaRPr lang="pt-BR" sz="1800" dirty="0">
              <a:solidFill>
                <a:srgbClr val="000000"/>
              </a:solidFill>
            </a:endParaRPr>
          </a:p>
          <a:p>
            <a:pPr lvl="1"/>
            <a:r>
              <a:rPr lang="pt-BR" sz="2400" dirty="0">
                <a:solidFill>
                  <a:srgbClr val="000000"/>
                </a:solidFill>
              </a:rPr>
              <a:t>Enviar uma carta acompanhando o questionário para enfatizar a sua importância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56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Questionário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Montagem do Questionário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785320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>
                <a:solidFill>
                  <a:srgbClr val="000000"/>
                </a:solidFill>
              </a:rPr>
              <a:t>Identificação dos respondentes</a:t>
            </a:r>
          </a:p>
          <a:p>
            <a:pPr lvl="8"/>
            <a:endParaRPr lang="pt-BR" b="1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nome, função e localização (algumas vezes, basta identificar a função do respondente)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deve haver um controle para garantir que todos receberão o questionário e para monitorar o seu status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000000"/>
                </a:solidFill>
              </a:rPr>
              <a:t>Distribuição do questionário</a:t>
            </a:r>
          </a:p>
          <a:p>
            <a:pPr lvl="8"/>
            <a:endParaRPr lang="pt-BR" b="1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devem ser distribuídos junto ao questionário: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2"/>
            <a:r>
              <a:rPr lang="pt-BR" dirty="0">
                <a:solidFill>
                  <a:srgbClr val="000000"/>
                </a:solidFill>
              </a:rPr>
              <a:t>instruções detalhadas de como preenchê-lo e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2"/>
            <a:r>
              <a:rPr lang="pt-BR" dirty="0">
                <a:solidFill>
                  <a:srgbClr val="000000"/>
                </a:solidFill>
              </a:rPr>
              <a:t>prazo para devolução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Questionário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Montagem do Questionário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[3/3]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00"/>
                </a:solidFill>
              </a:rPr>
              <a:t>Análise das respostas dos respondentes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Analisar e consolidar as informações fornecidas pelos questionários devolvidos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Documentar as principais descobertas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Enviar uma cópia do relatório com as principais descobertas para todos os respondentes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36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pt-BR" dirty="0"/>
              <a:t>Boas Práticas Questionários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0000"/>
                </a:solidFill>
              </a:rPr>
              <a:t>Informações sobre ao que refere-se o levantamento de requisitos;</a:t>
            </a:r>
          </a:p>
          <a:p>
            <a:r>
              <a:rPr lang="pt-BR" sz="2800" dirty="0">
                <a:solidFill>
                  <a:srgbClr val="000000"/>
                </a:solidFill>
              </a:rPr>
              <a:t>Identificação dos respondentes;</a:t>
            </a:r>
          </a:p>
          <a:p>
            <a:r>
              <a:rPr lang="pt-BR" sz="2800" dirty="0">
                <a:solidFill>
                  <a:srgbClr val="000000"/>
                </a:solidFill>
              </a:rPr>
              <a:t>Prazo para inicio e fim das respostas;</a:t>
            </a:r>
          </a:p>
          <a:p>
            <a:r>
              <a:rPr lang="pt-BR" sz="2800" dirty="0">
                <a:solidFill>
                  <a:srgbClr val="000000"/>
                </a:solidFill>
              </a:rPr>
              <a:t>Questões abertas e fechadas;</a:t>
            </a:r>
          </a:p>
          <a:p>
            <a:r>
              <a:rPr lang="pt-BR" sz="2800" dirty="0">
                <a:solidFill>
                  <a:srgbClr val="000000"/>
                </a:solidFill>
              </a:rPr>
              <a:t>Agradecimento.</a:t>
            </a:r>
          </a:p>
          <a:p>
            <a:endParaRPr lang="pt-BR" sz="2800" dirty="0"/>
          </a:p>
          <a:p>
            <a:pPr lvl="1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46121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857328"/>
          </a:xfrm>
          <a:noFill/>
        </p:spPr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Entrevista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Questionário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800000"/>
                </a:solidFill>
              </a:rPr>
              <a:t>Brainstorming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Rastreamento de Processo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Estudos de Caso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Mapa Mental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Simulações e Protótipos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19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Brainstorming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85732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Tempestade de Ideias</a:t>
            </a:r>
          </a:p>
          <a:p>
            <a:pPr lvl="8"/>
            <a:endParaRPr lang="pt-BR" b="1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000000"/>
                </a:solidFill>
              </a:rPr>
              <a:t>Origem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Preocupação dos altos executivos de negócios para com os gerentes que eles supervisionavam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Gerentes repetiam e imitavam a “sabedoria” de seus superiores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Politicamente seguro, porém, excluía as ideias que podiam ser úteis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Para encorajar a criatividade em grupo:</a:t>
            </a:r>
          </a:p>
          <a:p>
            <a:pPr lvl="2"/>
            <a:r>
              <a:rPr lang="pt-BR" dirty="0">
                <a:solidFill>
                  <a:srgbClr val="800000"/>
                </a:solidFill>
              </a:rPr>
              <a:t>Brainstorming</a:t>
            </a:r>
            <a:endParaRPr lang="en-US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00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Brainstorming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714872"/>
            <a:ext cx="8839200" cy="2362201"/>
          </a:xfrm>
        </p:spPr>
        <p:txBody>
          <a:bodyPr anchor="t">
            <a:normAutofit fontScale="85000" lnSpcReduction="1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Usado para ajudar um grupo </a:t>
            </a:r>
            <a:r>
              <a:rPr lang="pt-BR" dirty="0">
                <a:solidFill>
                  <a:srgbClr val="800000"/>
                </a:solidFill>
              </a:rPr>
              <a:t>gerar</a:t>
            </a:r>
            <a:r>
              <a:rPr lang="pt-BR" dirty="0">
                <a:solidFill>
                  <a:srgbClr val="000000"/>
                </a:solidFill>
              </a:rPr>
              <a:t> tantas </a:t>
            </a:r>
            <a:r>
              <a:rPr lang="pt-BR" dirty="0">
                <a:solidFill>
                  <a:srgbClr val="800000"/>
                </a:solidFill>
              </a:rPr>
              <a:t>ideias</a:t>
            </a:r>
            <a:r>
              <a:rPr lang="pt-BR" dirty="0">
                <a:solidFill>
                  <a:srgbClr val="000000"/>
                </a:solidFill>
              </a:rPr>
              <a:t> quanto forem possíveis em um pequeno espaço de tempo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Bastante </a:t>
            </a:r>
            <a:r>
              <a:rPr lang="pt-BR" dirty="0">
                <a:solidFill>
                  <a:srgbClr val="800000"/>
                </a:solidFill>
              </a:rPr>
              <a:t>útil</a:t>
            </a:r>
            <a:r>
              <a:rPr lang="pt-BR" dirty="0">
                <a:solidFill>
                  <a:srgbClr val="000000"/>
                </a:solidFill>
              </a:rPr>
              <a:t>, principalmente, para as </a:t>
            </a:r>
            <a:r>
              <a:rPr lang="pt-BR" dirty="0">
                <a:solidFill>
                  <a:srgbClr val="800000"/>
                </a:solidFill>
              </a:rPr>
              <a:t>sessões iniciais de levantamento de requisitos</a:t>
            </a:r>
            <a:endParaRPr lang="en-US" dirty="0">
              <a:solidFill>
                <a:srgbClr val="800000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3933056"/>
            <a:ext cx="6120680" cy="2328942"/>
          </a:xfrm>
          <a:prstGeom prst="rect">
            <a:avLst/>
          </a:prstGeom>
          <a:noFill/>
          <a:ln w="9525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90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Brainstorming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[3/3]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668016"/>
            <a:ext cx="8839200" cy="4929336"/>
          </a:xfrm>
        </p:spPr>
        <p:txBody>
          <a:bodyPr>
            <a:normAutofit fontScale="85000" lnSpcReduction="10000"/>
          </a:bodyPr>
          <a:lstStyle/>
          <a:p>
            <a:r>
              <a:rPr lang="pt-BR" b="1" dirty="0">
                <a:solidFill>
                  <a:srgbClr val="000000"/>
                </a:solidFill>
              </a:rPr>
              <a:t>Regras de uma sessão de brainstorming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Qualquer um pode apresentar espontaneamente uma ideia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As ideias devem ser relacionadas ao tópico correntemente em discussão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Um participante não deve expressar discordância com a ideia de outro, nem criticar a ideia ou comentar sobre a importância da mesma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É aceitável, claro, que um participante expanda a ideia sugerida por outro com detalhes adicionais ou ideias relacionadas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68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713312"/>
          </a:xfrm>
        </p:spPr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Entrevista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Questionário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Brainstorming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800000"/>
                </a:solidFill>
              </a:rPr>
              <a:t>Rastreamento de Processo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Estudos de Caso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Mapa Mental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Simulações e Protótipos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78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Rastreamento de Processo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[1/2]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857328"/>
          </a:xfrm>
        </p:spPr>
        <p:txBody>
          <a:bodyPr>
            <a:normAutofit fontScale="92500"/>
          </a:bodyPr>
          <a:lstStyle/>
          <a:p>
            <a:r>
              <a:rPr lang="pt-BR" dirty="0">
                <a:solidFill>
                  <a:srgbClr val="000000"/>
                </a:solidFill>
              </a:rPr>
              <a:t>É um conjunto de técnicas que permite a determinação do processo </a:t>
            </a:r>
            <a:r>
              <a:rPr lang="pt-BR" dirty="0">
                <a:solidFill>
                  <a:srgbClr val="800000"/>
                </a:solidFill>
              </a:rPr>
              <a:t>(modo) de pensar</a:t>
            </a:r>
            <a:r>
              <a:rPr lang="pt-BR" dirty="0">
                <a:solidFill>
                  <a:srgbClr val="000000"/>
                </a:solidFill>
              </a:rPr>
              <a:t> de um indivíduo enquanto ele realiza uma tarefa ou chega a uma conclusão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Pode ser realizado de duas maneiras: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b="1" dirty="0">
                <a:solidFill>
                  <a:srgbClr val="000000"/>
                </a:solidFill>
              </a:rPr>
              <a:t>Verbalização Concorrente</a:t>
            </a:r>
            <a:r>
              <a:rPr lang="pt-BR" dirty="0">
                <a:solidFill>
                  <a:srgbClr val="000000"/>
                </a:solidFill>
              </a:rPr>
              <a:t>: o especialista “pensa alto” enquanto resolve o problema, ou seja, produz um relatório verbal das ações, considerações, pontos de decisão e estratégias enquanto está realizando alguma tarefa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80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Rastreamento de Processo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[2/2]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b="1" dirty="0">
                <a:solidFill>
                  <a:srgbClr val="000000"/>
                </a:solidFill>
              </a:rPr>
              <a:t>Verbalização Retrospectiva</a:t>
            </a:r>
            <a:r>
              <a:rPr lang="pt-BR" dirty="0">
                <a:solidFill>
                  <a:srgbClr val="000000"/>
                </a:solidFill>
              </a:rPr>
              <a:t>: o especialista verbaliza seu processo de raciocínio depois de realizar a tarefa que está sendo investigada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O engenheiro de requisitos registra ou grava o procedimento utilizado para resolver o problema para, mais tarde, revisar a sessão junto ao especialista</a:t>
            </a:r>
          </a:p>
          <a:p>
            <a:pPr lvl="1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Algumas técnicas utilizadas: </a:t>
            </a:r>
            <a:r>
              <a:rPr lang="pt-BR" dirty="0">
                <a:solidFill>
                  <a:srgbClr val="800000"/>
                </a:solidFill>
              </a:rPr>
              <a:t>observação direta</a:t>
            </a:r>
            <a:r>
              <a:rPr lang="pt-BR" dirty="0">
                <a:solidFill>
                  <a:srgbClr val="000000"/>
                </a:solidFill>
              </a:rPr>
              <a:t>, cenários simulados, entre outros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78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Rastreamento de Processo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Observação Direta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[1/4]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Observa-se diretamente quem desenvolve o trabalho para se obter informações de como o processo deve ser feito</a:t>
            </a:r>
            <a:endParaRPr lang="en-US" dirty="0">
              <a:solidFill>
                <a:srgbClr val="000000"/>
              </a:solidFill>
            </a:endParaRP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Pode ser utilizada como: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processamento e confirmação dos resultados de uma entrevista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identificação de documentos que devem ser coletados para análise posterior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esclarecimento do que e de como está sendo feito no ambiente atual</a:t>
            </a:r>
          </a:p>
        </p:txBody>
      </p:sp>
    </p:spTree>
    <p:extLst>
      <p:ext uri="{BB962C8B-B14F-4D97-AF65-F5344CB8AC3E}">
        <p14:creationId xmlns:p14="http://schemas.microsoft.com/office/powerpoint/2010/main" val="161737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Rastreamento de Processo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Observação Direta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[2/4]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00"/>
                </a:solidFill>
              </a:rPr>
              <a:t>Antes da Observação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Identificar as áreas, de usuários, a serem observadas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Obter aprovação das gerências apropriadas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Obter os nomes e funções das </a:t>
            </a:r>
            <a:r>
              <a:rPr lang="pt-BR" dirty="0" err="1">
                <a:solidFill>
                  <a:srgbClr val="800000"/>
                </a:solidFill>
              </a:rPr>
              <a:t>pessoas-chaves</a:t>
            </a:r>
            <a:r>
              <a:rPr lang="pt-BR" dirty="0">
                <a:solidFill>
                  <a:srgbClr val="000000"/>
                </a:solidFill>
              </a:rPr>
              <a:t> que serão envolvidas no estudo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Explicar a finalidade do estudo</a:t>
            </a:r>
          </a:p>
        </p:txBody>
      </p:sp>
    </p:spTree>
    <p:extLst>
      <p:ext uri="{BB962C8B-B14F-4D97-AF65-F5344CB8AC3E}">
        <p14:creationId xmlns:p14="http://schemas.microsoft.com/office/powerpoint/2010/main" val="274805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Rastreamento de Processo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Observação Direta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[3/4]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>
                <a:solidFill>
                  <a:srgbClr val="000000"/>
                </a:solidFill>
              </a:rPr>
              <a:t>Durante a Observação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Familiarizar-se com o </a:t>
            </a:r>
            <a:r>
              <a:rPr lang="pt-BR" dirty="0">
                <a:solidFill>
                  <a:srgbClr val="800000"/>
                </a:solidFill>
              </a:rPr>
              <a:t>local de trabalho</a:t>
            </a:r>
            <a:r>
              <a:rPr lang="pt-BR" dirty="0">
                <a:solidFill>
                  <a:srgbClr val="000000"/>
                </a:solidFill>
              </a:rPr>
              <a:t> que está sendo observado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observar os agrupamentos organizacionais atuais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Observar as facilidades manuais e automatizadas em uso atualmente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Coletar </a:t>
            </a:r>
            <a:r>
              <a:rPr lang="pt-BR" dirty="0">
                <a:solidFill>
                  <a:srgbClr val="800000"/>
                </a:solidFill>
              </a:rPr>
              <a:t>amostras de documentos e procedimentos</a:t>
            </a:r>
            <a:r>
              <a:rPr lang="pt-BR" dirty="0">
                <a:solidFill>
                  <a:srgbClr val="000000"/>
                </a:solidFill>
              </a:rPr>
              <a:t> escritos que serão usados para cada processo específico que está sendo observado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Acumular informações estatísticas relativas às tarefas: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frequência que ocorrem, estimativas de volumes, tempo de duração para cada pessoa que está sendo observado </a:t>
            </a:r>
            <a:r>
              <a:rPr lang="pt-BR" dirty="0" err="1">
                <a:solidFill>
                  <a:srgbClr val="000000"/>
                </a:solidFill>
              </a:rPr>
              <a:t>etc</a:t>
            </a:r>
            <a:endParaRPr lang="pt-BR" dirty="0">
              <a:solidFill>
                <a:srgbClr val="000000"/>
              </a:solidFill>
            </a:endParaRP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Quando completar a tarefa, agradeça às pessoas pelo apoio</a:t>
            </a:r>
          </a:p>
        </p:txBody>
      </p:sp>
    </p:spTree>
    <p:extLst>
      <p:ext uri="{BB962C8B-B14F-4D97-AF65-F5344CB8AC3E}">
        <p14:creationId xmlns:p14="http://schemas.microsoft.com/office/powerpoint/2010/main" val="15660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Rastreamento de Processo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Observação Direta </a:t>
            </a:r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[4/4]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00000"/>
                </a:solidFill>
              </a:rPr>
              <a:t>Após a Observação</a:t>
            </a:r>
            <a:r>
              <a:rPr lang="pt-BR" dirty="0">
                <a:solidFill>
                  <a:srgbClr val="000000"/>
                </a:solidFill>
              </a:rPr>
              <a:t>: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Documentar as descobertas resultantes das observações feitas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Consolidar os resultados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pPr lvl="1"/>
            <a:r>
              <a:rPr lang="pt-BR" dirty="0">
                <a:solidFill>
                  <a:srgbClr val="000000"/>
                </a:solidFill>
              </a:rPr>
              <a:t>Rever os resultados consolidados com as pessoas observadas e/ou com seus superiores</a:t>
            </a:r>
          </a:p>
        </p:txBody>
      </p:sp>
    </p:spTree>
    <p:extLst>
      <p:ext uri="{BB962C8B-B14F-4D97-AF65-F5344CB8AC3E}">
        <p14:creationId xmlns:p14="http://schemas.microsoft.com/office/powerpoint/2010/main" val="50908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353272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Entrevista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Questionário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Brainstorming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Rastreamento de Processo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800000"/>
                </a:solidFill>
              </a:rPr>
              <a:t>Estudos de Caso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Mapa Mental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Simulações e Protótipos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10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Estudos de Casos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865440"/>
          </a:xfrm>
        </p:spPr>
        <p:txBody>
          <a:bodyPr>
            <a:normAutofit/>
          </a:bodyPr>
          <a:lstStyle/>
          <a:p>
            <a:endParaRPr lang="pt-BR" sz="2400" dirty="0">
              <a:solidFill>
                <a:srgbClr val="000000"/>
              </a:solidFill>
            </a:endParaRPr>
          </a:p>
          <a:p>
            <a:r>
              <a:rPr lang="pt-BR" sz="2400" dirty="0">
                <a:solidFill>
                  <a:srgbClr val="000000"/>
                </a:solidFill>
              </a:rPr>
              <a:t>Obtêm-se o </a:t>
            </a:r>
            <a:r>
              <a:rPr lang="pt-BR" sz="2400" dirty="0">
                <a:solidFill>
                  <a:srgbClr val="800000"/>
                </a:solidFill>
              </a:rPr>
              <a:t>conhecimento</a:t>
            </a:r>
            <a:r>
              <a:rPr lang="pt-BR" sz="2400" dirty="0">
                <a:solidFill>
                  <a:srgbClr val="000000"/>
                </a:solidFill>
              </a:rPr>
              <a:t> do especialista </a:t>
            </a:r>
            <a:r>
              <a:rPr lang="pt-BR" sz="2400" dirty="0">
                <a:solidFill>
                  <a:srgbClr val="800000"/>
                </a:solidFill>
              </a:rPr>
              <a:t>a partir de casos já documentados</a:t>
            </a:r>
          </a:p>
          <a:p>
            <a:r>
              <a:rPr lang="pt-BR" sz="2400" dirty="0">
                <a:solidFill>
                  <a:srgbClr val="000000"/>
                </a:solidFill>
              </a:rPr>
              <a:t>Solicita-se ao especialista que fale sobre casos reais que tenha solucionado</a:t>
            </a:r>
          </a:p>
          <a:p>
            <a:r>
              <a:rPr lang="pt-BR" sz="2400" dirty="0">
                <a:solidFill>
                  <a:srgbClr val="000000"/>
                </a:solidFill>
              </a:rPr>
              <a:t>Os casos devem cobrir várias possibilidades dentro do domínio</a:t>
            </a:r>
          </a:p>
          <a:p>
            <a:r>
              <a:rPr lang="pt-BR" sz="2400" dirty="0">
                <a:solidFill>
                  <a:srgbClr val="000000"/>
                </a:solidFill>
              </a:rPr>
              <a:t>Útil para identificar sutilezas do especialista na tomada de decisões</a:t>
            </a:r>
          </a:p>
          <a:p>
            <a:r>
              <a:rPr lang="pt-BR" sz="2400" dirty="0">
                <a:solidFill>
                  <a:srgbClr val="800000"/>
                </a:solidFill>
              </a:rPr>
              <a:t>O sucesso depende dos casos escolhidos</a:t>
            </a:r>
          </a:p>
          <a:p>
            <a:r>
              <a:rPr lang="pt-BR" sz="2400" dirty="0">
                <a:solidFill>
                  <a:srgbClr val="000000"/>
                </a:solidFill>
              </a:rPr>
              <a:t>Provavelmente, o conhecimento obtido será </a:t>
            </a:r>
            <a:r>
              <a:rPr lang="pt-BR" sz="2400" dirty="0">
                <a:solidFill>
                  <a:srgbClr val="800000"/>
                </a:solidFill>
              </a:rPr>
              <a:t>insuficiente</a:t>
            </a:r>
          </a:p>
          <a:p>
            <a:pPr lvl="1"/>
            <a:r>
              <a:rPr lang="pt-BR" sz="2000" dirty="0">
                <a:solidFill>
                  <a:srgbClr val="800000"/>
                </a:solidFill>
              </a:rPr>
              <a:t>entrevistas podem ajudar</a:t>
            </a:r>
            <a:endParaRPr lang="en-US" sz="20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96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001344"/>
          </a:xfrm>
        </p:spPr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Entrevista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Questionário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Brainstorming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Rastreamento de Processo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Estudos de Caso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800000"/>
                </a:solidFill>
              </a:rPr>
              <a:t>Mapa Mental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Simulações e Protótipos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83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 Mental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Mapa mental é uma técnica de organização e memorização de pensamentos lógicos e ideias;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A técnica consiste em expandir palavras-chave relacionadas ao tema do centro para as laterais da página;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Cinco Etapas para a construção:</a:t>
            </a:r>
          </a:p>
          <a:p>
            <a:pPr marL="0" indent="0">
              <a:buNone/>
            </a:pPr>
            <a:r>
              <a:rPr lang="pt-BR" dirty="0">
                <a:solidFill>
                  <a:srgbClr val="000000"/>
                </a:solidFill>
              </a:rPr>
              <a:t>	</a:t>
            </a:r>
            <a:r>
              <a:rPr lang="pt-BR" sz="2600" dirty="0">
                <a:solidFill>
                  <a:srgbClr val="000000"/>
                </a:solidFill>
              </a:rPr>
              <a:t>1. Defina o tema principal</a:t>
            </a:r>
          </a:p>
          <a:p>
            <a:pPr marL="0" indent="0">
              <a:buNone/>
            </a:pPr>
            <a:r>
              <a:rPr lang="pt-BR" sz="2600" dirty="0">
                <a:solidFill>
                  <a:srgbClr val="000000"/>
                </a:solidFill>
              </a:rPr>
              <a:t>	2. Elenque os subtópicos principais</a:t>
            </a:r>
          </a:p>
          <a:p>
            <a:pPr marL="0" indent="0">
              <a:buNone/>
            </a:pPr>
            <a:r>
              <a:rPr lang="pt-BR" sz="2600" dirty="0">
                <a:solidFill>
                  <a:srgbClr val="000000"/>
                </a:solidFill>
              </a:rPr>
              <a:t>	3. Escreva os tópicos relacionados à cada subtópico</a:t>
            </a:r>
          </a:p>
          <a:p>
            <a:pPr marL="0" indent="0">
              <a:buNone/>
            </a:pPr>
            <a:r>
              <a:rPr lang="pt-BR" sz="2600" dirty="0">
                <a:solidFill>
                  <a:srgbClr val="000000"/>
                </a:solidFill>
              </a:rPr>
              <a:t>	4. Faça um desenho simples em cada palavra-chave principal</a:t>
            </a:r>
          </a:p>
          <a:p>
            <a:pPr marL="0" indent="0">
              <a:buNone/>
            </a:pPr>
            <a:r>
              <a:rPr lang="pt-BR" sz="2600" dirty="0">
                <a:solidFill>
                  <a:srgbClr val="000000"/>
                </a:solidFill>
              </a:rPr>
              <a:t>	5. Sequencie a ordem dos agrupamentos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14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 Mental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2AB214B-F940-D96D-FBCC-C25CE7800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2" y="1772816"/>
            <a:ext cx="8604956" cy="4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5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 Mental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m 5">
            <a:hlinkClick r:id="rId2"/>
            <a:extLst>
              <a:ext uri="{FF2B5EF4-FFF2-40B4-BE49-F238E27FC236}">
                <a16:creationId xmlns:a16="http://schemas.microsoft.com/office/drawing/2014/main" id="{23072DFD-9128-D4E6-BB12-0F904556A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2924944"/>
            <a:ext cx="1512168" cy="1512168"/>
          </a:xfrm>
          <a:prstGeom prst="rect">
            <a:avLst/>
          </a:prstGeom>
        </p:spPr>
      </p:pic>
      <p:pic>
        <p:nvPicPr>
          <p:cNvPr id="7" name="Imagem 6">
            <a:hlinkClick r:id="rId4"/>
            <a:extLst>
              <a:ext uri="{FF2B5EF4-FFF2-40B4-BE49-F238E27FC236}">
                <a16:creationId xmlns:a16="http://schemas.microsoft.com/office/drawing/2014/main" id="{EFD88D6C-BFED-EAE1-8128-21D72AB0E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3212976"/>
            <a:ext cx="28575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001344"/>
          </a:xfrm>
        </p:spPr>
        <p:txBody>
          <a:bodyPr>
            <a:normAutofit fontScale="85000" lnSpcReduction="20000"/>
          </a:bodyPr>
          <a:lstStyle/>
          <a:p>
            <a:r>
              <a:rPr lang="pt-BR" dirty="0">
                <a:solidFill>
                  <a:srgbClr val="000000"/>
                </a:solidFill>
              </a:rPr>
              <a:t>Entrevista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Questionário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Brainstorming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Rastreamento de Processo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Estudos de Caso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Mapa Mental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b="1" dirty="0">
                <a:solidFill>
                  <a:srgbClr val="800000"/>
                </a:solidFill>
              </a:rPr>
              <a:t>Simulações e Protótipos</a:t>
            </a:r>
            <a:endParaRPr lang="en-US" b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89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Simulações e Protótipos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Permitem que o especialista do domínio interaja diretamente com uma ferramenta automatizada para resolver um problema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000000"/>
                </a:solidFill>
              </a:rPr>
              <a:t>Simulações são muito familiares para a maioria das pessoas, pois elas permitem aos especialistas resolverem problemas em um ambiente bem próximo ao real, mas não tão complexo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4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Simulações e Protótipos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10" y="1844824"/>
            <a:ext cx="6803138" cy="5181600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O </a:t>
            </a:r>
            <a:r>
              <a:rPr lang="pt-BR" sz="2800" dirty="0" err="1">
                <a:solidFill>
                  <a:srgbClr val="000000"/>
                </a:solidFill>
              </a:rPr>
              <a:t>Figma</a:t>
            </a:r>
            <a:r>
              <a:rPr lang="pt-BR" sz="2800" dirty="0">
                <a:solidFill>
                  <a:srgbClr val="000000"/>
                </a:solidFill>
              </a:rPr>
              <a:t> é uma plataforma colaborativa para construção de design de interfaces e protótipos, pertencente a empresa </a:t>
            </a:r>
            <a:r>
              <a:rPr lang="pt-BR" sz="2800" dirty="0" err="1">
                <a:solidFill>
                  <a:srgbClr val="000000"/>
                </a:solidFill>
              </a:rPr>
              <a:t>Fima</a:t>
            </a:r>
            <a:r>
              <a:rPr lang="pt-BR" sz="2800" dirty="0">
                <a:solidFill>
                  <a:srgbClr val="000000"/>
                </a:solidFill>
              </a:rPr>
              <a:t>, Inc., lançada em 2016 por Dylan Field e Evan Wallace, com o objetivo de criar uma ferramenta gratuita que trouxesse colaboração entre pessoas e times, permitindo criar um produto para as mais diversas plataformas, mantendo a acessibilidade do sistema.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7BC30CE-27C0-48BD-945D-A2715783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19" y="2492896"/>
            <a:ext cx="1632181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1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Levantamento de Requisitos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Simulações e Protótipos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F54149E-16B8-481F-B012-ABDE58FFE7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92" b="9049"/>
          <a:stretch/>
        </p:blipFill>
        <p:spPr>
          <a:xfrm>
            <a:off x="683568" y="2060848"/>
            <a:ext cx="7452320" cy="387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Sugestão de aplicação das técnicas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929336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>
                <a:solidFill>
                  <a:srgbClr val="000000"/>
                </a:solidFill>
              </a:rPr>
              <a:t>Etapas Iniciais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Entrevista desestruturada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Questionário sim/não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Brainstorming</a:t>
            </a:r>
          </a:p>
          <a:p>
            <a:r>
              <a:rPr lang="pt-BR" b="1" dirty="0">
                <a:solidFill>
                  <a:srgbClr val="000000"/>
                </a:solidFill>
              </a:rPr>
              <a:t>Etapas Intermediárias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Entrevista estruturada</a:t>
            </a:r>
          </a:p>
          <a:p>
            <a:r>
              <a:rPr lang="pt-BR" b="1" dirty="0">
                <a:solidFill>
                  <a:srgbClr val="000000"/>
                </a:solidFill>
              </a:rPr>
              <a:t>Etapas Finais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Entrevista estruturada (questionários específicos)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Rastreamento de Processo</a:t>
            </a:r>
          </a:p>
          <a:p>
            <a:pPr lvl="2"/>
            <a:r>
              <a:rPr lang="pt-BR" dirty="0">
                <a:solidFill>
                  <a:srgbClr val="000000"/>
                </a:solidFill>
              </a:rPr>
              <a:t>Análise de Protocolos</a:t>
            </a:r>
          </a:p>
          <a:p>
            <a:pPr lvl="1"/>
            <a:r>
              <a:rPr lang="pt-BR" dirty="0">
                <a:solidFill>
                  <a:srgbClr val="000000"/>
                </a:solidFill>
              </a:rPr>
              <a:t>Simulações e Protótipos</a:t>
            </a:r>
          </a:p>
          <a:p>
            <a:pPr lvl="8"/>
            <a:endParaRPr lang="pt-BR" dirty="0">
              <a:solidFill>
                <a:srgbClr val="000000"/>
              </a:solidFill>
            </a:endParaRPr>
          </a:p>
          <a:p>
            <a:r>
              <a:rPr lang="pt-BR" dirty="0">
                <a:solidFill>
                  <a:srgbClr val="800000"/>
                </a:solidFill>
              </a:rPr>
              <a:t>Não existe a melhor técnica, mas sim a melhor a ser empregada em uma determinada situação</a:t>
            </a:r>
            <a:endParaRPr lang="en-US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31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Considerando o Projeto Integrado:</a:t>
            </a:r>
          </a:p>
          <a:p>
            <a:pPr lvl="1"/>
            <a:r>
              <a:rPr lang="pt-BR" sz="2400" dirty="0"/>
              <a:t>Elaborar o Mapa Mental</a:t>
            </a:r>
          </a:p>
          <a:p>
            <a:pPr lvl="1"/>
            <a:r>
              <a:rPr lang="pt-BR" sz="2400" dirty="0"/>
              <a:t>Elaborar um </a:t>
            </a:r>
            <a:r>
              <a:rPr lang="pt-BR" sz="2400" b="1" dirty="0">
                <a:solidFill>
                  <a:srgbClr val="800000"/>
                </a:solidFill>
              </a:rPr>
              <a:t>Questionário </a:t>
            </a:r>
            <a:r>
              <a:rPr lang="pt-BR" sz="2400" dirty="0"/>
              <a:t>para levantamento de requisitos do projeto Integrado, contendo:</a:t>
            </a:r>
          </a:p>
          <a:p>
            <a:pPr lvl="2"/>
            <a:r>
              <a:rPr lang="pt-BR" sz="2000" dirty="0"/>
              <a:t>No mínimo 10 perguntas</a:t>
            </a:r>
          </a:p>
          <a:p>
            <a:pPr lvl="2"/>
            <a:r>
              <a:rPr lang="pt-BR" sz="2000" dirty="0"/>
              <a:t>Precisa ter preguntas abertas e fechadas</a:t>
            </a:r>
          </a:p>
          <a:p>
            <a:pPr lvl="2"/>
            <a:r>
              <a:rPr lang="pt-BR" sz="2000" dirty="0"/>
              <a:t>Utilizar ferramenta eletrônica</a:t>
            </a:r>
          </a:p>
          <a:p>
            <a:pPr lvl="2"/>
            <a:r>
              <a:rPr lang="pt-BR" sz="2000" dirty="0"/>
              <a:t>Utilizar regras do questionário dos slides</a:t>
            </a:r>
          </a:p>
          <a:p>
            <a:pPr lvl="1"/>
            <a:r>
              <a:rPr lang="pt-BR" sz="2400" dirty="0"/>
              <a:t>Elaborar o Protótipo do Projeto</a:t>
            </a:r>
          </a:p>
          <a:p>
            <a:pPr lvl="1"/>
            <a:endParaRPr lang="pt-BR" sz="2400" dirty="0"/>
          </a:p>
          <a:p>
            <a:endParaRPr lang="pt-BR" sz="2800" dirty="0"/>
          </a:p>
          <a:p>
            <a:pPr lvl="1"/>
            <a:endParaRPr lang="pt-BR" sz="24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746" y="4833041"/>
            <a:ext cx="2261750" cy="133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26493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 BREITMAN, K. &amp; SAYÃO, M. Gerência de Requisitos. Apresentação do </a:t>
            </a:r>
            <a:r>
              <a:rPr lang="pt-BR" sz="2000" dirty="0" err="1"/>
              <a:t>Mini-Curso</a:t>
            </a:r>
            <a:r>
              <a:rPr lang="pt-BR" sz="2000" dirty="0"/>
              <a:t> no Simpósio Brasileiro de Engenharia de Software (SBES), out 2005.  </a:t>
            </a:r>
          </a:p>
          <a:p>
            <a:pPr lvl="5"/>
            <a:endParaRPr lang="pt-BR" sz="900" dirty="0"/>
          </a:p>
          <a:p>
            <a:r>
              <a:rPr lang="pt-BR" sz="2000" dirty="0"/>
              <a:t>IEEE </a:t>
            </a:r>
            <a:r>
              <a:rPr lang="pt-BR" sz="2000" dirty="0" err="1"/>
              <a:t>Std</a:t>
            </a:r>
            <a:r>
              <a:rPr lang="pt-BR" sz="2000" dirty="0"/>
              <a:t> 610.12. IEEE Standard </a:t>
            </a:r>
            <a:r>
              <a:rPr lang="pt-BR" sz="2000" dirty="0" err="1"/>
              <a:t>Glossary</a:t>
            </a:r>
            <a:r>
              <a:rPr lang="pt-BR" sz="2000" dirty="0"/>
              <a:t> </a:t>
            </a:r>
            <a:r>
              <a:rPr lang="pt-BR" sz="2000" dirty="0" err="1"/>
              <a:t>of</a:t>
            </a:r>
            <a:r>
              <a:rPr lang="pt-BR" sz="2000" dirty="0"/>
              <a:t> Software </a:t>
            </a:r>
            <a:r>
              <a:rPr lang="pt-BR" sz="2000" dirty="0" err="1"/>
              <a:t>Engineering</a:t>
            </a:r>
            <a:r>
              <a:rPr lang="pt-BR" sz="2000" dirty="0"/>
              <a:t> </a:t>
            </a:r>
            <a:r>
              <a:rPr lang="pt-BR" sz="2000" dirty="0" err="1"/>
              <a:t>Terminology</a:t>
            </a:r>
            <a:r>
              <a:rPr lang="pt-BR" sz="2000" dirty="0"/>
              <a:t> – </a:t>
            </a:r>
            <a:r>
              <a:rPr lang="pt-BR" sz="2000" dirty="0" err="1"/>
              <a:t>Description</a:t>
            </a:r>
            <a:r>
              <a:rPr lang="pt-BR" sz="2000" dirty="0"/>
              <a:t>, 1990.  </a:t>
            </a:r>
          </a:p>
          <a:p>
            <a:pPr lvl="5"/>
            <a:endParaRPr lang="pt-BR" sz="900" dirty="0"/>
          </a:p>
          <a:p>
            <a:pPr marL="1188720" lvl="5" indent="0">
              <a:buNone/>
            </a:pPr>
            <a:endParaRPr lang="pt-BR" sz="900" dirty="0"/>
          </a:p>
          <a:p>
            <a:r>
              <a:rPr lang="pt-BR" sz="2000" dirty="0"/>
              <a:t>SOMERVILLE, IAN. Engenharia de Software. 6ª edição. São Paulo: </a:t>
            </a:r>
            <a:r>
              <a:rPr lang="pt-BR" sz="2000" dirty="0" err="1"/>
              <a:t>AddisonWesley</a:t>
            </a:r>
            <a:r>
              <a:rPr lang="pt-BR" sz="2000" dirty="0"/>
              <a:t>, 2003.  </a:t>
            </a:r>
          </a:p>
          <a:p>
            <a:pPr lvl="5"/>
            <a:endParaRPr lang="pt-BR" sz="900" dirty="0"/>
          </a:p>
          <a:p>
            <a:r>
              <a:rPr lang="pt-BR" sz="2000" dirty="0"/>
              <a:t>TURINE, M. A. S. &amp; MASIERO, P. C. Especificação de Requisitos: Uma Introdução. Relatório Técnico do ICMC - nº 39, 1996.</a:t>
            </a:r>
          </a:p>
        </p:txBody>
      </p:sp>
    </p:spTree>
    <p:extLst>
      <p:ext uri="{BB962C8B-B14F-4D97-AF65-F5344CB8AC3E}">
        <p14:creationId xmlns:p14="http://schemas.microsoft.com/office/powerpoint/2010/main" val="26531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2987</Words>
  <Application>Microsoft Office PowerPoint</Application>
  <PresentationFormat>Apresentação na tela (4:3)</PresentationFormat>
  <Paragraphs>580</Paragraphs>
  <Slides>69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69</vt:i4>
      </vt:variant>
    </vt:vector>
  </HeadingPairs>
  <TitlesOfParts>
    <vt:vector size="73" baseType="lpstr">
      <vt:lpstr>Arial</vt:lpstr>
      <vt:lpstr>Calibri</vt:lpstr>
      <vt:lpstr>Times New Roman</vt:lpstr>
      <vt:lpstr>Tema do Office</vt:lpstr>
      <vt:lpstr>Engenharia de Requisitos de Software</vt:lpstr>
      <vt:lpstr>Tópicos</vt:lpstr>
      <vt:lpstr>Requisitos de Software Introdução</vt:lpstr>
      <vt:lpstr>Requisitos de Software Conceitos [1/3]</vt:lpstr>
      <vt:lpstr>Requisitos de Software Conceitos [2/3]</vt:lpstr>
      <vt:lpstr>Requisitos de Software Conceitos [2/3]</vt:lpstr>
      <vt:lpstr>Requisitos de Software Conceitos [3/3]</vt:lpstr>
      <vt:lpstr>Requisitos de Software Considerações [1/2]</vt:lpstr>
      <vt:lpstr>Requisitos de Software Considerações [2/2]</vt:lpstr>
      <vt:lpstr>Tipos de Requisitos Quanto às Classes de Organização [1/3]</vt:lpstr>
      <vt:lpstr>Tipos de Requisitos Quanto às Classes de Organização [2/3]</vt:lpstr>
      <vt:lpstr>Tipos de Requisitos Quanto às Classes de Organização [3/3]</vt:lpstr>
      <vt:lpstr>Tipos de Requisitos Quanto aos Níveis de Detalhes [1/5]</vt:lpstr>
      <vt:lpstr>Tipos de Requisitos Quanto aos Níveis de Detalhes [2/5]</vt:lpstr>
      <vt:lpstr>Tipos de Requisitos Quanto aos Níveis de Detalhes [3/5]</vt:lpstr>
      <vt:lpstr>Tipos de Requisitos Quanto aos Níveis de Detalhes [4/5]</vt:lpstr>
      <vt:lpstr>Tipos de Requisitos Quanto aos Níveis de Detalhes [5/5]</vt:lpstr>
      <vt:lpstr>Exercícios</vt:lpstr>
      <vt:lpstr>Tópicos</vt:lpstr>
      <vt:lpstr>Problemas com Requisitos </vt:lpstr>
      <vt:lpstr>Requisitos mal definidos [1/2]</vt:lpstr>
      <vt:lpstr>Requisitos mal definidos [2/2]</vt:lpstr>
      <vt:lpstr>Obtenção de Requisitos</vt:lpstr>
      <vt:lpstr>Obtenção de Requisitos Características do Engenheiro de Requisitos</vt:lpstr>
      <vt:lpstr>Obtenção de Requisitos Tentando levantar requisitos... [Dilbert – Scott Adams]</vt:lpstr>
      <vt:lpstr>Alguns meios de Coleta de Dados</vt:lpstr>
      <vt:lpstr>Levantamento de Requisitos Problemas</vt:lpstr>
      <vt:lpstr>Requisitos</vt:lpstr>
      <vt:lpstr>Levantamento de Requisitos</vt:lpstr>
      <vt:lpstr>Levantamento de Requisitos Algumas perguntas para o 1º encontro [1/3]</vt:lpstr>
      <vt:lpstr>Levantamento de Requisitos Algumas perguntas para o 1º encontro [2/3]</vt:lpstr>
      <vt:lpstr>Levantamento de Requisitos Algumas perguntas para o 1º encontro [3/3]</vt:lpstr>
      <vt:lpstr>Levantamento de Requisitos Técnicas</vt:lpstr>
      <vt:lpstr>Técnicas de Levantamento de Requisitos Entrevista [1/6]</vt:lpstr>
      <vt:lpstr>Técnicas de Levantamento de Requisitos Entrevista [2/6]</vt:lpstr>
      <vt:lpstr>Técnicas de Levantamento de Requisitos Entrevista [3/6]</vt:lpstr>
      <vt:lpstr>Técnicas de Levantamento de Requisitos Entrevista [4/6]</vt:lpstr>
      <vt:lpstr>Técnicas de Levantamento de Requisitos Entrevista [5/6]</vt:lpstr>
      <vt:lpstr>Técnicas de Levantamento de Requisitos Entrevista [6/6]</vt:lpstr>
      <vt:lpstr>Levantamento de Requisitos Técnicas</vt:lpstr>
      <vt:lpstr>Técnicas de Levantamento de Requisitos Questionário</vt:lpstr>
      <vt:lpstr>Questionário Montagem do Questionário [1/3]</vt:lpstr>
      <vt:lpstr>Questionário Montagem do Questionário [2/3]</vt:lpstr>
      <vt:lpstr>Questionário Montagem do Questionário [3/3]</vt:lpstr>
      <vt:lpstr>Boas Práticas Questionários</vt:lpstr>
      <vt:lpstr>Levantamento de Requisitos Técnicas</vt:lpstr>
      <vt:lpstr>Técnicas de Levantamento de Requisitos Brainstorming [1/3]</vt:lpstr>
      <vt:lpstr>Técnicas de Levantamento de Requisitos Brainstorming [2/3]</vt:lpstr>
      <vt:lpstr>Técnicas de Levantamento de Requisitos Brainstorming [3/3]</vt:lpstr>
      <vt:lpstr>Levantamento de Requisitos Técnicas</vt:lpstr>
      <vt:lpstr>Técnicas de Levantamento de Requisitos Rastreamento de Processo [1/2]</vt:lpstr>
      <vt:lpstr>Técnicas de Levantamento de Requisitos Rastreamento de Processo [2/2]</vt:lpstr>
      <vt:lpstr>Rastreamento de Processo Observação Direta [1/4]</vt:lpstr>
      <vt:lpstr>Rastreamento de Processo Observação Direta [2/4]</vt:lpstr>
      <vt:lpstr>Rastreamento de Processo Observação Direta [3/4]</vt:lpstr>
      <vt:lpstr>Rastreamento de Processo Observação Direta [4/4]</vt:lpstr>
      <vt:lpstr>Levantamento de Requisitos Técnicas</vt:lpstr>
      <vt:lpstr>Técnicas de Levantamento de Requisitos Estudos de Casos</vt:lpstr>
      <vt:lpstr>Levantamento de Requisitos Técnicas</vt:lpstr>
      <vt:lpstr>Técnicas de Levantamento de Requisitos Mapa Mental</vt:lpstr>
      <vt:lpstr>Técnicas de Levantamento de Requisitos Mapa Mental</vt:lpstr>
      <vt:lpstr>Técnicas de Levantamento de Requisitos Mapa Mental</vt:lpstr>
      <vt:lpstr>Levantamento de Requisitos Técnicas</vt:lpstr>
      <vt:lpstr>Técnicas de Levantamento de Requisitos Simulações e Protótipos</vt:lpstr>
      <vt:lpstr>Técnicas de Levantamento de Requisitos Simulações e Protótipos</vt:lpstr>
      <vt:lpstr>Técnicas de Levantamento de Requisitos Simulações e Protótipos</vt:lpstr>
      <vt:lpstr>Sugestão de aplicação das técnicas</vt:lpstr>
      <vt:lpstr>Exercício</vt:lpstr>
      <vt:lpstr>Bibliografia</vt:lpstr>
    </vt:vector>
  </TitlesOfParts>
  <Company>Toledo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Marketing</dc:creator>
  <cp:lastModifiedBy>Alisson Augusto Carnelos Kuhn</cp:lastModifiedBy>
  <cp:revision>66</cp:revision>
  <cp:lastPrinted>2019-02-04T23:43:47Z</cp:lastPrinted>
  <dcterms:created xsi:type="dcterms:W3CDTF">2014-09-02T19:41:53Z</dcterms:created>
  <dcterms:modified xsi:type="dcterms:W3CDTF">2025-03-14T00:38:11Z</dcterms:modified>
</cp:coreProperties>
</file>