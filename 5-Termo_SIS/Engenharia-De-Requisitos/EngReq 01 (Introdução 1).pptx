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342" r:id="rId3"/>
    <p:sldId id="343" r:id="rId4"/>
    <p:sldId id="368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72" r:id="rId14"/>
    <p:sldId id="354" r:id="rId15"/>
    <p:sldId id="353" r:id="rId16"/>
    <p:sldId id="373" r:id="rId17"/>
    <p:sldId id="355" r:id="rId18"/>
    <p:sldId id="356" r:id="rId19"/>
    <p:sldId id="357" r:id="rId20"/>
    <p:sldId id="358" r:id="rId21"/>
    <p:sldId id="359" r:id="rId22"/>
    <p:sldId id="360" r:id="rId23"/>
    <p:sldId id="361" r:id="rId24"/>
    <p:sldId id="374" r:id="rId25"/>
    <p:sldId id="362" r:id="rId26"/>
    <p:sldId id="363" r:id="rId27"/>
    <p:sldId id="364" r:id="rId28"/>
    <p:sldId id="365" r:id="rId29"/>
    <p:sldId id="369" r:id="rId30"/>
    <p:sldId id="370" r:id="rId31"/>
    <p:sldId id="367" r:id="rId32"/>
  </p:sldIdLst>
  <p:sldSz cx="9144000" cy="6858000" type="screen4x3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57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5C1B9D3F-8C19-4D41-8187-1A6513CFFE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242090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610605C-D84B-4E0C-87ED-4E41307C9F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07851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0605C-D84B-4E0C-87ED-4E41307C9F3D}" type="slidenum">
              <a:rPr lang="pt-BR" smtClean="0"/>
              <a:t>2</a:t>
            </a:fld>
            <a:endParaRPr lang="pt-BR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E632E5-14A2-4914-B497-76E0C0D47F6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843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Conceitos Básicos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637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Conceitos Básicos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70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Conceitos Básicos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088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Conceitos Básicos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2519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Conceitos Básicos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853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Conceitos Básicos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0573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Conceitos Básicos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535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Conceitos Básicos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2829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Conceitos Básicos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7966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Conceitos Básicos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4237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Conceitos Básicos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8684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1">
          <a:blip r:embed="rId2">
            <a:alphaModFix amt="5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5181600"/>
          </a:xfrm>
        </p:spPr>
        <p:txBody>
          <a:bodyPr/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Conceitos Básicos</a:t>
            </a:r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E77A9-F174-486D-9A9E-45188F58CBA6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6" name="Picture 5" descr="magnify_question_mark_800_clr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3429000"/>
            <a:ext cx="609600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257300" y="1041400"/>
            <a:ext cx="184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3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00" decel="100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900" decel="100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7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7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7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Conceitos Básicos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499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576" y="836712"/>
            <a:ext cx="7772400" cy="1470025"/>
          </a:xfrm>
        </p:spPr>
        <p:txBody>
          <a:bodyPr/>
          <a:lstStyle/>
          <a:p>
            <a:r>
              <a:rPr lang="pt-BR" dirty="0"/>
              <a:t>Engenharia de Requisitos de Software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Alisson Kuhn</a:t>
            </a:r>
          </a:p>
          <a:p>
            <a:r>
              <a:rPr lang="pt-BR" sz="2400" dirty="0"/>
              <a:t>alissonkuhn@hotmail.com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8399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Tópicos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Conceitos Básicos</a:t>
            </a:r>
          </a:p>
          <a:p>
            <a:pPr marL="1050925" lvl="4" indent="0">
              <a:buNone/>
            </a:pPr>
            <a:endParaRPr lang="pt-BR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Características do Software</a:t>
            </a:r>
          </a:p>
          <a:p>
            <a:pPr lvl="3"/>
            <a:endParaRPr lang="pt-BR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Evolução do Software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Conceitos básicos necessários para Engenharia de Software</a:t>
            </a:r>
          </a:p>
        </p:txBody>
      </p:sp>
    </p:spTree>
    <p:extLst>
      <p:ext uri="{BB962C8B-B14F-4D97-AF65-F5344CB8AC3E}">
        <p14:creationId xmlns:p14="http://schemas.microsoft.com/office/powerpoint/2010/main" val="1816293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é um Software?</a:t>
            </a:r>
          </a:p>
          <a:p>
            <a:endParaRPr lang="pt-BR" dirty="0"/>
          </a:p>
          <a:p>
            <a:r>
              <a:rPr lang="pt-BR" dirty="0"/>
              <a:t>Software = Programa?</a:t>
            </a:r>
          </a:p>
          <a:p>
            <a:pPr lvl="1"/>
            <a:r>
              <a:rPr lang="pt-BR" dirty="0"/>
              <a:t>Não.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Software</a:t>
            </a:r>
          </a:p>
        </p:txBody>
      </p:sp>
    </p:spTree>
    <p:extLst>
      <p:ext uri="{BB962C8B-B14F-4D97-AF65-F5344CB8AC3E}">
        <p14:creationId xmlns:p14="http://schemas.microsoft.com/office/powerpoint/2010/main" val="256356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Software</a:t>
            </a:r>
            <a:br>
              <a:rPr lang="pt-BR"/>
            </a:br>
            <a:r>
              <a:rPr lang="pt-BR" sz="3100"/>
              <a:t>Definição</a:t>
            </a:r>
            <a:endParaRPr lang="pt-BR" sz="440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/>
              <a:t>Instruções</a:t>
            </a:r>
          </a:p>
          <a:p>
            <a:pPr lvl="1" eaLnBrk="1" hangingPunct="1"/>
            <a:r>
              <a:rPr lang="pt-BR"/>
              <a:t>que quando executadas produzem a função e o desempenho desejados</a:t>
            </a:r>
          </a:p>
          <a:p>
            <a:pPr lvl="2" eaLnBrk="1" hangingPunct="1"/>
            <a:endParaRPr lang="pt-BR"/>
          </a:p>
          <a:p>
            <a:pPr eaLnBrk="1" hangingPunct="1"/>
            <a:r>
              <a:rPr lang="pt-BR"/>
              <a:t>Estruturas de dados</a:t>
            </a:r>
          </a:p>
          <a:p>
            <a:pPr lvl="1" eaLnBrk="1" hangingPunct="1"/>
            <a:r>
              <a:rPr lang="pt-BR"/>
              <a:t>que possibilitam que os programas manipulem adequadamente a informação</a:t>
            </a:r>
          </a:p>
          <a:p>
            <a:pPr lvl="2" eaLnBrk="1" hangingPunct="1"/>
            <a:endParaRPr lang="pt-BR"/>
          </a:p>
          <a:p>
            <a:pPr eaLnBrk="1" hangingPunct="1"/>
            <a:r>
              <a:rPr lang="en-US"/>
              <a:t>Documentos</a:t>
            </a:r>
          </a:p>
          <a:p>
            <a:pPr lvl="1" eaLnBrk="1" hangingPunct="1"/>
            <a:r>
              <a:rPr lang="en-US"/>
              <a:t>que </a:t>
            </a:r>
            <a:r>
              <a:rPr lang="pt-BR"/>
              <a:t>descrevem a operação e o uso dos programas</a:t>
            </a:r>
          </a:p>
          <a:p>
            <a:pPr lvl="2" eaLnBrk="1" hangingPunct="1"/>
            <a:endParaRPr lang="pt-BR"/>
          </a:p>
          <a:p>
            <a:pPr marL="822325" lvl="3" indent="0" algn="r" eaLnBrk="1" hangingPunct="1">
              <a:buNone/>
            </a:pPr>
            <a:r>
              <a:rPr lang="pt-BR"/>
              <a:t>Pressman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750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SIBC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/>
              <a:t>Sistema de Informação Baseado em Computador </a:t>
            </a:r>
            <a:r>
              <a:rPr lang="pt-BR" sz="2200" dirty="0"/>
              <a:t>[1/8]</a:t>
            </a:r>
            <a:endParaRPr lang="pt-BR" sz="31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2971800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Um </a:t>
            </a:r>
            <a:r>
              <a:rPr lang="pt-BR" i="1" dirty="0"/>
              <a:t>SIBC</a:t>
            </a:r>
            <a:r>
              <a:rPr lang="pt-BR" dirty="0"/>
              <a:t> é parte integrante do sistema de uma empresa...</a:t>
            </a:r>
          </a:p>
          <a:p>
            <a:endParaRPr lang="pt-BR" dirty="0"/>
          </a:p>
          <a:p>
            <a:r>
              <a:rPr lang="pt-BR" dirty="0"/>
              <a:t>Qual a finalidade de um </a:t>
            </a:r>
            <a:r>
              <a:rPr lang="pt-BR" i="1" dirty="0"/>
              <a:t>SIBC</a:t>
            </a:r>
            <a:r>
              <a:rPr lang="pt-BR" dirty="0"/>
              <a:t>?</a:t>
            </a:r>
          </a:p>
          <a:p>
            <a:endParaRPr lang="pt-BR" dirty="0"/>
          </a:p>
          <a:p>
            <a:r>
              <a:rPr lang="pt-BR" dirty="0"/>
              <a:t>Quais são os elementos de um </a:t>
            </a:r>
            <a:r>
              <a:rPr lang="pt-BR" i="1" dirty="0"/>
              <a:t>SIBC</a:t>
            </a:r>
            <a:r>
              <a:rPr lang="pt-B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17060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SIBC</a:t>
            </a:r>
            <a:br>
              <a:rPr lang="pt-B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/>
              <a:t>Sistema de Informação Baseado em Computador </a:t>
            </a:r>
            <a:r>
              <a:rPr lang="pt-BR" sz="2200"/>
              <a:t>[2/8]</a:t>
            </a: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524000"/>
          </a:xfrm>
        </p:spPr>
        <p:txBody>
          <a:bodyPr anchor="t">
            <a:normAutofit fontScale="85000" lnSpcReduction="20000"/>
          </a:bodyPr>
          <a:lstStyle/>
          <a:p>
            <a:pPr marL="0" indent="0">
              <a:buFont typeface="Arial" charset="0"/>
              <a:buNone/>
            </a:pPr>
            <a:r>
              <a:rPr lang="pt-BR"/>
              <a:t>“Conjunto ou disposição de </a:t>
            </a:r>
            <a:r>
              <a:rPr lang="pt-BR" b="1"/>
              <a:t>elementos</a:t>
            </a:r>
            <a:r>
              <a:rPr lang="pt-BR"/>
              <a:t>, organizado    para </a:t>
            </a:r>
            <a:r>
              <a:rPr lang="pt-BR" b="1"/>
              <a:t>executar  certo método,  procedimento ou controle ao  processar informações</a:t>
            </a:r>
            <a:r>
              <a:rPr lang="pt-BR"/>
              <a:t>”</a:t>
            </a:r>
          </a:p>
          <a:p>
            <a:pPr marL="273050" lvl="1" indent="0" algn="r">
              <a:buFont typeface="Arial" charset="0"/>
              <a:buNone/>
            </a:pPr>
            <a:r>
              <a:rPr lang="pt-BR"/>
              <a:t>Pressman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152400" y="2743200"/>
            <a:ext cx="8763000" cy="3962400"/>
            <a:chOff x="152400" y="2743200"/>
            <a:chExt cx="8763000" cy="3962400"/>
          </a:xfrm>
        </p:grpSpPr>
        <p:pic>
          <p:nvPicPr>
            <p:cNvPr id="1029" name="Picture 5" descr="D:\Documentos\Imagens\_Aulas\SIBC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2099" y="2743200"/>
              <a:ext cx="5981701" cy="39624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AutoShape 148"/>
            <p:cNvSpPr>
              <a:spLocks noChangeArrowheads="1"/>
            </p:cNvSpPr>
            <p:nvPr/>
          </p:nvSpPr>
          <p:spPr bwMode="auto">
            <a:xfrm>
              <a:off x="7637462" y="4419600"/>
              <a:ext cx="1277938" cy="609600"/>
            </a:xfrm>
            <a:custGeom>
              <a:avLst/>
              <a:gdLst>
                <a:gd name="T0" fmla="*/ 7258050 w 21600"/>
                <a:gd name="T1" fmla="*/ 0 h 21600"/>
                <a:gd name="T2" fmla="*/ 0 w 21600"/>
                <a:gd name="T3" fmla="*/ 8602134 h 21600"/>
                <a:gd name="T4" fmla="*/ 7258050 w 21600"/>
                <a:gd name="T5" fmla="*/ 17204267 h 21600"/>
                <a:gd name="T6" fmla="*/ 9677399 w 21600"/>
                <a:gd name="T7" fmla="*/ 860213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pt-BR">
                  <a:latin typeface="+mj-lt"/>
                </a:rPr>
                <a:t>Saída</a:t>
              </a:r>
            </a:p>
          </p:txBody>
        </p:sp>
        <p:sp>
          <p:nvSpPr>
            <p:cNvPr id="33" name="AutoShape 149"/>
            <p:cNvSpPr>
              <a:spLocks noChangeArrowheads="1"/>
            </p:cNvSpPr>
            <p:nvPr/>
          </p:nvSpPr>
          <p:spPr bwMode="auto">
            <a:xfrm>
              <a:off x="152400" y="4419600"/>
              <a:ext cx="1277938" cy="609600"/>
            </a:xfrm>
            <a:custGeom>
              <a:avLst/>
              <a:gdLst>
                <a:gd name="T0" fmla="*/ 7258050 w 21600"/>
                <a:gd name="T1" fmla="*/ 0 h 21600"/>
                <a:gd name="T2" fmla="*/ 0 w 21600"/>
                <a:gd name="T3" fmla="*/ 8602134 h 21600"/>
                <a:gd name="T4" fmla="*/ 7258050 w 21600"/>
                <a:gd name="T5" fmla="*/ 17204267 h 21600"/>
                <a:gd name="T6" fmla="*/ 9677399 w 21600"/>
                <a:gd name="T7" fmla="*/ 860213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pt-BR">
                  <a:latin typeface="+mj-lt"/>
                </a:rPr>
                <a:t>Entrada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4882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o 53"/>
          <p:cNvGrpSpPr/>
          <p:nvPr/>
        </p:nvGrpSpPr>
        <p:grpSpPr>
          <a:xfrm>
            <a:off x="152400" y="2743200"/>
            <a:ext cx="8763000" cy="3962400"/>
            <a:chOff x="152400" y="2743200"/>
            <a:chExt cx="8763000" cy="3962400"/>
          </a:xfrm>
        </p:grpSpPr>
        <p:pic>
          <p:nvPicPr>
            <p:cNvPr id="55" name="Picture 5" descr="D:\Documentos\Imagens\_Aulas\SIBC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2099" y="2743200"/>
              <a:ext cx="5981701" cy="39624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AutoShape 148"/>
            <p:cNvSpPr>
              <a:spLocks noChangeArrowheads="1"/>
            </p:cNvSpPr>
            <p:nvPr/>
          </p:nvSpPr>
          <p:spPr bwMode="auto">
            <a:xfrm>
              <a:off x="7637462" y="4419600"/>
              <a:ext cx="1277938" cy="609600"/>
            </a:xfrm>
            <a:custGeom>
              <a:avLst/>
              <a:gdLst>
                <a:gd name="T0" fmla="*/ 7258050 w 21600"/>
                <a:gd name="T1" fmla="*/ 0 h 21600"/>
                <a:gd name="T2" fmla="*/ 0 w 21600"/>
                <a:gd name="T3" fmla="*/ 8602134 h 21600"/>
                <a:gd name="T4" fmla="*/ 7258050 w 21600"/>
                <a:gd name="T5" fmla="*/ 17204267 h 21600"/>
                <a:gd name="T6" fmla="*/ 9677399 w 21600"/>
                <a:gd name="T7" fmla="*/ 860213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pt-BR">
                  <a:latin typeface="+mj-lt"/>
                </a:rPr>
                <a:t>Saída</a:t>
              </a:r>
            </a:p>
          </p:txBody>
        </p:sp>
        <p:sp>
          <p:nvSpPr>
            <p:cNvPr id="57" name="AutoShape 149"/>
            <p:cNvSpPr>
              <a:spLocks noChangeArrowheads="1"/>
            </p:cNvSpPr>
            <p:nvPr/>
          </p:nvSpPr>
          <p:spPr bwMode="auto">
            <a:xfrm>
              <a:off x="152400" y="4419600"/>
              <a:ext cx="1277938" cy="609600"/>
            </a:xfrm>
            <a:custGeom>
              <a:avLst/>
              <a:gdLst>
                <a:gd name="T0" fmla="*/ 7258050 w 21600"/>
                <a:gd name="T1" fmla="*/ 0 h 21600"/>
                <a:gd name="T2" fmla="*/ 0 w 21600"/>
                <a:gd name="T3" fmla="*/ 8602134 h 21600"/>
                <a:gd name="T4" fmla="*/ 7258050 w 21600"/>
                <a:gd name="T5" fmla="*/ 17204267 h 21600"/>
                <a:gd name="T6" fmla="*/ 9677399 w 21600"/>
                <a:gd name="T7" fmla="*/ 860213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pt-BR">
                  <a:latin typeface="+mj-lt"/>
                </a:rPr>
                <a:t>Entrada</a:t>
              </a: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SIBC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/>
              <a:t>Sistema de Informação Baseado em Computador </a:t>
            </a:r>
            <a:r>
              <a:rPr lang="pt-BR" sz="2200" dirty="0"/>
              <a:t>[3/8]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524000"/>
          </a:xfrm>
        </p:spPr>
        <p:txBody>
          <a:bodyPr anchor="t"/>
          <a:lstStyle/>
          <a:p>
            <a:r>
              <a:rPr lang="pt-BR"/>
              <a:t>Elementos:</a:t>
            </a:r>
          </a:p>
        </p:txBody>
      </p:sp>
      <p:sp>
        <p:nvSpPr>
          <p:cNvPr id="3" name="Texto explicativo retangular com cantos arredondados 2"/>
          <p:cNvSpPr/>
          <p:nvPr/>
        </p:nvSpPr>
        <p:spPr>
          <a:xfrm>
            <a:off x="4552949" y="1905000"/>
            <a:ext cx="4047331" cy="2173288"/>
          </a:xfrm>
          <a:prstGeom prst="wedgeRoundRectCallout">
            <a:avLst>
              <a:gd name="adj1" fmla="val -8477"/>
              <a:gd name="adj2" fmla="val 95783"/>
              <a:gd name="adj3" fmla="val 16667"/>
            </a:avLst>
          </a:prstGeom>
          <a:solidFill>
            <a:schemeClr val="bg2">
              <a:lumMod val="90000"/>
              <a:alpha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>
                <a:solidFill>
                  <a:schemeClr val="tx1"/>
                </a:solidFill>
              </a:rPr>
              <a:t>Programas de computador</a:t>
            </a:r>
            <a:r>
              <a:rPr lang="pt-BR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pt-BR" u="sng">
                <a:solidFill>
                  <a:schemeClr val="tx1"/>
                </a:solidFill>
              </a:rPr>
              <a:t>estruturas de dados</a:t>
            </a:r>
            <a:r>
              <a:rPr lang="pt-BR">
                <a:solidFill>
                  <a:schemeClr val="tx1"/>
                </a:solidFill>
              </a:rPr>
              <a:t> e</a:t>
            </a:r>
          </a:p>
          <a:p>
            <a:pPr algn="ctr"/>
            <a:r>
              <a:rPr lang="pt-BR" u="sng">
                <a:solidFill>
                  <a:schemeClr val="tx1"/>
                </a:solidFill>
              </a:rPr>
              <a:t>documentação</a:t>
            </a:r>
            <a:r>
              <a:rPr lang="pt-BR">
                <a:solidFill>
                  <a:schemeClr val="tx1"/>
                </a:solidFill>
              </a:rPr>
              <a:t> correlata que</a:t>
            </a:r>
          </a:p>
          <a:p>
            <a:pPr algn="ctr"/>
            <a:r>
              <a:rPr lang="pt-BR">
                <a:solidFill>
                  <a:schemeClr val="tx1"/>
                </a:solidFill>
              </a:rPr>
              <a:t>servem para efetivar o</a:t>
            </a:r>
          </a:p>
          <a:p>
            <a:pPr algn="ctr"/>
            <a:r>
              <a:rPr lang="pt-BR">
                <a:solidFill>
                  <a:schemeClr val="tx1"/>
                </a:solidFill>
              </a:rPr>
              <a:t>método, processo ou controle</a:t>
            </a:r>
          </a:p>
          <a:p>
            <a:pPr algn="ctr"/>
            <a:r>
              <a:rPr lang="pt-BR">
                <a:solidFill>
                  <a:schemeClr val="tx1"/>
                </a:solidFill>
              </a:rPr>
              <a:t>lógico necessário.</a:t>
            </a:r>
          </a:p>
        </p:txBody>
      </p:sp>
    </p:spTree>
    <p:extLst>
      <p:ext uri="{BB962C8B-B14F-4D97-AF65-F5344CB8AC3E}">
        <p14:creationId xmlns:p14="http://schemas.microsoft.com/office/powerpoint/2010/main" val="1306598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o 53"/>
          <p:cNvGrpSpPr/>
          <p:nvPr/>
        </p:nvGrpSpPr>
        <p:grpSpPr>
          <a:xfrm>
            <a:off x="152400" y="2743200"/>
            <a:ext cx="8763000" cy="3962400"/>
            <a:chOff x="152400" y="2743200"/>
            <a:chExt cx="8763000" cy="3962400"/>
          </a:xfrm>
        </p:grpSpPr>
        <p:pic>
          <p:nvPicPr>
            <p:cNvPr id="55" name="Picture 5" descr="D:\Documentos\Imagens\_Aulas\SIBC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2099" y="2743200"/>
              <a:ext cx="5981701" cy="39624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AutoShape 148"/>
            <p:cNvSpPr>
              <a:spLocks noChangeArrowheads="1"/>
            </p:cNvSpPr>
            <p:nvPr/>
          </p:nvSpPr>
          <p:spPr bwMode="auto">
            <a:xfrm>
              <a:off x="7637462" y="4419600"/>
              <a:ext cx="1277938" cy="609600"/>
            </a:xfrm>
            <a:custGeom>
              <a:avLst/>
              <a:gdLst>
                <a:gd name="T0" fmla="*/ 7258050 w 21600"/>
                <a:gd name="T1" fmla="*/ 0 h 21600"/>
                <a:gd name="T2" fmla="*/ 0 w 21600"/>
                <a:gd name="T3" fmla="*/ 8602134 h 21600"/>
                <a:gd name="T4" fmla="*/ 7258050 w 21600"/>
                <a:gd name="T5" fmla="*/ 17204267 h 21600"/>
                <a:gd name="T6" fmla="*/ 9677399 w 21600"/>
                <a:gd name="T7" fmla="*/ 860213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pt-BR">
                  <a:latin typeface="+mj-lt"/>
                </a:rPr>
                <a:t>Saída</a:t>
              </a:r>
            </a:p>
          </p:txBody>
        </p:sp>
        <p:sp>
          <p:nvSpPr>
            <p:cNvPr id="57" name="AutoShape 149"/>
            <p:cNvSpPr>
              <a:spLocks noChangeArrowheads="1"/>
            </p:cNvSpPr>
            <p:nvPr/>
          </p:nvSpPr>
          <p:spPr bwMode="auto">
            <a:xfrm>
              <a:off x="152400" y="4419600"/>
              <a:ext cx="1277938" cy="609600"/>
            </a:xfrm>
            <a:custGeom>
              <a:avLst/>
              <a:gdLst>
                <a:gd name="T0" fmla="*/ 7258050 w 21600"/>
                <a:gd name="T1" fmla="*/ 0 h 21600"/>
                <a:gd name="T2" fmla="*/ 0 w 21600"/>
                <a:gd name="T3" fmla="*/ 8602134 h 21600"/>
                <a:gd name="T4" fmla="*/ 7258050 w 21600"/>
                <a:gd name="T5" fmla="*/ 17204267 h 21600"/>
                <a:gd name="T6" fmla="*/ 9677399 w 21600"/>
                <a:gd name="T7" fmla="*/ 860213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pt-BR">
                  <a:latin typeface="+mj-lt"/>
                </a:rPr>
                <a:t>Entrada</a:t>
              </a: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SIBC</a:t>
            </a:r>
            <a:br>
              <a:rPr lang="pt-B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/>
              <a:t>Sistema de Informação Baseado em Computador </a:t>
            </a:r>
            <a:r>
              <a:rPr lang="pt-BR" sz="2200"/>
              <a:t>[4/8]</a:t>
            </a: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524000"/>
          </a:xfrm>
        </p:spPr>
        <p:txBody>
          <a:bodyPr anchor="t"/>
          <a:lstStyle/>
          <a:p>
            <a:r>
              <a:rPr lang="pt-BR"/>
              <a:t>Elementos:</a:t>
            </a:r>
          </a:p>
        </p:txBody>
      </p:sp>
      <p:sp>
        <p:nvSpPr>
          <p:cNvPr id="3" name="Texto explicativo retangular com cantos arredondados 2"/>
          <p:cNvSpPr/>
          <p:nvPr/>
        </p:nvSpPr>
        <p:spPr>
          <a:xfrm>
            <a:off x="1295400" y="2210546"/>
            <a:ext cx="4047331" cy="2173288"/>
          </a:xfrm>
          <a:prstGeom prst="wedgeRoundRectCallout">
            <a:avLst>
              <a:gd name="adj1" fmla="val 58627"/>
              <a:gd name="adj2" fmla="val 32357"/>
              <a:gd name="adj3" fmla="val 16667"/>
            </a:avLst>
          </a:prstGeom>
          <a:solidFill>
            <a:schemeClr val="bg2">
              <a:lumMod val="90000"/>
              <a:alpha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>
                <a:solidFill>
                  <a:schemeClr val="tx1"/>
                </a:solidFill>
              </a:rPr>
              <a:t>Dispositivos eletrônicos</a:t>
            </a:r>
            <a:r>
              <a:rPr lang="pt-BR">
                <a:solidFill>
                  <a:schemeClr val="tx1"/>
                </a:solidFill>
              </a:rPr>
              <a:t> que</a:t>
            </a:r>
          </a:p>
          <a:p>
            <a:pPr algn="ctr"/>
            <a:r>
              <a:rPr lang="pt-BR">
                <a:solidFill>
                  <a:schemeClr val="tx1"/>
                </a:solidFill>
              </a:rPr>
              <a:t>fornecem capacidade ao</a:t>
            </a:r>
          </a:p>
          <a:p>
            <a:pPr algn="ctr"/>
            <a:r>
              <a:rPr lang="pt-BR">
                <a:solidFill>
                  <a:schemeClr val="tx1"/>
                </a:solidFill>
              </a:rPr>
              <a:t>computador, e </a:t>
            </a:r>
            <a:r>
              <a:rPr lang="pt-BR" u="sng">
                <a:solidFill>
                  <a:schemeClr val="tx1"/>
                </a:solidFill>
              </a:rPr>
              <a:t>dispositivos</a:t>
            </a:r>
          </a:p>
          <a:p>
            <a:pPr algn="ctr"/>
            <a:r>
              <a:rPr lang="pt-BR" u="sng">
                <a:solidFill>
                  <a:schemeClr val="tx1"/>
                </a:solidFill>
              </a:rPr>
              <a:t>eletromecânicos</a:t>
            </a:r>
            <a:r>
              <a:rPr lang="pt-BR">
                <a:solidFill>
                  <a:schemeClr val="tx1"/>
                </a:solidFill>
              </a:rPr>
              <a:t> que</a:t>
            </a:r>
          </a:p>
          <a:p>
            <a:pPr algn="ctr"/>
            <a:r>
              <a:rPr lang="pt-BR">
                <a:solidFill>
                  <a:schemeClr val="tx1"/>
                </a:solidFill>
              </a:rPr>
              <a:t>oferecem funções ao mundo</a:t>
            </a:r>
          </a:p>
          <a:p>
            <a:pPr algn="ctr"/>
            <a:r>
              <a:rPr lang="pt-BR">
                <a:solidFill>
                  <a:schemeClr val="tx1"/>
                </a:solidFill>
              </a:rPr>
              <a:t>externo.</a:t>
            </a:r>
          </a:p>
        </p:txBody>
      </p:sp>
    </p:spTree>
    <p:extLst>
      <p:ext uri="{BB962C8B-B14F-4D97-AF65-F5344CB8AC3E}">
        <p14:creationId xmlns:p14="http://schemas.microsoft.com/office/powerpoint/2010/main" val="3135769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o 53"/>
          <p:cNvGrpSpPr/>
          <p:nvPr/>
        </p:nvGrpSpPr>
        <p:grpSpPr>
          <a:xfrm>
            <a:off x="152400" y="2743200"/>
            <a:ext cx="8763000" cy="3962400"/>
            <a:chOff x="152400" y="2743200"/>
            <a:chExt cx="8763000" cy="3962400"/>
          </a:xfrm>
        </p:grpSpPr>
        <p:pic>
          <p:nvPicPr>
            <p:cNvPr id="55" name="Picture 5" descr="D:\Documentos\Imagens\_Aulas\SIBC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2099" y="2743200"/>
              <a:ext cx="5981701" cy="39624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AutoShape 148"/>
            <p:cNvSpPr>
              <a:spLocks noChangeArrowheads="1"/>
            </p:cNvSpPr>
            <p:nvPr/>
          </p:nvSpPr>
          <p:spPr bwMode="auto">
            <a:xfrm>
              <a:off x="7637462" y="4419600"/>
              <a:ext cx="1277938" cy="609600"/>
            </a:xfrm>
            <a:custGeom>
              <a:avLst/>
              <a:gdLst>
                <a:gd name="T0" fmla="*/ 7258050 w 21600"/>
                <a:gd name="T1" fmla="*/ 0 h 21600"/>
                <a:gd name="T2" fmla="*/ 0 w 21600"/>
                <a:gd name="T3" fmla="*/ 8602134 h 21600"/>
                <a:gd name="T4" fmla="*/ 7258050 w 21600"/>
                <a:gd name="T5" fmla="*/ 17204267 h 21600"/>
                <a:gd name="T6" fmla="*/ 9677399 w 21600"/>
                <a:gd name="T7" fmla="*/ 860213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pt-BR">
                  <a:latin typeface="+mj-lt"/>
                </a:rPr>
                <a:t>Saída</a:t>
              </a:r>
            </a:p>
          </p:txBody>
        </p:sp>
        <p:sp>
          <p:nvSpPr>
            <p:cNvPr id="57" name="AutoShape 149"/>
            <p:cNvSpPr>
              <a:spLocks noChangeArrowheads="1"/>
            </p:cNvSpPr>
            <p:nvPr/>
          </p:nvSpPr>
          <p:spPr bwMode="auto">
            <a:xfrm>
              <a:off x="152400" y="4419600"/>
              <a:ext cx="1277938" cy="609600"/>
            </a:xfrm>
            <a:custGeom>
              <a:avLst/>
              <a:gdLst>
                <a:gd name="T0" fmla="*/ 7258050 w 21600"/>
                <a:gd name="T1" fmla="*/ 0 h 21600"/>
                <a:gd name="T2" fmla="*/ 0 w 21600"/>
                <a:gd name="T3" fmla="*/ 8602134 h 21600"/>
                <a:gd name="T4" fmla="*/ 7258050 w 21600"/>
                <a:gd name="T5" fmla="*/ 17204267 h 21600"/>
                <a:gd name="T6" fmla="*/ 9677399 w 21600"/>
                <a:gd name="T7" fmla="*/ 860213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pt-BR">
                  <a:latin typeface="+mj-lt"/>
                </a:rPr>
                <a:t>Entrada</a:t>
              </a: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SIBC</a:t>
            </a:r>
            <a:br>
              <a:rPr lang="pt-B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/>
              <a:t>Sistema de Informação Baseado em Computador </a:t>
            </a:r>
            <a:r>
              <a:rPr lang="pt-BR" sz="2200"/>
              <a:t>[5/8]</a:t>
            </a: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524000"/>
          </a:xfrm>
        </p:spPr>
        <p:txBody>
          <a:bodyPr anchor="t"/>
          <a:lstStyle/>
          <a:p>
            <a:r>
              <a:rPr lang="pt-BR"/>
              <a:t>Elementos:</a:t>
            </a:r>
          </a:p>
        </p:txBody>
      </p:sp>
      <p:sp>
        <p:nvSpPr>
          <p:cNvPr id="3" name="Texto explicativo retangular com cantos arredondados 2"/>
          <p:cNvSpPr/>
          <p:nvPr/>
        </p:nvSpPr>
        <p:spPr>
          <a:xfrm>
            <a:off x="4724401" y="3581400"/>
            <a:ext cx="2895600" cy="1391443"/>
          </a:xfrm>
          <a:prstGeom prst="wedgeRoundRectCallout">
            <a:avLst>
              <a:gd name="adj1" fmla="val -49743"/>
              <a:gd name="adj2" fmla="val 118605"/>
              <a:gd name="adj3" fmla="val 16667"/>
            </a:avLst>
          </a:prstGeom>
          <a:solidFill>
            <a:schemeClr val="bg2">
              <a:lumMod val="90000"/>
              <a:alpha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>
                <a:solidFill>
                  <a:schemeClr val="tx1"/>
                </a:solidFill>
              </a:rPr>
              <a:t>Usuários</a:t>
            </a:r>
            <a:r>
              <a:rPr lang="pt-BR">
                <a:solidFill>
                  <a:schemeClr val="tx1"/>
                </a:solidFill>
              </a:rPr>
              <a:t> e </a:t>
            </a:r>
            <a:r>
              <a:rPr lang="pt-BR" u="sng">
                <a:solidFill>
                  <a:schemeClr val="tx1"/>
                </a:solidFill>
              </a:rPr>
              <a:t>operadores</a:t>
            </a:r>
            <a:r>
              <a:rPr lang="pt-BR">
                <a:solidFill>
                  <a:schemeClr val="tx1"/>
                </a:solidFill>
              </a:rPr>
              <a:t> de hardware e software.</a:t>
            </a:r>
          </a:p>
        </p:txBody>
      </p:sp>
    </p:spTree>
    <p:extLst>
      <p:ext uri="{BB962C8B-B14F-4D97-AF65-F5344CB8AC3E}">
        <p14:creationId xmlns:p14="http://schemas.microsoft.com/office/powerpoint/2010/main" val="337416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o 53"/>
          <p:cNvGrpSpPr/>
          <p:nvPr/>
        </p:nvGrpSpPr>
        <p:grpSpPr>
          <a:xfrm>
            <a:off x="152400" y="2743200"/>
            <a:ext cx="8763000" cy="3962400"/>
            <a:chOff x="152400" y="2743200"/>
            <a:chExt cx="8763000" cy="3962400"/>
          </a:xfrm>
        </p:grpSpPr>
        <p:pic>
          <p:nvPicPr>
            <p:cNvPr id="55" name="Picture 5" descr="D:\Documentos\Imagens\_Aulas\SIBC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2099" y="2743200"/>
              <a:ext cx="5981701" cy="39624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AutoShape 148"/>
            <p:cNvSpPr>
              <a:spLocks noChangeArrowheads="1"/>
            </p:cNvSpPr>
            <p:nvPr/>
          </p:nvSpPr>
          <p:spPr bwMode="auto">
            <a:xfrm>
              <a:off x="7637462" y="4419600"/>
              <a:ext cx="1277938" cy="609600"/>
            </a:xfrm>
            <a:custGeom>
              <a:avLst/>
              <a:gdLst>
                <a:gd name="T0" fmla="*/ 7258050 w 21600"/>
                <a:gd name="T1" fmla="*/ 0 h 21600"/>
                <a:gd name="T2" fmla="*/ 0 w 21600"/>
                <a:gd name="T3" fmla="*/ 8602134 h 21600"/>
                <a:gd name="T4" fmla="*/ 7258050 w 21600"/>
                <a:gd name="T5" fmla="*/ 17204267 h 21600"/>
                <a:gd name="T6" fmla="*/ 9677399 w 21600"/>
                <a:gd name="T7" fmla="*/ 860213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pt-BR">
                  <a:latin typeface="+mj-lt"/>
                </a:rPr>
                <a:t>Saída</a:t>
              </a:r>
            </a:p>
          </p:txBody>
        </p:sp>
        <p:sp>
          <p:nvSpPr>
            <p:cNvPr id="57" name="AutoShape 149"/>
            <p:cNvSpPr>
              <a:spLocks noChangeArrowheads="1"/>
            </p:cNvSpPr>
            <p:nvPr/>
          </p:nvSpPr>
          <p:spPr bwMode="auto">
            <a:xfrm>
              <a:off x="152400" y="4419600"/>
              <a:ext cx="1277938" cy="609600"/>
            </a:xfrm>
            <a:custGeom>
              <a:avLst/>
              <a:gdLst>
                <a:gd name="T0" fmla="*/ 7258050 w 21600"/>
                <a:gd name="T1" fmla="*/ 0 h 21600"/>
                <a:gd name="T2" fmla="*/ 0 w 21600"/>
                <a:gd name="T3" fmla="*/ 8602134 h 21600"/>
                <a:gd name="T4" fmla="*/ 7258050 w 21600"/>
                <a:gd name="T5" fmla="*/ 17204267 h 21600"/>
                <a:gd name="T6" fmla="*/ 9677399 w 21600"/>
                <a:gd name="T7" fmla="*/ 860213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pt-BR">
                  <a:latin typeface="+mj-lt"/>
                </a:rPr>
                <a:t>Entrada</a:t>
              </a: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SIBC</a:t>
            </a:r>
            <a:br>
              <a:rPr lang="pt-B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/>
              <a:t>Sistema de Informação Baseado em Computador </a:t>
            </a:r>
            <a:r>
              <a:rPr lang="pt-BR" sz="2200"/>
              <a:t>[6/8]</a:t>
            </a: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524000"/>
          </a:xfrm>
        </p:spPr>
        <p:txBody>
          <a:bodyPr anchor="t"/>
          <a:lstStyle/>
          <a:p>
            <a:r>
              <a:rPr lang="pt-BR"/>
              <a:t>Elementos:</a:t>
            </a:r>
          </a:p>
        </p:txBody>
      </p:sp>
      <p:sp>
        <p:nvSpPr>
          <p:cNvPr id="3" name="Texto explicativo retangular com cantos arredondados 2"/>
          <p:cNvSpPr/>
          <p:nvPr/>
        </p:nvSpPr>
        <p:spPr>
          <a:xfrm>
            <a:off x="2906688" y="3018631"/>
            <a:ext cx="3292521" cy="1705769"/>
          </a:xfrm>
          <a:prstGeom prst="wedgeRoundRectCallout">
            <a:avLst>
              <a:gd name="adj1" fmla="val -40909"/>
              <a:gd name="adj2" fmla="val 77641"/>
              <a:gd name="adj3" fmla="val 16667"/>
            </a:avLst>
          </a:prstGeom>
          <a:solidFill>
            <a:schemeClr val="bg2">
              <a:lumMod val="90000"/>
              <a:alpha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Uma grande e organizada</a:t>
            </a:r>
          </a:p>
          <a:p>
            <a:pPr algn="ctr"/>
            <a:r>
              <a:rPr lang="pt-BR" u="sng">
                <a:solidFill>
                  <a:schemeClr val="tx1"/>
                </a:solidFill>
              </a:rPr>
              <a:t>coleção de informações</a:t>
            </a:r>
            <a:r>
              <a:rPr lang="pt-BR">
                <a:solidFill>
                  <a:schemeClr val="tx1"/>
                </a:solidFill>
              </a:rPr>
              <a:t> a que se tem acesso pelo software.</a:t>
            </a:r>
          </a:p>
        </p:txBody>
      </p:sp>
    </p:spTree>
    <p:extLst>
      <p:ext uri="{BB962C8B-B14F-4D97-AF65-F5344CB8AC3E}">
        <p14:creationId xmlns:p14="http://schemas.microsoft.com/office/powerpoint/2010/main" val="387785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o 53"/>
          <p:cNvGrpSpPr/>
          <p:nvPr/>
        </p:nvGrpSpPr>
        <p:grpSpPr>
          <a:xfrm>
            <a:off x="152400" y="2743200"/>
            <a:ext cx="8763000" cy="3962400"/>
            <a:chOff x="152400" y="2743200"/>
            <a:chExt cx="8763000" cy="3962400"/>
          </a:xfrm>
        </p:grpSpPr>
        <p:pic>
          <p:nvPicPr>
            <p:cNvPr id="55" name="Picture 5" descr="D:\Documentos\Imagens\_Aulas\SIBC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2099" y="2743200"/>
              <a:ext cx="5981701" cy="39624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AutoShape 148"/>
            <p:cNvSpPr>
              <a:spLocks noChangeArrowheads="1"/>
            </p:cNvSpPr>
            <p:nvPr/>
          </p:nvSpPr>
          <p:spPr bwMode="auto">
            <a:xfrm>
              <a:off x="7637462" y="4419600"/>
              <a:ext cx="1277938" cy="609600"/>
            </a:xfrm>
            <a:custGeom>
              <a:avLst/>
              <a:gdLst>
                <a:gd name="T0" fmla="*/ 7258050 w 21600"/>
                <a:gd name="T1" fmla="*/ 0 h 21600"/>
                <a:gd name="T2" fmla="*/ 0 w 21600"/>
                <a:gd name="T3" fmla="*/ 8602134 h 21600"/>
                <a:gd name="T4" fmla="*/ 7258050 w 21600"/>
                <a:gd name="T5" fmla="*/ 17204267 h 21600"/>
                <a:gd name="T6" fmla="*/ 9677399 w 21600"/>
                <a:gd name="T7" fmla="*/ 860213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pt-BR">
                  <a:latin typeface="+mj-lt"/>
                </a:rPr>
                <a:t>Saída</a:t>
              </a:r>
            </a:p>
          </p:txBody>
        </p:sp>
        <p:sp>
          <p:nvSpPr>
            <p:cNvPr id="57" name="AutoShape 149"/>
            <p:cNvSpPr>
              <a:spLocks noChangeArrowheads="1"/>
            </p:cNvSpPr>
            <p:nvPr/>
          </p:nvSpPr>
          <p:spPr bwMode="auto">
            <a:xfrm>
              <a:off x="152400" y="4419600"/>
              <a:ext cx="1277938" cy="609600"/>
            </a:xfrm>
            <a:custGeom>
              <a:avLst/>
              <a:gdLst>
                <a:gd name="T0" fmla="*/ 7258050 w 21600"/>
                <a:gd name="T1" fmla="*/ 0 h 21600"/>
                <a:gd name="T2" fmla="*/ 0 w 21600"/>
                <a:gd name="T3" fmla="*/ 8602134 h 21600"/>
                <a:gd name="T4" fmla="*/ 7258050 w 21600"/>
                <a:gd name="T5" fmla="*/ 17204267 h 21600"/>
                <a:gd name="T6" fmla="*/ 9677399 w 21600"/>
                <a:gd name="T7" fmla="*/ 860213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pt-BR">
                  <a:latin typeface="+mj-lt"/>
                </a:rPr>
                <a:t>Entrada</a:t>
              </a: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SIBC</a:t>
            </a:r>
            <a:br>
              <a:rPr lang="pt-B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/>
              <a:t>Sistema de Informação Baseado em Computador </a:t>
            </a:r>
            <a:r>
              <a:rPr lang="pt-BR" sz="2200"/>
              <a:t>[7/8]</a:t>
            </a: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524000"/>
          </a:xfrm>
        </p:spPr>
        <p:txBody>
          <a:bodyPr anchor="t"/>
          <a:lstStyle/>
          <a:p>
            <a:r>
              <a:rPr lang="pt-BR"/>
              <a:t>Elementos:</a:t>
            </a:r>
          </a:p>
        </p:txBody>
      </p:sp>
      <p:sp>
        <p:nvSpPr>
          <p:cNvPr id="3" name="Texto explicativo retangular com cantos arredondados 2"/>
          <p:cNvSpPr/>
          <p:nvPr/>
        </p:nvSpPr>
        <p:spPr>
          <a:xfrm>
            <a:off x="3810000" y="1981200"/>
            <a:ext cx="3292521" cy="1705769"/>
          </a:xfrm>
          <a:prstGeom prst="wedgeRoundRectCallout">
            <a:avLst>
              <a:gd name="adj1" fmla="val -65779"/>
              <a:gd name="adj2" fmla="val 73641"/>
              <a:gd name="adj3" fmla="val 16667"/>
            </a:avLst>
          </a:prstGeom>
          <a:solidFill>
            <a:schemeClr val="bg2">
              <a:lumMod val="90000"/>
              <a:alpha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Permitem às empresas ligar os sistemas de computador em verdadeiras </a:t>
            </a:r>
            <a:r>
              <a:rPr lang="pt-BR" u="sng">
                <a:solidFill>
                  <a:schemeClr val="tx1"/>
                </a:solidFill>
              </a:rPr>
              <a:t>redes de</a:t>
            </a:r>
          </a:p>
          <a:p>
            <a:pPr algn="ctr"/>
            <a:r>
              <a:rPr lang="pt-BR" u="sng">
                <a:solidFill>
                  <a:schemeClr val="tx1"/>
                </a:solidFill>
              </a:rPr>
              <a:t>trabalho</a:t>
            </a:r>
            <a:r>
              <a:rPr lang="pt-BR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274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o 53"/>
          <p:cNvGrpSpPr/>
          <p:nvPr/>
        </p:nvGrpSpPr>
        <p:grpSpPr>
          <a:xfrm>
            <a:off x="152400" y="2743200"/>
            <a:ext cx="8763000" cy="3962400"/>
            <a:chOff x="152400" y="2743200"/>
            <a:chExt cx="8763000" cy="3962400"/>
          </a:xfrm>
        </p:grpSpPr>
        <p:pic>
          <p:nvPicPr>
            <p:cNvPr id="55" name="Picture 5" descr="D:\Documentos\Imagens\_Aulas\SIBC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2099" y="2743200"/>
              <a:ext cx="5981701" cy="39624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AutoShape 148"/>
            <p:cNvSpPr>
              <a:spLocks noChangeArrowheads="1"/>
            </p:cNvSpPr>
            <p:nvPr/>
          </p:nvSpPr>
          <p:spPr bwMode="auto">
            <a:xfrm>
              <a:off x="7637462" y="4419600"/>
              <a:ext cx="1277938" cy="609600"/>
            </a:xfrm>
            <a:custGeom>
              <a:avLst/>
              <a:gdLst>
                <a:gd name="T0" fmla="*/ 7258050 w 21600"/>
                <a:gd name="T1" fmla="*/ 0 h 21600"/>
                <a:gd name="T2" fmla="*/ 0 w 21600"/>
                <a:gd name="T3" fmla="*/ 8602134 h 21600"/>
                <a:gd name="T4" fmla="*/ 7258050 w 21600"/>
                <a:gd name="T5" fmla="*/ 17204267 h 21600"/>
                <a:gd name="T6" fmla="*/ 9677399 w 21600"/>
                <a:gd name="T7" fmla="*/ 860213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pt-BR">
                  <a:latin typeface="+mj-lt"/>
                </a:rPr>
                <a:t>Saída</a:t>
              </a:r>
            </a:p>
          </p:txBody>
        </p:sp>
        <p:sp>
          <p:nvSpPr>
            <p:cNvPr id="57" name="AutoShape 149"/>
            <p:cNvSpPr>
              <a:spLocks noChangeArrowheads="1"/>
            </p:cNvSpPr>
            <p:nvPr/>
          </p:nvSpPr>
          <p:spPr bwMode="auto">
            <a:xfrm>
              <a:off x="152400" y="4419600"/>
              <a:ext cx="1277938" cy="609600"/>
            </a:xfrm>
            <a:custGeom>
              <a:avLst/>
              <a:gdLst>
                <a:gd name="T0" fmla="*/ 7258050 w 21600"/>
                <a:gd name="T1" fmla="*/ 0 h 21600"/>
                <a:gd name="T2" fmla="*/ 0 w 21600"/>
                <a:gd name="T3" fmla="*/ 8602134 h 21600"/>
                <a:gd name="T4" fmla="*/ 7258050 w 21600"/>
                <a:gd name="T5" fmla="*/ 17204267 h 21600"/>
                <a:gd name="T6" fmla="*/ 9677399 w 21600"/>
                <a:gd name="T7" fmla="*/ 860213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pt-BR">
                  <a:latin typeface="+mj-lt"/>
                </a:rPr>
                <a:t>Entrada</a:t>
              </a: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SIBC</a:t>
            </a:r>
            <a:br>
              <a:rPr lang="pt-B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/>
              <a:t>Sistema de Informação Baseado em Computador </a:t>
            </a:r>
            <a:r>
              <a:rPr lang="pt-BR" sz="2200"/>
              <a:t>[8/8]</a:t>
            </a: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524000"/>
          </a:xfrm>
        </p:spPr>
        <p:txBody>
          <a:bodyPr anchor="t"/>
          <a:lstStyle/>
          <a:p>
            <a:r>
              <a:rPr lang="pt-BR"/>
              <a:t>Elementos:</a:t>
            </a:r>
          </a:p>
        </p:txBody>
      </p:sp>
      <p:sp>
        <p:nvSpPr>
          <p:cNvPr id="3" name="Texto explicativo retangular com cantos arredondados 2"/>
          <p:cNvSpPr/>
          <p:nvPr/>
        </p:nvSpPr>
        <p:spPr>
          <a:xfrm>
            <a:off x="5637664" y="2024418"/>
            <a:ext cx="3292521" cy="1705769"/>
          </a:xfrm>
          <a:prstGeom prst="wedgeRoundRectCallout">
            <a:avLst>
              <a:gd name="adj1" fmla="val -58318"/>
              <a:gd name="adj2" fmla="val 24835"/>
              <a:gd name="adj3" fmla="val 16667"/>
            </a:avLst>
          </a:prstGeom>
          <a:solidFill>
            <a:schemeClr val="bg2">
              <a:lumMod val="90000"/>
              <a:alpha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Os </a:t>
            </a:r>
            <a:r>
              <a:rPr lang="pt-BR" u="sng">
                <a:solidFill>
                  <a:schemeClr val="tx1"/>
                </a:solidFill>
              </a:rPr>
              <a:t>passos</a:t>
            </a:r>
            <a:r>
              <a:rPr lang="pt-BR">
                <a:solidFill>
                  <a:schemeClr val="tx1"/>
                </a:solidFill>
              </a:rPr>
              <a:t> que definem o uso específico de cada</a:t>
            </a:r>
          </a:p>
          <a:p>
            <a:pPr algn="ctr"/>
            <a:r>
              <a:rPr lang="pt-BR">
                <a:solidFill>
                  <a:schemeClr val="tx1"/>
                </a:solidFill>
              </a:rPr>
              <a:t>elemento do sistema ou o</a:t>
            </a:r>
          </a:p>
          <a:p>
            <a:pPr algn="ctr"/>
            <a:r>
              <a:rPr lang="pt-BR">
                <a:solidFill>
                  <a:schemeClr val="tx1"/>
                </a:solidFill>
              </a:rPr>
              <a:t>contexto processual em</a:t>
            </a:r>
          </a:p>
          <a:p>
            <a:pPr algn="ctr"/>
            <a:r>
              <a:rPr lang="pt-BR">
                <a:solidFill>
                  <a:schemeClr val="tx1"/>
                </a:solidFill>
              </a:rPr>
              <a:t>que o sistema reside.</a:t>
            </a:r>
          </a:p>
        </p:txBody>
      </p:sp>
    </p:spTree>
    <p:extLst>
      <p:ext uri="{BB962C8B-B14F-4D97-AF65-F5344CB8AC3E}">
        <p14:creationId xmlns:p14="http://schemas.microsoft.com/office/powerpoint/2010/main" val="254536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Engenharia de Sistemas de Computador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/>
              <a:t>Definição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/>
              <a:t>A Engenharia de Sistemas é uma </a:t>
            </a:r>
            <a:r>
              <a:rPr lang="pt-BR" b="1"/>
              <a:t>atividade interdisciplinar</a:t>
            </a:r>
            <a:r>
              <a:rPr lang="pt-BR"/>
              <a:t> destinada a </a:t>
            </a:r>
            <a:r>
              <a:rPr lang="pt-BR" b="1"/>
              <a:t>solucionar problemas</a:t>
            </a:r>
          </a:p>
          <a:p>
            <a:pPr lvl="1"/>
            <a:r>
              <a:rPr lang="pt-BR" b="1"/>
              <a:t>delimitar</a:t>
            </a:r>
            <a:r>
              <a:rPr lang="pt-BR"/>
              <a:t> a função, o desempenho, as restrições e as interfaces</a:t>
            </a:r>
          </a:p>
          <a:p>
            <a:pPr lvl="1"/>
            <a:r>
              <a:rPr lang="pt-BR" b="1"/>
              <a:t>alocar</a:t>
            </a:r>
            <a:r>
              <a:rPr lang="pt-BR"/>
              <a:t> cada função a um ou mais elementos de sistema (software, hardware, pessoas, entre outros)</a:t>
            </a:r>
          </a:p>
          <a:p>
            <a:pPr lvl="2"/>
            <a:r>
              <a:rPr lang="pt-BR"/>
              <a:t>alocações alternativas são propostas e avaliadas</a:t>
            </a:r>
          </a:p>
          <a:p>
            <a:pPr lvl="8"/>
            <a:endParaRPr lang="pt-BR"/>
          </a:p>
          <a:p>
            <a:r>
              <a:rPr lang="pt-BR"/>
              <a:t>O papel do </a:t>
            </a:r>
            <a:r>
              <a:rPr lang="pt-BR" i="1"/>
              <a:t>engenheiro de sistemas</a:t>
            </a:r>
            <a:r>
              <a:rPr lang="pt-BR"/>
              <a:t> (analista de sistemas) é </a:t>
            </a:r>
            <a:r>
              <a:rPr lang="pt-BR" b="1"/>
              <a:t>definir os elementos para um SIBC</a:t>
            </a:r>
            <a:r>
              <a:rPr lang="pt-BR"/>
              <a:t> específico</a:t>
            </a:r>
          </a:p>
        </p:txBody>
      </p:sp>
    </p:spTree>
    <p:extLst>
      <p:ext uri="{BB962C8B-B14F-4D97-AF65-F5344CB8AC3E}">
        <p14:creationId xmlns:p14="http://schemas.microsoft.com/office/powerpoint/2010/main" val="3681530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Engenharia de Sistemas de Computador</a:t>
            </a:r>
            <a:br>
              <a:rPr lang="pt-B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/>
              <a:t>Engenharias em um SIBC</a:t>
            </a: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152400" y="2743200"/>
            <a:ext cx="8763000" cy="3962400"/>
            <a:chOff x="152400" y="2743200"/>
            <a:chExt cx="8763000" cy="3962400"/>
          </a:xfrm>
        </p:grpSpPr>
        <p:pic>
          <p:nvPicPr>
            <p:cNvPr id="8" name="Picture 5" descr="D:\Documentos\Imagens\_Aulas\SIBC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2099" y="2743200"/>
              <a:ext cx="5981701" cy="39624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AutoShape 148"/>
            <p:cNvSpPr>
              <a:spLocks noChangeArrowheads="1"/>
            </p:cNvSpPr>
            <p:nvPr/>
          </p:nvSpPr>
          <p:spPr bwMode="auto">
            <a:xfrm>
              <a:off x="7637462" y="4419600"/>
              <a:ext cx="1277938" cy="609600"/>
            </a:xfrm>
            <a:custGeom>
              <a:avLst/>
              <a:gdLst>
                <a:gd name="T0" fmla="*/ 7258050 w 21600"/>
                <a:gd name="T1" fmla="*/ 0 h 21600"/>
                <a:gd name="T2" fmla="*/ 0 w 21600"/>
                <a:gd name="T3" fmla="*/ 8602134 h 21600"/>
                <a:gd name="T4" fmla="*/ 7258050 w 21600"/>
                <a:gd name="T5" fmla="*/ 17204267 h 21600"/>
                <a:gd name="T6" fmla="*/ 9677399 w 21600"/>
                <a:gd name="T7" fmla="*/ 860213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pt-BR">
                  <a:latin typeface="+mj-lt"/>
                </a:rPr>
                <a:t>Saída</a:t>
              </a:r>
            </a:p>
          </p:txBody>
        </p:sp>
        <p:sp>
          <p:nvSpPr>
            <p:cNvPr id="10" name="AutoShape 149"/>
            <p:cNvSpPr>
              <a:spLocks noChangeArrowheads="1"/>
            </p:cNvSpPr>
            <p:nvPr/>
          </p:nvSpPr>
          <p:spPr bwMode="auto">
            <a:xfrm>
              <a:off x="152400" y="4419600"/>
              <a:ext cx="1277938" cy="609600"/>
            </a:xfrm>
            <a:custGeom>
              <a:avLst/>
              <a:gdLst>
                <a:gd name="T0" fmla="*/ 7258050 w 21600"/>
                <a:gd name="T1" fmla="*/ 0 h 21600"/>
                <a:gd name="T2" fmla="*/ 0 w 21600"/>
                <a:gd name="T3" fmla="*/ 8602134 h 21600"/>
                <a:gd name="T4" fmla="*/ 7258050 w 21600"/>
                <a:gd name="T5" fmla="*/ 17204267 h 21600"/>
                <a:gd name="T6" fmla="*/ 9677399 w 21600"/>
                <a:gd name="T7" fmla="*/ 860213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pt-BR">
                  <a:latin typeface="+mj-lt"/>
                </a:rPr>
                <a:t>Entrada</a:t>
              </a:r>
            </a:p>
          </p:txBody>
        </p:sp>
      </p:grpSp>
      <p:sp>
        <p:nvSpPr>
          <p:cNvPr id="11" name="Texto explicativo retangular com cantos arredondados 10"/>
          <p:cNvSpPr/>
          <p:nvPr/>
        </p:nvSpPr>
        <p:spPr>
          <a:xfrm>
            <a:off x="5637665" y="3048001"/>
            <a:ext cx="1753736" cy="609600"/>
          </a:xfrm>
          <a:prstGeom prst="wedgeRoundRectCallout">
            <a:avLst>
              <a:gd name="adj1" fmla="val -2953"/>
              <a:gd name="adj2" fmla="val 74089"/>
              <a:gd name="adj3" fmla="val 16667"/>
            </a:avLst>
          </a:prstGeom>
          <a:solidFill>
            <a:schemeClr val="bg2">
              <a:lumMod val="90000"/>
              <a:alpha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Engenharia</a:t>
            </a:r>
          </a:p>
          <a:p>
            <a:pPr algn="ctr"/>
            <a:r>
              <a:rPr lang="pt-BR">
                <a:solidFill>
                  <a:schemeClr val="tx1"/>
                </a:solidFill>
              </a:rPr>
              <a:t>de Hardware</a:t>
            </a:r>
          </a:p>
        </p:txBody>
      </p:sp>
      <p:sp>
        <p:nvSpPr>
          <p:cNvPr id="12" name="Texto explicativo retangular com cantos arredondados 11"/>
          <p:cNvSpPr/>
          <p:nvPr/>
        </p:nvSpPr>
        <p:spPr>
          <a:xfrm>
            <a:off x="1295400" y="4385482"/>
            <a:ext cx="2697705" cy="609600"/>
          </a:xfrm>
          <a:prstGeom prst="wedgeRoundRectCallout">
            <a:avLst>
              <a:gd name="adj1" fmla="val -4507"/>
              <a:gd name="adj2" fmla="val 65133"/>
              <a:gd name="adj3" fmla="val 16667"/>
            </a:avLst>
          </a:prstGeom>
          <a:solidFill>
            <a:schemeClr val="bg2">
              <a:lumMod val="90000"/>
              <a:alpha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Engenharia</a:t>
            </a:r>
          </a:p>
          <a:p>
            <a:pPr algn="ctr"/>
            <a:r>
              <a:rPr lang="pt-BR">
                <a:solidFill>
                  <a:schemeClr val="tx1"/>
                </a:solidFill>
              </a:rPr>
              <a:t>de Banco de Dados</a:t>
            </a:r>
          </a:p>
        </p:txBody>
      </p:sp>
      <p:sp>
        <p:nvSpPr>
          <p:cNvPr id="13" name="Texto explicativo retangular com cantos arredondados 12"/>
          <p:cNvSpPr/>
          <p:nvPr/>
        </p:nvSpPr>
        <p:spPr>
          <a:xfrm>
            <a:off x="3413648" y="5334000"/>
            <a:ext cx="2183072" cy="609600"/>
          </a:xfrm>
          <a:prstGeom prst="wedgeRoundRectCallout">
            <a:avLst>
              <a:gd name="adj1" fmla="val -5363"/>
              <a:gd name="adj2" fmla="val 65133"/>
              <a:gd name="adj3" fmla="val 16667"/>
            </a:avLst>
          </a:prstGeom>
          <a:solidFill>
            <a:schemeClr val="bg2">
              <a:lumMod val="90000"/>
              <a:alpha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Engenharia Humana</a:t>
            </a:r>
          </a:p>
        </p:txBody>
      </p:sp>
      <p:sp>
        <p:nvSpPr>
          <p:cNvPr id="14" name="Texto explicativo retangular com cantos arredondados 13"/>
          <p:cNvSpPr/>
          <p:nvPr/>
        </p:nvSpPr>
        <p:spPr>
          <a:xfrm>
            <a:off x="5596720" y="4419600"/>
            <a:ext cx="1753736" cy="609600"/>
          </a:xfrm>
          <a:prstGeom prst="wedgeRoundRectCallout">
            <a:avLst>
              <a:gd name="adj1" fmla="val -2953"/>
              <a:gd name="adj2" fmla="val 74089"/>
              <a:gd name="adj3" fmla="val 16667"/>
            </a:avLst>
          </a:prstGeom>
          <a:solidFill>
            <a:schemeClr val="bg2">
              <a:lumMod val="50000"/>
              <a:alpha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Engenharia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de Software</a:t>
            </a:r>
          </a:p>
        </p:txBody>
      </p:sp>
    </p:spTree>
    <p:extLst>
      <p:ext uri="{BB962C8B-B14F-4D97-AF65-F5344CB8AC3E}">
        <p14:creationId xmlns:p14="http://schemas.microsoft.com/office/powerpoint/2010/main" val="417096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20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Exercício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pt-BR" sz="2400" dirty="0"/>
              <a:t>Elaborar um diagrama com os principais componentes de uma Estrutura de Tecnologia da Informação, considerando uma aplicação que precisa ficar disponível 24x7 (24horas por dia, 7 dias por semana);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Relacionar os principais Sistemas Operacionais para servidores, bem como as suas ultimas 3 versões. Trazer informações sobre a forma de comercialização e valores, quando aplicável;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Apresente os principais Sistemas de Gerenciamento de Banco de Dados e as suas versões. Descrever o modelo de comercialização e os valores, quando aplicável;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Apresente os principais tipos de Bancos de Dados conhecidos no mercado atualmente;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Apresente 4 clouds, bem como valores para hospedar uma VPS de 2GB de RAM em Linux.</a:t>
            </a:r>
          </a:p>
        </p:txBody>
      </p:sp>
    </p:spTree>
    <p:extLst>
      <p:ext uri="{BB962C8B-B14F-4D97-AF65-F5344CB8AC3E}">
        <p14:creationId xmlns:p14="http://schemas.microsoft.com/office/powerpoint/2010/main" val="564362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4B73CF80-A21E-421E-AA91-7EF264006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927" y="2118266"/>
            <a:ext cx="1733178" cy="173317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6C10879E-2ECA-4AD1-BB32-C12CA8C3C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2085466"/>
            <a:ext cx="1733178" cy="173317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668B6FC-3C19-44C8-91C9-199E787EF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5445224"/>
            <a:ext cx="951648" cy="63570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16EB7287-ED83-4E88-89CA-6AA32071A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368" y="188641"/>
            <a:ext cx="1130159" cy="754946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DE65E305-DFC6-41D4-A518-E3D14C132F2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0928" b="29185"/>
          <a:stretch/>
        </p:blipFill>
        <p:spPr>
          <a:xfrm>
            <a:off x="2199280" y="4221088"/>
            <a:ext cx="1842389" cy="64807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AAA0F4AB-3FF4-443B-9740-058BF51E510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0928" b="29185"/>
          <a:stretch/>
        </p:blipFill>
        <p:spPr>
          <a:xfrm>
            <a:off x="5873130" y="2465574"/>
            <a:ext cx="1842390" cy="648072"/>
          </a:xfrm>
          <a:prstGeom prst="rect">
            <a:avLst/>
          </a:prstGeom>
        </p:spPr>
      </p:pic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D1E7369A-35E2-4AC8-91F2-052A9CF83AB9}"/>
              </a:ext>
            </a:extLst>
          </p:cNvPr>
          <p:cNvCxnSpPr>
            <a:cxnSpLocks/>
            <a:stCxn id="18" idx="1"/>
            <a:endCxn id="63" idx="0"/>
          </p:cNvCxnSpPr>
          <p:nvPr/>
        </p:nvCxnSpPr>
        <p:spPr>
          <a:xfrm flipH="1">
            <a:off x="6878350" y="566114"/>
            <a:ext cx="1006018" cy="377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5E004599-18C6-440C-B1E0-7DB845805A10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5508104" y="2789610"/>
            <a:ext cx="365026" cy="81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E2EF5B13-DCB4-4216-AF8B-E68A08467E28}"/>
              </a:ext>
            </a:extLst>
          </p:cNvPr>
          <p:cNvCxnSpPr>
            <a:stCxn id="17" idx="0"/>
            <a:endCxn id="19" idx="1"/>
          </p:cNvCxnSpPr>
          <p:nvPr/>
        </p:nvCxnSpPr>
        <p:spPr>
          <a:xfrm flipV="1">
            <a:off x="655336" y="4545124"/>
            <a:ext cx="1543944" cy="900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DE51343E-406A-4035-9911-BFCEA464892D}"/>
              </a:ext>
            </a:extLst>
          </p:cNvPr>
          <p:cNvCxnSpPr>
            <a:cxnSpLocks/>
            <a:stCxn id="19" idx="0"/>
            <a:endCxn id="15" idx="2"/>
          </p:cNvCxnSpPr>
          <p:nvPr/>
        </p:nvCxnSpPr>
        <p:spPr>
          <a:xfrm flipV="1">
            <a:off x="3120475" y="3851444"/>
            <a:ext cx="537041" cy="369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Imagem 29">
            <a:extLst>
              <a:ext uri="{FF2B5EF4-FFF2-40B4-BE49-F238E27FC236}">
                <a16:creationId xmlns:a16="http://schemas.microsoft.com/office/drawing/2014/main" id="{D3BDBAB5-10C2-4E91-88C9-B8ADC1E5AF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73" y="101885"/>
            <a:ext cx="1310891" cy="1310891"/>
          </a:xfrm>
          <a:prstGeom prst="rect">
            <a:avLst/>
          </a:prstGeom>
        </p:spPr>
      </p:pic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3488F409-EC6A-4E3E-A534-B3C04D01CA6F}"/>
              </a:ext>
            </a:extLst>
          </p:cNvPr>
          <p:cNvCxnSpPr>
            <a:cxnSpLocks/>
            <a:stCxn id="30" idx="3"/>
            <a:endCxn id="33" idx="1"/>
          </p:cNvCxnSpPr>
          <p:nvPr/>
        </p:nvCxnSpPr>
        <p:spPr>
          <a:xfrm flipV="1">
            <a:off x="1440364" y="647433"/>
            <a:ext cx="578669" cy="109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Imagem 32">
            <a:extLst>
              <a:ext uri="{FF2B5EF4-FFF2-40B4-BE49-F238E27FC236}">
                <a16:creationId xmlns:a16="http://schemas.microsoft.com/office/drawing/2014/main" id="{96729D4C-0D51-444F-9FB3-566D105205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9033" y="71820"/>
            <a:ext cx="1151225" cy="1151225"/>
          </a:xfrm>
          <a:prstGeom prst="rect">
            <a:avLst/>
          </a:prstGeom>
        </p:spPr>
      </p:pic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39384F79-F38B-4186-8415-243EA77A4B7C}"/>
              </a:ext>
            </a:extLst>
          </p:cNvPr>
          <p:cNvCxnSpPr>
            <a:cxnSpLocks/>
            <a:stCxn id="33" idx="3"/>
            <a:endCxn id="36" idx="0"/>
          </p:cNvCxnSpPr>
          <p:nvPr/>
        </p:nvCxnSpPr>
        <p:spPr>
          <a:xfrm flipV="1">
            <a:off x="3170258" y="495501"/>
            <a:ext cx="871411" cy="151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Imagem 35">
            <a:extLst>
              <a:ext uri="{FF2B5EF4-FFF2-40B4-BE49-F238E27FC236}">
                <a16:creationId xmlns:a16="http://schemas.microsoft.com/office/drawing/2014/main" id="{2CCF7C49-0A88-4D09-A4C5-3E9A8FF37C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1389" y="495501"/>
            <a:ext cx="920560" cy="1060247"/>
          </a:xfrm>
          <a:prstGeom prst="rect">
            <a:avLst/>
          </a:prstGeom>
        </p:spPr>
      </p:pic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2595BC6E-5B79-4FAD-861D-34144BC50698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3782405" y="1555748"/>
            <a:ext cx="259264" cy="594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Imagem 59">
            <a:extLst>
              <a:ext uri="{FF2B5EF4-FFF2-40B4-BE49-F238E27FC236}">
                <a16:creationId xmlns:a16="http://schemas.microsoft.com/office/drawing/2014/main" id="{64959A4B-3399-4477-A69A-542AC266E7E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4488" t="24800" r="35037" b="27950"/>
          <a:stretch/>
        </p:blipFill>
        <p:spPr>
          <a:xfrm>
            <a:off x="982520" y="4208047"/>
            <a:ext cx="962108" cy="1110125"/>
          </a:xfrm>
          <a:prstGeom prst="rect">
            <a:avLst/>
          </a:prstGeom>
        </p:spPr>
      </p:pic>
      <p:pic>
        <p:nvPicPr>
          <p:cNvPr id="63" name="Imagem 62">
            <a:extLst>
              <a:ext uri="{FF2B5EF4-FFF2-40B4-BE49-F238E27FC236}">
                <a16:creationId xmlns:a16="http://schemas.microsoft.com/office/drawing/2014/main" id="{4A31DEBB-C184-41DB-A5EE-132849459DF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4488" t="24800" r="35037" b="27950"/>
          <a:stretch/>
        </p:blipFill>
        <p:spPr>
          <a:xfrm>
            <a:off x="6397296" y="943587"/>
            <a:ext cx="962108" cy="1110125"/>
          </a:xfrm>
          <a:prstGeom prst="rect">
            <a:avLst/>
          </a:prstGeom>
        </p:spPr>
      </p:pic>
      <p:cxnSp>
        <p:nvCxnSpPr>
          <p:cNvPr id="71" name="Conector de Seta Reta 70">
            <a:extLst>
              <a:ext uri="{FF2B5EF4-FFF2-40B4-BE49-F238E27FC236}">
                <a16:creationId xmlns:a16="http://schemas.microsoft.com/office/drawing/2014/main" id="{2DC901C5-D8D7-42D6-B33B-EB662BA38DE5}"/>
              </a:ext>
            </a:extLst>
          </p:cNvPr>
          <p:cNvCxnSpPr>
            <a:stCxn id="63" idx="2"/>
            <a:endCxn id="20" idx="0"/>
          </p:cNvCxnSpPr>
          <p:nvPr/>
        </p:nvCxnSpPr>
        <p:spPr>
          <a:xfrm flipH="1">
            <a:off x="6794325" y="2053712"/>
            <a:ext cx="84025" cy="41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16FA26C1-0897-49F5-A1D2-0BBDC06F5952}"/>
              </a:ext>
            </a:extLst>
          </p:cNvPr>
          <p:cNvCxnSpPr/>
          <p:nvPr/>
        </p:nvCxnSpPr>
        <p:spPr>
          <a:xfrm flipH="1">
            <a:off x="4139952" y="2636912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>
            <a:extLst>
              <a:ext uri="{FF2B5EF4-FFF2-40B4-BE49-F238E27FC236}">
                <a16:creationId xmlns:a16="http://schemas.microsoft.com/office/drawing/2014/main" id="{8674D17C-1922-401A-8CDE-62C5EF1DDB28}"/>
              </a:ext>
            </a:extLst>
          </p:cNvPr>
          <p:cNvCxnSpPr/>
          <p:nvPr/>
        </p:nvCxnSpPr>
        <p:spPr>
          <a:xfrm>
            <a:off x="4139952" y="3113646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Imagem 77">
            <a:extLst>
              <a:ext uri="{FF2B5EF4-FFF2-40B4-BE49-F238E27FC236}">
                <a16:creationId xmlns:a16="http://schemas.microsoft.com/office/drawing/2014/main" id="{0651EB0A-6628-45FB-839C-15B3C7D341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0188" y="5445224"/>
            <a:ext cx="1046481" cy="783851"/>
          </a:xfrm>
          <a:prstGeom prst="rect">
            <a:avLst/>
          </a:prstGeom>
        </p:spPr>
      </p:pic>
      <p:pic>
        <p:nvPicPr>
          <p:cNvPr id="79" name="Imagem 78">
            <a:extLst>
              <a:ext uri="{FF2B5EF4-FFF2-40B4-BE49-F238E27FC236}">
                <a16:creationId xmlns:a16="http://schemas.microsoft.com/office/drawing/2014/main" id="{745E2B31-F1A3-4708-8073-BA361A4D0A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7776" y="5458348"/>
            <a:ext cx="1046481" cy="783851"/>
          </a:xfrm>
          <a:prstGeom prst="rect">
            <a:avLst/>
          </a:prstGeom>
        </p:spPr>
      </p:pic>
      <p:pic>
        <p:nvPicPr>
          <p:cNvPr id="80" name="Imagem 79">
            <a:extLst>
              <a:ext uri="{FF2B5EF4-FFF2-40B4-BE49-F238E27FC236}">
                <a16:creationId xmlns:a16="http://schemas.microsoft.com/office/drawing/2014/main" id="{AFC28873-1323-4861-A079-EE0C9FD4AB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1616" y="5458347"/>
            <a:ext cx="1046481" cy="783851"/>
          </a:xfrm>
          <a:prstGeom prst="rect">
            <a:avLst/>
          </a:prstGeom>
        </p:spPr>
      </p:pic>
      <p:pic>
        <p:nvPicPr>
          <p:cNvPr id="81" name="Imagem 80">
            <a:extLst>
              <a:ext uri="{FF2B5EF4-FFF2-40B4-BE49-F238E27FC236}">
                <a16:creationId xmlns:a16="http://schemas.microsoft.com/office/drawing/2014/main" id="{C66F3320-7397-4175-BCAE-6399590344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7923" y="5482746"/>
            <a:ext cx="1046481" cy="783851"/>
          </a:xfrm>
          <a:prstGeom prst="rect">
            <a:avLst/>
          </a:prstGeom>
        </p:spPr>
      </p:pic>
      <p:pic>
        <p:nvPicPr>
          <p:cNvPr id="82" name="Imagem 81">
            <a:extLst>
              <a:ext uri="{FF2B5EF4-FFF2-40B4-BE49-F238E27FC236}">
                <a16:creationId xmlns:a16="http://schemas.microsoft.com/office/drawing/2014/main" id="{3033954B-C254-4709-9D99-42A62DAB41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8312" y="3994591"/>
            <a:ext cx="1536092" cy="1101066"/>
          </a:xfrm>
          <a:prstGeom prst="rect">
            <a:avLst/>
          </a:prstGeom>
        </p:spPr>
      </p:pic>
      <p:cxnSp>
        <p:nvCxnSpPr>
          <p:cNvPr id="84" name="Conector de Seta Reta 83">
            <a:extLst>
              <a:ext uri="{FF2B5EF4-FFF2-40B4-BE49-F238E27FC236}">
                <a16:creationId xmlns:a16="http://schemas.microsoft.com/office/drawing/2014/main" id="{8B753CB4-A840-4732-8ACC-58B4A4C1AF5A}"/>
              </a:ext>
            </a:extLst>
          </p:cNvPr>
          <p:cNvCxnSpPr>
            <a:stCxn id="16" idx="2"/>
            <a:endCxn id="82" idx="1"/>
          </p:cNvCxnSpPr>
          <p:nvPr/>
        </p:nvCxnSpPr>
        <p:spPr>
          <a:xfrm>
            <a:off x="5006541" y="3818644"/>
            <a:ext cx="2421771" cy="726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Imagem 84">
            <a:extLst>
              <a:ext uri="{FF2B5EF4-FFF2-40B4-BE49-F238E27FC236}">
                <a16:creationId xmlns:a16="http://schemas.microsoft.com/office/drawing/2014/main" id="{3A972FAA-3FB5-468D-BAFE-C525432E71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045" y="1958324"/>
            <a:ext cx="1295551" cy="1733178"/>
          </a:xfrm>
          <a:prstGeom prst="rect">
            <a:avLst/>
          </a:prstGeom>
        </p:spPr>
      </p:pic>
      <p:pic>
        <p:nvPicPr>
          <p:cNvPr id="87" name="Imagem 86">
            <a:extLst>
              <a:ext uri="{FF2B5EF4-FFF2-40B4-BE49-F238E27FC236}">
                <a16:creationId xmlns:a16="http://schemas.microsoft.com/office/drawing/2014/main" id="{C625DD88-A387-4ECE-AFF2-928CD0C60C99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28117" b="26949"/>
          <a:stretch/>
        </p:blipFill>
        <p:spPr>
          <a:xfrm>
            <a:off x="2284080" y="5874671"/>
            <a:ext cx="1960469" cy="880921"/>
          </a:xfrm>
          <a:prstGeom prst="rect">
            <a:avLst/>
          </a:prstGeom>
        </p:spPr>
      </p:pic>
      <p:pic>
        <p:nvPicPr>
          <p:cNvPr id="89" name="Imagem 88">
            <a:extLst>
              <a:ext uri="{FF2B5EF4-FFF2-40B4-BE49-F238E27FC236}">
                <a16:creationId xmlns:a16="http://schemas.microsoft.com/office/drawing/2014/main" id="{55D67668-6C25-4361-8788-42A88A8C3C81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28117" b="26949"/>
          <a:stretch/>
        </p:blipFill>
        <p:spPr>
          <a:xfrm>
            <a:off x="2284080" y="4968472"/>
            <a:ext cx="1960469" cy="88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648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Tópicos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>
                <a:solidFill>
                  <a:srgbClr val="7F7F7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Conceitos Básicos</a:t>
            </a:r>
          </a:p>
          <a:p>
            <a:pPr marL="1050925" lvl="4" indent="0">
              <a:buNone/>
            </a:pPr>
            <a:endParaRPr lang="pt-BR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28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Características do Software</a:t>
            </a:r>
          </a:p>
          <a:p>
            <a:pPr lvl="3"/>
            <a:endParaRPr lang="pt-BR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Evolução do Software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Algumas características do software</a:t>
            </a:r>
          </a:p>
        </p:txBody>
      </p:sp>
    </p:spTree>
    <p:extLst>
      <p:ext uri="{BB962C8B-B14F-4D97-AF65-F5344CB8AC3E}">
        <p14:creationId xmlns:p14="http://schemas.microsoft.com/office/powerpoint/2010/main" val="2078111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software sofre um desgaste com o</a:t>
            </a:r>
            <a:br>
              <a:rPr lang="pt-BR" dirty="0"/>
            </a:br>
            <a:r>
              <a:rPr lang="pt-BR" dirty="0"/>
              <a:t>tempo, como o hardware?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Software</a:t>
            </a:r>
          </a:p>
        </p:txBody>
      </p:sp>
    </p:spTree>
    <p:extLst>
      <p:ext uri="{BB962C8B-B14F-4D97-AF65-F5344CB8AC3E}">
        <p14:creationId xmlns:p14="http://schemas.microsoft.com/office/powerpoint/2010/main" val="3784704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Software</a:t>
            </a:r>
            <a:br>
              <a:rPr lang="pt-BR"/>
            </a:br>
            <a:r>
              <a:rPr lang="pt-BR" sz="3100"/>
              <a:t>Características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/>
              <a:t>Desenvolvido ou projetado por engenharia</a:t>
            </a:r>
          </a:p>
          <a:p>
            <a:pPr eaLnBrk="1" hangingPunct="1"/>
            <a:endParaRPr lang="pt-BR"/>
          </a:p>
          <a:p>
            <a:pPr eaLnBrk="1" hangingPunct="1"/>
            <a:r>
              <a:rPr lang="pt-BR"/>
              <a:t>Não manufaturado</a:t>
            </a:r>
          </a:p>
          <a:p>
            <a:pPr lvl="1" eaLnBrk="1" hangingPunct="1"/>
            <a:r>
              <a:rPr lang="pt-BR"/>
              <a:t>no sentido clássico</a:t>
            </a:r>
          </a:p>
          <a:p>
            <a:pPr eaLnBrk="1" hangingPunct="1"/>
            <a:endParaRPr lang="pt-BR"/>
          </a:p>
          <a:p>
            <a:pPr eaLnBrk="1" hangingPunct="1"/>
            <a:r>
              <a:rPr lang="pt-BR"/>
              <a:t>Não se desgasta</a:t>
            </a:r>
          </a:p>
          <a:p>
            <a:pPr lvl="1" eaLnBrk="1" hangingPunct="1"/>
            <a:r>
              <a:rPr lang="pt-BR"/>
              <a:t>mas se deteriora</a:t>
            </a:r>
          </a:p>
        </p:txBody>
      </p:sp>
    </p:spTree>
    <p:extLst>
      <p:ext uri="{BB962C8B-B14F-4D97-AF65-F5344CB8AC3E}">
        <p14:creationId xmlns:p14="http://schemas.microsoft.com/office/powerpoint/2010/main" val="1718330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Software</a:t>
            </a:r>
            <a:br>
              <a:rPr lang="pt-BR"/>
            </a:br>
            <a:r>
              <a:rPr lang="pt-BR" sz="3100"/>
              <a:t>Características – Hardware x Software</a:t>
            </a:r>
            <a:endParaRPr lang="pt-BR"/>
          </a:p>
        </p:txBody>
      </p:sp>
      <p:sp>
        <p:nvSpPr>
          <p:cNvPr id="9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1676400"/>
          </a:xfrm>
        </p:spPr>
        <p:txBody>
          <a:bodyPr anchor="t">
            <a:normAutofit fontScale="85000" lnSpcReduction="20000"/>
          </a:bodyPr>
          <a:lstStyle/>
          <a:p>
            <a:pPr eaLnBrk="1" hangingPunct="1">
              <a:buFont typeface="Arial" pitchFamily="34" charset="0"/>
              <a:buChar char="•"/>
              <a:defRPr/>
            </a:pPr>
            <a:r>
              <a:rPr lang="pt-BR" dirty="0"/>
              <a:t>O Software não se desgasta com o uso, mas se deteriora com as modificações</a:t>
            </a:r>
          </a:p>
          <a:p>
            <a:pPr marL="0" indent="0" eaLnBrk="1" hangingPunct="1">
              <a:buFont typeface="Arial" pitchFamily="34" charset="0"/>
              <a:buNone/>
              <a:defRPr/>
            </a:pPr>
            <a:endParaRPr lang="pt-BR" dirty="0"/>
          </a:p>
          <a:p>
            <a:pPr marL="0" indent="0" eaLnBrk="1" hangingPunct="1">
              <a:buFont typeface="Arial" pitchFamily="34" charset="0"/>
              <a:buNone/>
              <a:defRPr/>
            </a:pPr>
            <a:r>
              <a:rPr lang="pt-BR" dirty="0"/>
              <a:t>                 Hardware                              Software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3400425"/>
            <a:ext cx="8143875" cy="26955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924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Software</a:t>
            </a:r>
            <a:br>
              <a:rPr lang="pt-BR"/>
            </a:br>
            <a:r>
              <a:rPr lang="pt-BR" sz="3100"/>
              <a:t>Aplicações </a:t>
            </a:r>
            <a:r>
              <a:rPr lang="pt-BR" sz="2200"/>
              <a:t>[1/3]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pt-BR" b="1"/>
              <a:t>Básico</a:t>
            </a:r>
            <a:r>
              <a:rPr lang="pt-BR"/>
              <a:t>: coleção de programas escritos para dar apoio a outros programas</a:t>
            </a:r>
          </a:p>
          <a:p>
            <a:pPr lvl="1" eaLnBrk="1" hangingPunct="1"/>
            <a:r>
              <a:rPr lang="pt-BR"/>
              <a:t>compiladores, componentes de sistemas operacionais</a:t>
            </a:r>
          </a:p>
          <a:p>
            <a:pPr lvl="8"/>
            <a:endParaRPr lang="pt-BR" b="1"/>
          </a:p>
          <a:p>
            <a:pPr eaLnBrk="1" hangingPunct="1"/>
            <a:r>
              <a:rPr lang="pt-BR" b="1"/>
              <a:t>De Tempo Real</a:t>
            </a:r>
            <a:r>
              <a:rPr lang="pt-BR"/>
              <a:t>: software que monitora, analisa e controla eventos do mundo real</a:t>
            </a:r>
          </a:p>
          <a:p>
            <a:pPr lvl="8"/>
            <a:endParaRPr lang="pt-BR" b="1"/>
          </a:p>
          <a:p>
            <a:pPr eaLnBrk="1" hangingPunct="1"/>
            <a:r>
              <a:rPr lang="pt-BR" b="1"/>
              <a:t>Comercial</a:t>
            </a:r>
            <a:r>
              <a:rPr lang="pt-BR"/>
              <a:t>: sistemas de operações comerciais e tomadas de decisões administrativas</a:t>
            </a:r>
          </a:p>
        </p:txBody>
      </p:sp>
    </p:spTree>
    <p:extLst>
      <p:ext uri="{BB962C8B-B14F-4D97-AF65-F5344CB8AC3E}">
        <p14:creationId xmlns:p14="http://schemas.microsoft.com/office/powerpoint/2010/main" val="3550188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Software</a:t>
            </a:r>
            <a:br>
              <a:rPr lang="pt-BR" dirty="0"/>
            </a:br>
            <a:r>
              <a:rPr lang="pt-BR" sz="3100" dirty="0"/>
              <a:t>Aplicações </a:t>
            </a:r>
            <a:r>
              <a:rPr lang="pt-BR" sz="2200" dirty="0"/>
              <a:t>[2/3]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pt-BR" b="1"/>
              <a:t>Científico e de Engenharia</a:t>
            </a:r>
            <a:r>
              <a:rPr lang="pt-BR"/>
              <a:t>: caracterizado por algoritmos de processamento de números</a:t>
            </a:r>
          </a:p>
          <a:p>
            <a:pPr lvl="1" eaLnBrk="1" hangingPunct="1"/>
            <a:r>
              <a:rPr lang="pt-BR"/>
              <a:t>biologia molecular, manufatura automatizada</a:t>
            </a:r>
          </a:p>
          <a:p>
            <a:pPr lvl="8"/>
            <a:endParaRPr lang="pt-BR"/>
          </a:p>
          <a:p>
            <a:pPr eaLnBrk="1" hangingPunct="1"/>
            <a:r>
              <a:rPr lang="pt-BR" b="1"/>
              <a:t>Embutido</a:t>
            </a:r>
            <a:r>
              <a:rPr lang="pt-BR"/>
              <a:t> (Embarcado)</a:t>
            </a:r>
            <a:r>
              <a:rPr lang="pt-BR" b="1"/>
              <a:t>:</a:t>
            </a:r>
            <a:r>
              <a:rPr lang="pt-BR"/>
              <a:t> reside em memórias </a:t>
            </a:r>
            <a:r>
              <a:rPr lang="pt-BR" i="1"/>
              <a:t>ROM</a:t>
            </a:r>
            <a:r>
              <a:rPr lang="pt-BR"/>
              <a:t>, usado para controlar produtos e sistemas para os mercados industriais e de consumo</a:t>
            </a:r>
          </a:p>
          <a:p>
            <a:pPr lvl="1" eaLnBrk="1" hangingPunct="1"/>
            <a:r>
              <a:rPr lang="pt-BR"/>
              <a:t>Ex.: teclado para forno microondas</a:t>
            </a:r>
          </a:p>
          <a:p>
            <a:pPr lvl="8"/>
            <a:endParaRPr lang="pt-BR"/>
          </a:p>
          <a:p>
            <a:pPr eaLnBrk="1" hangingPunct="1"/>
            <a:r>
              <a:rPr lang="pt-BR" b="1"/>
              <a:t>De Computador Pessoal</a:t>
            </a:r>
            <a:r>
              <a:rPr lang="pt-BR"/>
              <a:t>: envolve processamento de textos, planilhas eletrônicas, diversões etc.</a:t>
            </a:r>
          </a:p>
        </p:txBody>
      </p:sp>
    </p:spTree>
    <p:extLst>
      <p:ext uri="{BB962C8B-B14F-4D97-AF65-F5344CB8AC3E}">
        <p14:creationId xmlns:p14="http://schemas.microsoft.com/office/powerpoint/2010/main" val="14572965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Software</a:t>
            </a:r>
            <a:br>
              <a:rPr lang="pt-BR"/>
            </a:br>
            <a:r>
              <a:rPr lang="pt-BR" sz="3100"/>
              <a:t>Aplicações </a:t>
            </a:r>
            <a:r>
              <a:rPr lang="pt-BR" sz="2200"/>
              <a:t>[3/3]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pt-BR" b="1"/>
              <a:t>De Inteligência Artificial</a:t>
            </a:r>
            <a:r>
              <a:rPr lang="pt-BR"/>
              <a:t>: faz uso de algoritmos não numéricos para resolver problemas que não sejam favoráveis à computação ou à análise direta</a:t>
            </a:r>
          </a:p>
          <a:p>
            <a:pPr lvl="1" eaLnBrk="1" hangingPunct="1"/>
            <a:r>
              <a:rPr lang="pt-BR"/>
              <a:t>Ex.: sistemas especialistas, de reconhecimento de padrões de imagem e voz, de redes neurais artificiais, de jogos</a:t>
            </a:r>
          </a:p>
          <a:p>
            <a:pPr lvl="8"/>
            <a:endParaRPr lang="pt-BR"/>
          </a:p>
          <a:p>
            <a:pPr eaLnBrk="1" hangingPunct="1"/>
            <a:r>
              <a:rPr lang="pt-BR" b="1"/>
              <a:t>Para Web</a:t>
            </a:r>
            <a:r>
              <a:rPr lang="pt-BR"/>
              <a:t>: software que incorpora as instruções executáveis (CGI, HTML, Perl, Java) e dados (hipertexto, formatos visuais e de áudio)</a:t>
            </a:r>
          </a:p>
        </p:txBody>
      </p:sp>
    </p:spTree>
    <p:extLst>
      <p:ext uri="{BB962C8B-B14F-4D97-AF65-F5344CB8AC3E}">
        <p14:creationId xmlns:p14="http://schemas.microsoft.com/office/powerpoint/2010/main" val="2867354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Software</a:t>
            </a:r>
            <a:br>
              <a:rPr lang="pt-BR"/>
            </a:br>
            <a:r>
              <a:rPr lang="pt-BR" sz="3100"/>
              <a:t>Aplicações </a:t>
            </a:r>
            <a:r>
              <a:rPr lang="pt-BR" sz="2200"/>
              <a:t>[3/3]</a:t>
            </a:r>
            <a:endParaRPr lang="pt-BR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F3070C4-EA6C-4E95-959F-5F392A9C0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Integrações </a:t>
            </a:r>
            <a:r>
              <a:rPr lang="pt-BR"/>
              <a:t>Entre Softwares</a:t>
            </a:r>
          </a:p>
        </p:txBody>
      </p:sp>
    </p:spTree>
    <p:extLst>
      <p:ext uri="{BB962C8B-B14F-4D97-AF65-F5344CB8AC3E}">
        <p14:creationId xmlns:p14="http://schemas.microsoft.com/office/powerpoint/2010/main" val="41196970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Tópicos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>
                <a:solidFill>
                  <a:srgbClr val="7F7F7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Conceitos Básicos</a:t>
            </a:r>
          </a:p>
          <a:p>
            <a:pPr marL="1050925" lvl="4" indent="0">
              <a:buNone/>
            </a:pPr>
            <a:endParaRPr lang="pt-BR" sz="1600" dirty="0">
              <a:solidFill>
                <a:srgbClr val="7F7F7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2800" dirty="0">
                <a:solidFill>
                  <a:srgbClr val="7F7F7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Características do Software</a:t>
            </a:r>
          </a:p>
          <a:p>
            <a:pPr lvl="3"/>
            <a:endParaRPr lang="pt-BR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28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Evolução do Software</a:t>
            </a:r>
            <a:endParaRPr lang="pt-B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Evolução do software desde seu surgimento até hoje</a:t>
            </a:r>
          </a:p>
        </p:txBody>
      </p:sp>
    </p:spTree>
    <p:extLst>
      <p:ext uri="{BB962C8B-B14F-4D97-AF65-F5344CB8AC3E}">
        <p14:creationId xmlns:p14="http://schemas.microsoft.com/office/powerpoint/2010/main" val="4061501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pt-BR" dirty="0"/>
              <a:t>Evolução do Software </a:t>
            </a:r>
            <a:r>
              <a:rPr lang="pt-BR" sz="2400" dirty="0"/>
              <a:t>[1/3]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b="1"/>
              <a:t>1950 - 1965</a:t>
            </a:r>
          </a:p>
          <a:p>
            <a:pPr lvl="1"/>
            <a:r>
              <a:rPr lang="pt-BR"/>
              <a:t>O hardware sofreu contínuas mudanças</a:t>
            </a:r>
          </a:p>
          <a:p>
            <a:pPr lvl="1"/>
            <a:r>
              <a:rPr lang="pt-BR"/>
              <a:t>O software era uma arte "secundária" para a qual havia poucos métodos sistemáticos</a:t>
            </a:r>
          </a:p>
          <a:p>
            <a:pPr lvl="1"/>
            <a:r>
              <a:rPr lang="pt-BR"/>
              <a:t>Não havia documentação</a:t>
            </a:r>
          </a:p>
          <a:p>
            <a:pPr lvl="8"/>
            <a:endParaRPr lang="pt-BR"/>
          </a:p>
          <a:p>
            <a:r>
              <a:rPr lang="pt-BR" b="1"/>
              <a:t>1965 - 1975</a:t>
            </a:r>
          </a:p>
          <a:p>
            <a:pPr lvl="1"/>
            <a:r>
              <a:rPr lang="pt-BR"/>
              <a:t>Sistemas multiusuários e sistemas de tempo real</a:t>
            </a:r>
          </a:p>
          <a:p>
            <a:pPr lvl="1"/>
            <a:r>
              <a:rPr lang="pt-BR"/>
              <a:t>1ª geração de </a:t>
            </a:r>
            <a:r>
              <a:rPr lang="pt-BR" i="1"/>
              <a:t>SGBDs</a:t>
            </a:r>
          </a:p>
          <a:p>
            <a:pPr lvl="2"/>
            <a:r>
              <a:rPr lang="pt-BR" i="1"/>
              <a:t>Sistemas de Gerenciamento de Banco de Dados</a:t>
            </a:r>
          </a:p>
          <a:p>
            <a:pPr lvl="1"/>
            <a:r>
              <a:rPr lang="pt-BR"/>
              <a:t>Produto de software</a:t>
            </a:r>
          </a:p>
          <a:p>
            <a:pPr lvl="2"/>
            <a:r>
              <a:rPr lang="pt-BR"/>
              <a:t>Software houses</a:t>
            </a:r>
          </a:p>
        </p:txBody>
      </p:sp>
    </p:spTree>
    <p:extLst>
      <p:ext uri="{BB962C8B-B14F-4D97-AF65-F5344CB8AC3E}">
        <p14:creationId xmlns:p14="http://schemas.microsoft.com/office/powerpoint/2010/main" val="10240621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 Software </a:t>
            </a:r>
            <a:r>
              <a:rPr lang="pt-BR" sz="2400" dirty="0"/>
              <a:t>[2/3]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pt-BR" b="1"/>
              <a:t>1965 - 1975</a:t>
            </a:r>
          </a:p>
          <a:p>
            <a:pPr lvl="1"/>
            <a:r>
              <a:rPr lang="pt-BR"/>
              <a:t>Cresce o número de sistemas baseado em computador</a:t>
            </a:r>
          </a:p>
          <a:p>
            <a:pPr lvl="1"/>
            <a:r>
              <a:rPr lang="pt-BR"/>
              <a:t>Manutenção quase impossível</a:t>
            </a:r>
          </a:p>
        </p:txBody>
      </p:sp>
      <p:sp>
        <p:nvSpPr>
          <p:cNvPr id="7" name="Elipse 6"/>
          <p:cNvSpPr/>
          <p:nvPr/>
        </p:nvSpPr>
        <p:spPr>
          <a:xfrm>
            <a:off x="2209800" y="2971800"/>
            <a:ext cx="4572000" cy="12954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...Crise do Software!</a:t>
            </a:r>
          </a:p>
        </p:txBody>
      </p:sp>
      <p:pic>
        <p:nvPicPr>
          <p:cNvPr id="3074" name="Picture 2" descr="D:\Documentos\Imagens\_Aulas\Atividad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348" y="3352800"/>
            <a:ext cx="1787652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D:\Documentos\Imagens\_Aulas\bug11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75" y="4953000"/>
            <a:ext cx="2032000" cy="15240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557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 Software </a:t>
            </a:r>
            <a:r>
              <a:rPr lang="pt-BR" sz="2400" dirty="0"/>
              <a:t>[3/3]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fontScale="85000" lnSpcReduction="20000"/>
          </a:bodyPr>
          <a:lstStyle/>
          <a:p>
            <a:r>
              <a:rPr lang="pt-BR" b="1" dirty="0"/>
              <a:t>1975 - Hoje</a:t>
            </a:r>
          </a:p>
          <a:p>
            <a:pPr lvl="1"/>
            <a:r>
              <a:rPr lang="pt-BR" dirty="0"/>
              <a:t>Sistemas distribuídos</a:t>
            </a:r>
          </a:p>
          <a:p>
            <a:pPr lvl="1"/>
            <a:r>
              <a:rPr lang="pt-BR" dirty="0"/>
              <a:t>Redes locais e globais</a:t>
            </a:r>
          </a:p>
          <a:p>
            <a:pPr lvl="1"/>
            <a:r>
              <a:rPr lang="pt-BR" dirty="0"/>
              <a:t>Uso generalizado de microprocessadores</a:t>
            </a:r>
          </a:p>
          <a:p>
            <a:pPr lvl="1"/>
            <a:r>
              <a:rPr lang="pt-BR" dirty="0"/>
              <a:t>produtos inteligentes</a:t>
            </a:r>
          </a:p>
          <a:p>
            <a:pPr lvl="1"/>
            <a:r>
              <a:rPr lang="pt-BR" dirty="0"/>
              <a:t>Hardware de baixo custo</a:t>
            </a:r>
          </a:p>
          <a:p>
            <a:pPr lvl="1"/>
            <a:r>
              <a:rPr lang="pt-BR" dirty="0"/>
              <a:t>Tecnologias orientadas o objetos</a:t>
            </a:r>
          </a:p>
          <a:p>
            <a:pPr lvl="1"/>
            <a:r>
              <a:rPr lang="pt-BR" dirty="0"/>
              <a:t>Sistemas especialistas e software de inteligência artificial usados na prática</a:t>
            </a:r>
          </a:p>
          <a:p>
            <a:pPr lvl="1"/>
            <a:r>
              <a:rPr lang="pt-BR" dirty="0"/>
              <a:t>Softwares de rede neural, artificial </a:t>
            </a:r>
            <a:r>
              <a:rPr lang="pt-BR" dirty="0" err="1"/>
              <a:t>etc</a:t>
            </a:r>
            <a:endParaRPr lang="pt-BR" dirty="0"/>
          </a:p>
          <a:p>
            <a:pPr lvl="1"/>
            <a:r>
              <a:rPr lang="pt-BR" dirty="0"/>
              <a:t>Computação paralela</a:t>
            </a:r>
          </a:p>
          <a:p>
            <a:pPr lvl="1"/>
            <a:r>
              <a:rPr lang="pt-BR" dirty="0"/>
              <a:t>Internet</a:t>
            </a:r>
          </a:p>
        </p:txBody>
      </p:sp>
    </p:spTree>
    <p:extLst>
      <p:ext uri="{BB962C8B-B14F-4D97-AF65-F5344CB8AC3E}">
        <p14:creationId xmlns:p14="http://schemas.microsoft.com/office/powerpoint/2010/main" val="33899443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Persistentes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709120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/>
              <a:t>Apesar da evolução do software...</a:t>
            </a:r>
          </a:p>
          <a:p>
            <a:pPr lvl="1"/>
            <a:r>
              <a:rPr lang="pt-BR" dirty="0"/>
              <a:t>A habilidade em construir software deixa a desejar em relação ao potencial do hardware</a:t>
            </a:r>
          </a:p>
          <a:p>
            <a:pPr lvl="1"/>
            <a:r>
              <a:rPr lang="pt-BR" dirty="0"/>
              <a:t>A construção de software não é rápida o suficiente para atender as necessidades do mercado</a:t>
            </a:r>
          </a:p>
          <a:p>
            <a:pPr lvl="1"/>
            <a:r>
              <a:rPr lang="pt-BR" dirty="0"/>
              <a:t>A sociedade depende cada vez mais de software confiável; quando ele falha, podem ocorrer gastos enormes e desgaste de muitos profissionais para arrumá-lo</a:t>
            </a:r>
          </a:p>
          <a:p>
            <a:pPr lvl="1"/>
            <a:r>
              <a:rPr lang="pt-BR" dirty="0"/>
              <a:t>O esforço para construir software confiável e de qualidade é muito grande</a:t>
            </a:r>
          </a:p>
          <a:p>
            <a:pPr lvl="1"/>
            <a:r>
              <a:rPr lang="pt-BR" dirty="0"/>
              <a:t>O suporte aos programas existentes é apoiado por projetos pobres e recursos inadequados</a:t>
            </a:r>
          </a:p>
        </p:txBody>
      </p:sp>
    </p:spTree>
    <p:extLst>
      <p:ext uri="{BB962C8B-B14F-4D97-AF65-F5344CB8AC3E}">
        <p14:creationId xmlns:p14="http://schemas.microsoft.com/office/powerpoint/2010/main" val="2458134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Perspectiva Industrial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709120"/>
          </a:xfrm>
        </p:spPr>
        <p:txBody>
          <a:bodyPr>
            <a:normAutofit fontScale="85000" lnSpcReduction="20000"/>
          </a:bodyPr>
          <a:lstStyle/>
          <a:p>
            <a:r>
              <a:rPr lang="pt-BR" b="1" dirty="0"/>
              <a:t>Hoje, é o software que custa mais do que o hardware.</a:t>
            </a:r>
          </a:p>
          <a:p>
            <a:r>
              <a:rPr lang="pt-BR" b="1" dirty="0"/>
              <a:t>Já há algum tempo, gerentes e técnicos se perguntam:</a:t>
            </a:r>
          </a:p>
          <a:p>
            <a:pPr lvl="1"/>
            <a:r>
              <a:rPr lang="pt-BR" dirty="0"/>
              <a:t>Porque é preciso tanto tempo para terminar os programas?</a:t>
            </a:r>
          </a:p>
          <a:p>
            <a:pPr lvl="1"/>
            <a:r>
              <a:rPr lang="pt-BR" dirty="0"/>
              <a:t>Porque os custos são tão altos?</a:t>
            </a:r>
          </a:p>
          <a:p>
            <a:pPr lvl="1"/>
            <a:r>
              <a:rPr lang="pt-BR" dirty="0"/>
              <a:t>Porque não se consegue encontrar todos os erros antes que o software seja liberado para os clientes?</a:t>
            </a:r>
          </a:p>
          <a:p>
            <a:pPr lvl="1"/>
            <a:r>
              <a:rPr lang="pt-BR" dirty="0"/>
              <a:t>Porque existe uma dificuldade em medir o progresso à medida que o software está sendo construído?</a:t>
            </a:r>
          </a:p>
          <a:p>
            <a:pPr marL="0" indent="0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dirty="0"/>
              <a:t>A preocupação em resolver essas questões tem levado à adoção das práticas da Engenharia de Software </a:t>
            </a:r>
          </a:p>
        </p:txBody>
      </p:sp>
    </p:spTree>
    <p:extLst>
      <p:ext uri="{BB962C8B-B14F-4D97-AF65-F5344CB8AC3E}">
        <p14:creationId xmlns:p14="http://schemas.microsoft.com/office/powerpoint/2010/main" val="40733032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Bibliografia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SANCHES, ROSELY. Material Didático: Engenharia de Software. ICMC-USP, 2002.</a:t>
            </a:r>
          </a:p>
          <a:p>
            <a:pPr marL="1737360" lvl="8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PRESSMAN, ROGER S. Engenharia de Software. 5ª edição. Rio de Janeiro: McGraw-Hill, 2002.</a:t>
            </a:r>
          </a:p>
          <a:p>
            <a:pPr marL="1737360" lvl="8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SOMERVILLE, IAN. Engenharia de Software. 6ª edição. São Paulo: </a:t>
            </a:r>
            <a:r>
              <a:rPr lang="pt-BR" dirty="0" err="1"/>
              <a:t>Addison</a:t>
            </a:r>
            <a:r>
              <a:rPr lang="pt-BR" dirty="0"/>
              <a:t> Wesley, 2003.</a:t>
            </a:r>
          </a:p>
        </p:txBody>
      </p:sp>
    </p:spTree>
    <p:extLst>
      <p:ext uri="{BB962C8B-B14F-4D97-AF65-F5344CB8AC3E}">
        <p14:creationId xmlns:p14="http://schemas.microsoft.com/office/powerpoint/2010/main" val="38975080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1101</Words>
  <Application>Microsoft Office PowerPoint</Application>
  <PresentationFormat>Apresentação na tela (4:3)</PresentationFormat>
  <Paragraphs>211</Paragraphs>
  <Slides>31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4" baseType="lpstr">
      <vt:lpstr>Arial</vt:lpstr>
      <vt:lpstr>Calibri</vt:lpstr>
      <vt:lpstr>Tema do Office</vt:lpstr>
      <vt:lpstr>Engenharia de Requisitos de Software</vt:lpstr>
      <vt:lpstr>Tópicos</vt:lpstr>
      <vt:lpstr>Software</vt:lpstr>
      <vt:lpstr>Software Definição</vt:lpstr>
      <vt:lpstr>SIBC Sistema de Informação Baseado em Computador [1/8]</vt:lpstr>
      <vt:lpstr>SIBC Sistema de Informação Baseado em Computador [2/8]</vt:lpstr>
      <vt:lpstr>SIBC Sistema de Informação Baseado em Computador [3/8]</vt:lpstr>
      <vt:lpstr>SIBC Sistema de Informação Baseado em Computador [4/8]</vt:lpstr>
      <vt:lpstr>SIBC Sistema de Informação Baseado em Computador [5/8]</vt:lpstr>
      <vt:lpstr>SIBC Sistema de Informação Baseado em Computador [6/8]</vt:lpstr>
      <vt:lpstr>SIBC Sistema de Informação Baseado em Computador [7/8]</vt:lpstr>
      <vt:lpstr>SIBC Sistema de Informação Baseado em Computador [8/8]</vt:lpstr>
      <vt:lpstr>Engenharia de Sistemas de Computador Definição</vt:lpstr>
      <vt:lpstr>Engenharia de Sistemas de Computador Engenharias em um SIBC</vt:lpstr>
      <vt:lpstr>Exercício</vt:lpstr>
      <vt:lpstr>Apresentação do PowerPoint</vt:lpstr>
      <vt:lpstr>Tópicos</vt:lpstr>
      <vt:lpstr>Software</vt:lpstr>
      <vt:lpstr>Software Características</vt:lpstr>
      <vt:lpstr>Software Características – Hardware x Software</vt:lpstr>
      <vt:lpstr>Software Aplicações [1/3]</vt:lpstr>
      <vt:lpstr>Software Aplicações [2/3]</vt:lpstr>
      <vt:lpstr>Software Aplicações [3/3]</vt:lpstr>
      <vt:lpstr>Software Aplicações [3/3]</vt:lpstr>
      <vt:lpstr>Tópicos</vt:lpstr>
      <vt:lpstr>Evolução do Software [1/3]</vt:lpstr>
      <vt:lpstr>Evolução do Software [2/3]</vt:lpstr>
      <vt:lpstr>Evolução do Software [3/3]</vt:lpstr>
      <vt:lpstr>Problemas Persistentes</vt:lpstr>
      <vt:lpstr>Perspectiva Industrial </vt:lpstr>
      <vt:lpstr>Bibliografia</vt:lpstr>
    </vt:vector>
  </TitlesOfParts>
  <Company>Toledo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Marketing</dc:creator>
  <cp:lastModifiedBy>Alisson Augusto Carnelos Kuhn</cp:lastModifiedBy>
  <cp:revision>73</cp:revision>
  <cp:lastPrinted>2019-02-03T14:20:47Z</cp:lastPrinted>
  <dcterms:created xsi:type="dcterms:W3CDTF">2014-09-02T19:41:53Z</dcterms:created>
  <dcterms:modified xsi:type="dcterms:W3CDTF">2025-02-05T22:17:08Z</dcterms:modified>
</cp:coreProperties>
</file>