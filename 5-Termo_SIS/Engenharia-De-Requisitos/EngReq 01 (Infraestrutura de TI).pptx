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479" r:id="rId2"/>
    <p:sldId id="346" r:id="rId3"/>
    <p:sldId id="623" r:id="rId4"/>
    <p:sldId id="283" r:id="rId5"/>
    <p:sldId id="291" r:id="rId6"/>
    <p:sldId id="293" r:id="rId7"/>
    <p:sldId id="292" r:id="rId8"/>
    <p:sldId id="290" r:id="rId9"/>
    <p:sldId id="264" r:id="rId10"/>
    <p:sldId id="626" r:id="rId11"/>
    <p:sldId id="625" r:id="rId12"/>
    <p:sldId id="620" r:id="rId13"/>
    <p:sldId id="297" r:id="rId14"/>
    <p:sldId id="299" r:id="rId15"/>
    <p:sldId id="300" r:id="rId16"/>
    <p:sldId id="301" r:id="rId17"/>
    <p:sldId id="302" r:id="rId18"/>
    <p:sldId id="298" r:id="rId19"/>
    <p:sldId id="303" r:id="rId20"/>
    <p:sldId id="304" r:id="rId21"/>
    <p:sldId id="525" r:id="rId22"/>
    <p:sldId id="636" r:id="rId23"/>
    <p:sldId id="627" r:id="rId24"/>
    <p:sldId id="629" r:id="rId25"/>
    <p:sldId id="296" r:id="rId26"/>
    <p:sldId id="630" r:id="rId27"/>
    <p:sldId id="307" r:id="rId28"/>
    <p:sldId id="311" r:id="rId29"/>
    <p:sldId id="305" r:id="rId30"/>
    <p:sldId id="631" r:id="rId31"/>
    <p:sldId id="632" r:id="rId32"/>
    <p:sldId id="633" r:id="rId33"/>
    <p:sldId id="309" r:id="rId34"/>
    <p:sldId id="634" r:id="rId35"/>
    <p:sldId id="310" r:id="rId36"/>
    <p:sldId id="312" r:id="rId37"/>
    <p:sldId id="313" r:id="rId38"/>
    <p:sldId id="315" r:id="rId39"/>
    <p:sldId id="316" r:id="rId40"/>
    <p:sldId id="317" r:id="rId41"/>
    <p:sldId id="318" r:id="rId42"/>
    <p:sldId id="319" r:id="rId43"/>
    <p:sldId id="635" r:id="rId44"/>
    <p:sldId id="306" r:id="rId45"/>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6" userDrawn="1">
          <p15:clr>
            <a:srgbClr val="A4A3A4"/>
          </p15:clr>
        </p15:guide>
        <p15:guide id="2" pos="370" userDrawn="1">
          <p15:clr>
            <a:srgbClr val="A4A3A4"/>
          </p15:clr>
        </p15:guide>
        <p15:guide id="3" pos="7310" userDrawn="1">
          <p15:clr>
            <a:srgbClr val="A4A3A4"/>
          </p15:clr>
        </p15:guide>
        <p15:guide id="4" orient="horz" pos="3952" userDrawn="1">
          <p15:clr>
            <a:srgbClr val="A4A3A4"/>
          </p15:clr>
        </p15:guide>
        <p15:guide id="6" orient="horz" pos="2160" userDrawn="1">
          <p15:clr>
            <a:srgbClr val="A4A3A4"/>
          </p15:clr>
        </p15:guide>
        <p15:guide id="7"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a:srgbClr val="FF7B10"/>
    <a:srgbClr val="D2D2D2"/>
    <a:srgbClr val="4FB97C"/>
    <a:srgbClr val="F59B23"/>
    <a:srgbClr val="D1D1D1"/>
    <a:srgbClr val="4A927E"/>
    <a:srgbClr val="50B845"/>
    <a:srgbClr val="17E68C"/>
    <a:srgbClr val="0063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ABFCF23-3B69-468F-B69F-88F6DE6A72F2}" styleName="Estilo Médio 1 - Ênfase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42" autoAdjust="0"/>
    <p:restoredTop sz="94109" autoAdjust="0"/>
  </p:normalViewPr>
  <p:slideViewPr>
    <p:cSldViewPr snapToGrid="0" snapToObjects="1" showGuides="1">
      <p:cViewPr varScale="1">
        <p:scale>
          <a:sx n="68" d="100"/>
          <a:sy n="68" d="100"/>
        </p:scale>
        <p:origin x="90" y="72"/>
      </p:cViewPr>
      <p:guideLst>
        <p:guide orient="horz" pos="346"/>
        <p:guide pos="370"/>
        <p:guide pos="7310"/>
        <p:guide orient="horz" pos="3952"/>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A4127-A1D2-0047-9341-3555D06F4EEF}" type="datetimeFigureOut">
              <a:rPr lang="pt-BR" smtClean="0"/>
              <a:t>26/02/2025</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FACF9F-2E24-174A-8BB6-E8B2817626A0}" type="slidenum">
              <a:rPr lang="pt-BR" smtClean="0"/>
              <a:t>‹nº›</a:t>
            </a:fld>
            <a:endParaRPr lang="pt-BR"/>
          </a:p>
        </p:txBody>
      </p:sp>
    </p:spTree>
    <p:extLst>
      <p:ext uri="{BB962C8B-B14F-4D97-AF65-F5344CB8AC3E}">
        <p14:creationId xmlns:p14="http://schemas.microsoft.com/office/powerpoint/2010/main" val="3415409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A0FACF9F-2E24-174A-8BB6-E8B2817626A0}" type="slidenum">
              <a:rPr lang="pt-BR" smtClean="0"/>
              <a:t>1</a:t>
            </a:fld>
            <a:endParaRPr lang="pt-BR"/>
          </a:p>
        </p:txBody>
      </p:sp>
    </p:spTree>
    <p:extLst>
      <p:ext uri="{BB962C8B-B14F-4D97-AF65-F5344CB8AC3E}">
        <p14:creationId xmlns:p14="http://schemas.microsoft.com/office/powerpoint/2010/main" val="2585929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4</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1133901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5</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2689276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6</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731354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7</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18889715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8</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1585260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9</a:t>
            </a:fld>
            <a:endParaRPr lang="pt-BR" dirty="0"/>
          </a:p>
        </p:txBody>
      </p:sp>
      <p:sp>
        <p:nvSpPr>
          <p:cNvPr id="5" name="Espaço Reservado para Data 4"/>
          <p:cNvSpPr>
            <a:spLocks noGrp="1"/>
          </p:cNvSpPr>
          <p:nvPr>
            <p:ph type="dt" idx="11"/>
          </p:nvPr>
        </p:nvSpPr>
        <p:spPr/>
        <p:txBody>
          <a:bodyPr/>
          <a:lstStyle/>
          <a:p>
            <a:endParaRPr lang="pt-B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10</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24242545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12</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2689276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13</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26469800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14</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9776402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15</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33145092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16</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12622603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17</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15083077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18</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8549498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19</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31376008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20</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38697352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A0FACF9F-2E24-174A-8BB6-E8B2817626A0}" type="slidenum">
              <a:rPr lang="pt-BR" smtClean="0"/>
              <a:t>21</a:t>
            </a:fld>
            <a:endParaRPr lang="pt-BR"/>
          </a:p>
        </p:txBody>
      </p:sp>
    </p:spTree>
    <p:extLst>
      <p:ext uri="{BB962C8B-B14F-4D97-AF65-F5344CB8AC3E}">
        <p14:creationId xmlns:p14="http://schemas.microsoft.com/office/powerpoint/2010/main" val="28452721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22</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30000807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23</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11339019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24</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26892768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25</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40474008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26</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9611097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27</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20842877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28</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3328849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29</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2681839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30</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16795210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31</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9566406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32</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15023588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33</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28555245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34</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32021916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35</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24672998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36</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31306977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37</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28144768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38</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20400506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39</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37896041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40</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15121139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41</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40793383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42</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42826601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43</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25756192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35627920-97F9-4D53-8319-3F8805780C7F}" type="slidenum">
              <a:rPr lang="pt-BR" smtClean="0"/>
              <a:pPr/>
              <a:t>44</a:t>
            </a:fld>
            <a:endParaRPr lang="pt-BR" dirty="0"/>
          </a:p>
        </p:txBody>
      </p:sp>
      <p:sp>
        <p:nvSpPr>
          <p:cNvPr id="5" name="Espaço Reservado para Data 4"/>
          <p:cNvSpPr>
            <a:spLocks noGrp="1"/>
          </p:cNvSpPr>
          <p:nvPr>
            <p:ph type="dt" idx="11"/>
          </p:nvPr>
        </p:nvSpPr>
        <p:spPr/>
        <p:txBody>
          <a:bodyPr/>
          <a:lstStyle/>
          <a:p>
            <a:endParaRPr lang="pt-BR" dirty="0"/>
          </a:p>
        </p:txBody>
      </p:sp>
    </p:spTree>
    <p:extLst>
      <p:ext uri="{BB962C8B-B14F-4D97-AF65-F5344CB8AC3E}">
        <p14:creationId xmlns:p14="http://schemas.microsoft.com/office/powerpoint/2010/main" val="1172929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5205D1-0C5D-3847-B47C-99BD23437838}"/>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3B22E44E-256C-7C44-A4CA-A37373F0A3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D95D9337-975D-1742-96BA-4A565DCEC07B}"/>
              </a:ext>
            </a:extLst>
          </p:cNvPr>
          <p:cNvSpPr>
            <a:spLocks noGrp="1"/>
          </p:cNvSpPr>
          <p:nvPr>
            <p:ph type="dt" sz="half" idx="10"/>
          </p:nvPr>
        </p:nvSpPr>
        <p:spPr/>
        <p:txBody>
          <a:bodyPr/>
          <a:lstStyle/>
          <a:p>
            <a:fld id="{88CAD2BA-3BDA-2B44-A67A-9AA0278FC24F}" type="datetimeFigureOut">
              <a:rPr lang="pt-BR" smtClean="0"/>
              <a:t>26/02/2025</a:t>
            </a:fld>
            <a:endParaRPr lang="pt-BR"/>
          </a:p>
        </p:txBody>
      </p:sp>
      <p:sp>
        <p:nvSpPr>
          <p:cNvPr id="5" name="Espaço Reservado para Rodapé 4">
            <a:extLst>
              <a:ext uri="{FF2B5EF4-FFF2-40B4-BE49-F238E27FC236}">
                <a16:creationId xmlns:a16="http://schemas.microsoft.com/office/drawing/2014/main" id="{62522AFE-91CA-DC48-B4EA-D832424EFB01}"/>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E2E65C7-90C3-8B46-8576-9FDA9B1E491E}"/>
              </a:ext>
            </a:extLst>
          </p:cNvPr>
          <p:cNvSpPr>
            <a:spLocks noGrp="1"/>
          </p:cNvSpPr>
          <p:nvPr>
            <p:ph type="sldNum" sz="quarter" idx="12"/>
          </p:nvPr>
        </p:nvSpPr>
        <p:spPr/>
        <p:txBody>
          <a:bodyPr/>
          <a:lstStyle/>
          <a:p>
            <a:fld id="{8FCABB0C-7B52-2C44-8620-3AC684FD215A}" type="slidenum">
              <a:rPr lang="pt-BR" smtClean="0"/>
              <a:t>‹nº›</a:t>
            </a:fld>
            <a:endParaRPr lang="pt-BR"/>
          </a:p>
        </p:txBody>
      </p:sp>
    </p:spTree>
    <p:extLst>
      <p:ext uri="{BB962C8B-B14F-4D97-AF65-F5344CB8AC3E}">
        <p14:creationId xmlns:p14="http://schemas.microsoft.com/office/powerpoint/2010/main" val="2828660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92DAFE-B4BC-4548-92B1-293DB0F95CC3}"/>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DDCDA374-F438-854E-97A9-0AA7328B659C}"/>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114A8E94-20F9-3B4F-A334-D09ABA8A25E6}"/>
              </a:ext>
            </a:extLst>
          </p:cNvPr>
          <p:cNvSpPr>
            <a:spLocks noGrp="1"/>
          </p:cNvSpPr>
          <p:nvPr>
            <p:ph type="dt" sz="half" idx="10"/>
          </p:nvPr>
        </p:nvSpPr>
        <p:spPr/>
        <p:txBody>
          <a:bodyPr/>
          <a:lstStyle/>
          <a:p>
            <a:fld id="{88CAD2BA-3BDA-2B44-A67A-9AA0278FC24F}" type="datetimeFigureOut">
              <a:rPr lang="pt-BR" smtClean="0"/>
              <a:t>26/02/2025</a:t>
            </a:fld>
            <a:endParaRPr lang="pt-BR"/>
          </a:p>
        </p:txBody>
      </p:sp>
      <p:sp>
        <p:nvSpPr>
          <p:cNvPr id="5" name="Espaço Reservado para Rodapé 4">
            <a:extLst>
              <a:ext uri="{FF2B5EF4-FFF2-40B4-BE49-F238E27FC236}">
                <a16:creationId xmlns:a16="http://schemas.microsoft.com/office/drawing/2014/main" id="{378E2FCE-308F-F141-9384-9109170B67D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469C6633-4B8C-2F40-BDA4-71B396101A9C}"/>
              </a:ext>
            </a:extLst>
          </p:cNvPr>
          <p:cNvSpPr>
            <a:spLocks noGrp="1"/>
          </p:cNvSpPr>
          <p:nvPr>
            <p:ph type="sldNum" sz="quarter" idx="12"/>
          </p:nvPr>
        </p:nvSpPr>
        <p:spPr/>
        <p:txBody>
          <a:bodyPr/>
          <a:lstStyle/>
          <a:p>
            <a:fld id="{8FCABB0C-7B52-2C44-8620-3AC684FD215A}" type="slidenum">
              <a:rPr lang="pt-BR" smtClean="0"/>
              <a:t>‹nº›</a:t>
            </a:fld>
            <a:endParaRPr lang="pt-BR"/>
          </a:p>
        </p:txBody>
      </p:sp>
    </p:spTree>
    <p:extLst>
      <p:ext uri="{BB962C8B-B14F-4D97-AF65-F5344CB8AC3E}">
        <p14:creationId xmlns:p14="http://schemas.microsoft.com/office/powerpoint/2010/main" val="2336076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2039C2-104F-384D-B0D7-36B78E8ABFA7}"/>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09D0C69A-6DDA-1642-BA6E-834494300A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4E587976-E240-B445-81F1-62369B0EDEA8}"/>
              </a:ext>
            </a:extLst>
          </p:cNvPr>
          <p:cNvSpPr>
            <a:spLocks noGrp="1"/>
          </p:cNvSpPr>
          <p:nvPr>
            <p:ph type="dt" sz="half" idx="10"/>
          </p:nvPr>
        </p:nvSpPr>
        <p:spPr/>
        <p:txBody>
          <a:bodyPr/>
          <a:lstStyle/>
          <a:p>
            <a:fld id="{88CAD2BA-3BDA-2B44-A67A-9AA0278FC24F}" type="datetimeFigureOut">
              <a:rPr lang="pt-BR" smtClean="0"/>
              <a:t>26/02/2025</a:t>
            </a:fld>
            <a:endParaRPr lang="pt-BR"/>
          </a:p>
        </p:txBody>
      </p:sp>
      <p:sp>
        <p:nvSpPr>
          <p:cNvPr id="5" name="Espaço Reservado para Rodapé 4">
            <a:extLst>
              <a:ext uri="{FF2B5EF4-FFF2-40B4-BE49-F238E27FC236}">
                <a16:creationId xmlns:a16="http://schemas.microsoft.com/office/drawing/2014/main" id="{DE066966-B803-3A4B-8384-75D7F7F65E37}"/>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D7ECAFD0-39D2-5742-B200-2476F7CFB854}"/>
              </a:ext>
            </a:extLst>
          </p:cNvPr>
          <p:cNvSpPr>
            <a:spLocks noGrp="1"/>
          </p:cNvSpPr>
          <p:nvPr>
            <p:ph type="sldNum" sz="quarter" idx="12"/>
          </p:nvPr>
        </p:nvSpPr>
        <p:spPr/>
        <p:txBody>
          <a:bodyPr/>
          <a:lstStyle/>
          <a:p>
            <a:fld id="{8FCABB0C-7B52-2C44-8620-3AC684FD215A}" type="slidenum">
              <a:rPr lang="pt-BR" smtClean="0"/>
              <a:t>‹nº›</a:t>
            </a:fld>
            <a:endParaRPr lang="pt-BR"/>
          </a:p>
        </p:txBody>
      </p:sp>
    </p:spTree>
    <p:extLst>
      <p:ext uri="{BB962C8B-B14F-4D97-AF65-F5344CB8AC3E}">
        <p14:creationId xmlns:p14="http://schemas.microsoft.com/office/powerpoint/2010/main" val="558085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9D5F95-BFB8-C743-950B-C0A1751DC3DF}"/>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71E51A10-52A6-D440-8662-AD0EBF8AA1E5}"/>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8FEBF534-D541-8F43-BC1F-74129E183C10}"/>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9A4E6DA6-F578-A848-9D83-8B72974A41B0}"/>
              </a:ext>
            </a:extLst>
          </p:cNvPr>
          <p:cNvSpPr>
            <a:spLocks noGrp="1"/>
          </p:cNvSpPr>
          <p:nvPr>
            <p:ph type="dt" sz="half" idx="10"/>
          </p:nvPr>
        </p:nvSpPr>
        <p:spPr/>
        <p:txBody>
          <a:bodyPr/>
          <a:lstStyle/>
          <a:p>
            <a:fld id="{88CAD2BA-3BDA-2B44-A67A-9AA0278FC24F}" type="datetimeFigureOut">
              <a:rPr lang="pt-BR" smtClean="0"/>
              <a:t>26/02/2025</a:t>
            </a:fld>
            <a:endParaRPr lang="pt-BR"/>
          </a:p>
        </p:txBody>
      </p:sp>
      <p:sp>
        <p:nvSpPr>
          <p:cNvPr id="6" name="Espaço Reservado para Rodapé 5">
            <a:extLst>
              <a:ext uri="{FF2B5EF4-FFF2-40B4-BE49-F238E27FC236}">
                <a16:creationId xmlns:a16="http://schemas.microsoft.com/office/drawing/2014/main" id="{A15AFDE8-B0BC-CB40-BE7A-DD97095021FC}"/>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87578BF4-7DA1-9B4F-B622-0C92C4A17412}"/>
              </a:ext>
            </a:extLst>
          </p:cNvPr>
          <p:cNvSpPr>
            <a:spLocks noGrp="1"/>
          </p:cNvSpPr>
          <p:nvPr>
            <p:ph type="sldNum" sz="quarter" idx="12"/>
          </p:nvPr>
        </p:nvSpPr>
        <p:spPr/>
        <p:txBody>
          <a:bodyPr/>
          <a:lstStyle/>
          <a:p>
            <a:fld id="{8FCABB0C-7B52-2C44-8620-3AC684FD215A}" type="slidenum">
              <a:rPr lang="pt-BR" smtClean="0"/>
              <a:t>‹nº›</a:t>
            </a:fld>
            <a:endParaRPr lang="pt-BR"/>
          </a:p>
        </p:txBody>
      </p:sp>
    </p:spTree>
    <p:extLst>
      <p:ext uri="{BB962C8B-B14F-4D97-AF65-F5344CB8AC3E}">
        <p14:creationId xmlns:p14="http://schemas.microsoft.com/office/powerpoint/2010/main" val="2672478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181F3A-8E06-494E-8182-499E7BA20C13}"/>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5DB723A2-1B5B-DE49-9D3A-0F441753B3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B1BCEEA5-FF74-9D4D-98A0-D557F0B832C8}"/>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08D48BD1-EC54-B240-99B5-FE8CF1E5EC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7EA9BE41-884E-3A4E-B420-6FDBE8FBF7E5}"/>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B5A65B66-02CD-BC4B-B44B-0DB8E2CA09F6}"/>
              </a:ext>
            </a:extLst>
          </p:cNvPr>
          <p:cNvSpPr>
            <a:spLocks noGrp="1"/>
          </p:cNvSpPr>
          <p:nvPr>
            <p:ph type="dt" sz="half" idx="10"/>
          </p:nvPr>
        </p:nvSpPr>
        <p:spPr/>
        <p:txBody>
          <a:bodyPr/>
          <a:lstStyle/>
          <a:p>
            <a:fld id="{88CAD2BA-3BDA-2B44-A67A-9AA0278FC24F}" type="datetimeFigureOut">
              <a:rPr lang="pt-BR" smtClean="0"/>
              <a:t>26/02/2025</a:t>
            </a:fld>
            <a:endParaRPr lang="pt-BR"/>
          </a:p>
        </p:txBody>
      </p:sp>
      <p:sp>
        <p:nvSpPr>
          <p:cNvPr id="8" name="Espaço Reservado para Rodapé 7">
            <a:extLst>
              <a:ext uri="{FF2B5EF4-FFF2-40B4-BE49-F238E27FC236}">
                <a16:creationId xmlns:a16="http://schemas.microsoft.com/office/drawing/2014/main" id="{FAE2A5FB-554E-154A-94C5-277A007E9849}"/>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94C752E5-C90A-7B49-B0DF-0EA5B8C145B7}"/>
              </a:ext>
            </a:extLst>
          </p:cNvPr>
          <p:cNvSpPr>
            <a:spLocks noGrp="1"/>
          </p:cNvSpPr>
          <p:nvPr>
            <p:ph type="sldNum" sz="quarter" idx="12"/>
          </p:nvPr>
        </p:nvSpPr>
        <p:spPr/>
        <p:txBody>
          <a:bodyPr/>
          <a:lstStyle/>
          <a:p>
            <a:fld id="{8FCABB0C-7B52-2C44-8620-3AC684FD215A}" type="slidenum">
              <a:rPr lang="pt-BR" smtClean="0"/>
              <a:t>‹nº›</a:t>
            </a:fld>
            <a:endParaRPr lang="pt-BR"/>
          </a:p>
        </p:txBody>
      </p:sp>
    </p:spTree>
    <p:extLst>
      <p:ext uri="{BB962C8B-B14F-4D97-AF65-F5344CB8AC3E}">
        <p14:creationId xmlns:p14="http://schemas.microsoft.com/office/powerpoint/2010/main" val="4210963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19EC3E-51B8-3F41-8B8D-BFDCFFD5D900}"/>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467773BB-DA20-624E-92EF-CD22D68ACF4A}"/>
              </a:ext>
            </a:extLst>
          </p:cNvPr>
          <p:cNvSpPr>
            <a:spLocks noGrp="1"/>
          </p:cNvSpPr>
          <p:nvPr>
            <p:ph type="dt" sz="half" idx="10"/>
          </p:nvPr>
        </p:nvSpPr>
        <p:spPr/>
        <p:txBody>
          <a:bodyPr/>
          <a:lstStyle/>
          <a:p>
            <a:fld id="{88CAD2BA-3BDA-2B44-A67A-9AA0278FC24F}" type="datetimeFigureOut">
              <a:rPr lang="pt-BR" smtClean="0"/>
              <a:t>26/02/2025</a:t>
            </a:fld>
            <a:endParaRPr lang="pt-BR"/>
          </a:p>
        </p:txBody>
      </p:sp>
      <p:sp>
        <p:nvSpPr>
          <p:cNvPr id="4" name="Espaço Reservado para Rodapé 3">
            <a:extLst>
              <a:ext uri="{FF2B5EF4-FFF2-40B4-BE49-F238E27FC236}">
                <a16:creationId xmlns:a16="http://schemas.microsoft.com/office/drawing/2014/main" id="{C59E87D7-3C8B-DA44-9A97-8478962EB8D3}"/>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D0D00363-79FC-B14C-B1CE-3D271C422E5A}"/>
              </a:ext>
            </a:extLst>
          </p:cNvPr>
          <p:cNvSpPr>
            <a:spLocks noGrp="1"/>
          </p:cNvSpPr>
          <p:nvPr>
            <p:ph type="sldNum" sz="quarter" idx="12"/>
          </p:nvPr>
        </p:nvSpPr>
        <p:spPr/>
        <p:txBody>
          <a:bodyPr/>
          <a:lstStyle/>
          <a:p>
            <a:fld id="{8FCABB0C-7B52-2C44-8620-3AC684FD215A}" type="slidenum">
              <a:rPr lang="pt-BR" smtClean="0"/>
              <a:t>‹nº›</a:t>
            </a:fld>
            <a:endParaRPr lang="pt-BR"/>
          </a:p>
        </p:txBody>
      </p:sp>
    </p:spTree>
    <p:extLst>
      <p:ext uri="{BB962C8B-B14F-4D97-AF65-F5344CB8AC3E}">
        <p14:creationId xmlns:p14="http://schemas.microsoft.com/office/powerpoint/2010/main" val="2227841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96EFBFC-554A-284E-A4EB-4C9B3E01264E}"/>
              </a:ext>
            </a:extLst>
          </p:cNvPr>
          <p:cNvSpPr>
            <a:spLocks noGrp="1"/>
          </p:cNvSpPr>
          <p:nvPr>
            <p:ph type="dt" sz="half" idx="10"/>
          </p:nvPr>
        </p:nvSpPr>
        <p:spPr/>
        <p:txBody>
          <a:bodyPr/>
          <a:lstStyle/>
          <a:p>
            <a:fld id="{88CAD2BA-3BDA-2B44-A67A-9AA0278FC24F}" type="datetimeFigureOut">
              <a:rPr lang="pt-BR" smtClean="0"/>
              <a:t>26/02/2025</a:t>
            </a:fld>
            <a:endParaRPr lang="pt-BR"/>
          </a:p>
        </p:txBody>
      </p:sp>
      <p:sp>
        <p:nvSpPr>
          <p:cNvPr id="3" name="Espaço Reservado para Rodapé 2">
            <a:extLst>
              <a:ext uri="{FF2B5EF4-FFF2-40B4-BE49-F238E27FC236}">
                <a16:creationId xmlns:a16="http://schemas.microsoft.com/office/drawing/2014/main" id="{CD14DD9D-5906-3B4D-939B-DF62EC0E9E30}"/>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CCDF8C29-46C0-2740-8D01-46C7BD84F50A}"/>
              </a:ext>
            </a:extLst>
          </p:cNvPr>
          <p:cNvSpPr>
            <a:spLocks noGrp="1"/>
          </p:cNvSpPr>
          <p:nvPr>
            <p:ph type="sldNum" sz="quarter" idx="12"/>
          </p:nvPr>
        </p:nvSpPr>
        <p:spPr/>
        <p:txBody>
          <a:bodyPr/>
          <a:lstStyle/>
          <a:p>
            <a:fld id="{8FCABB0C-7B52-2C44-8620-3AC684FD215A}" type="slidenum">
              <a:rPr lang="pt-BR" smtClean="0"/>
              <a:t>‹nº›</a:t>
            </a:fld>
            <a:endParaRPr lang="pt-BR"/>
          </a:p>
        </p:txBody>
      </p:sp>
    </p:spTree>
    <p:extLst>
      <p:ext uri="{BB962C8B-B14F-4D97-AF65-F5344CB8AC3E}">
        <p14:creationId xmlns:p14="http://schemas.microsoft.com/office/powerpoint/2010/main" val="2874189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2EA854-0072-0044-B653-F2D065DD4BCA}"/>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00A0B073-DB8F-DA4D-B9C5-C1AF9A49D0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3E402B32-A8C1-9540-B954-95A7FDBB18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A9B5F688-91EC-FA46-8EBA-3AF940E8CDCC}"/>
              </a:ext>
            </a:extLst>
          </p:cNvPr>
          <p:cNvSpPr>
            <a:spLocks noGrp="1"/>
          </p:cNvSpPr>
          <p:nvPr>
            <p:ph type="dt" sz="half" idx="10"/>
          </p:nvPr>
        </p:nvSpPr>
        <p:spPr/>
        <p:txBody>
          <a:bodyPr/>
          <a:lstStyle/>
          <a:p>
            <a:fld id="{88CAD2BA-3BDA-2B44-A67A-9AA0278FC24F}" type="datetimeFigureOut">
              <a:rPr lang="pt-BR" smtClean="0"/>
              <a:t>26/02/2025</a:t>
            </a:fld>
            <a:endParaRPr lang="pt-BR"/>
          </a:p>
        </p:txBody>
      </p:sp>
      <p:sp>
        <p:nvSpPr>
          <p:cNvPr id="6" name="Espaço Reservado para Rodapé 5">
            <a:extLst>
              <a:ext uri="{FF2B5EF4-FFF2-40B4-BE49-F238E27FC236}">
                <a16:creationId xmlns:a16="http://schemas.microsoft.com/office/drawing/2014/main" id="{4F06F2FE-FD3A-144C-92B7-721334228078}"/>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50439851-6FBD-1E43-8FDD-440315C96D2E}"/>
              </a:ext>
            </a:extLst>
          </p:cNvPr>
          <p:cNvSpPr>
            <a:spLocks noGrp="1"/>
          </p:cNvSpPr>
          <p:nvPr>
            <p:ph type="sldNum" sz="quarter" idx="12"/>
          </p:nvPr>
        </p:nvSpPr>
        <p:spPr/>
        <p:txBody>
          <a:bodyPr/>
          <a:lstStyle/>
          <a:p>
            <a:fld id="{8FCABB0C-7B52-2C44-8620-3AC684FD215A}" type="slidenum">
              <a:rPr lang="pt-BR" smtClean="0"/>
              <a:t>‹nº›</a:t>
            </a:fld>
            <a:endParaRPr lang="pt-BR"/>
          </a:p>
        </p:txBody>
      </p:sp>
    </p:spTree>
    <p:extLst>
      <p:ext uri="{BB962C8B-B14F-4D97-AF65-F5344CB8AC3E}">
        <p14:creationId xmlns:p14="http://schemas.microsoft.com/office/powerpoint/2010/main" val="3367651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7F14AF-2BAF-F543-B335-2DD37B8E86E6}"/>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41CF6E44-2923-2F42-AC57-2DC8A16DE3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0325C768-FD30-2240-80B2-A1AC144290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8F9159E8-7D1F-964E-BE77-1BF31E78D14B}"/>
              </a:ext>
            </a:extLst>
          </p:cNvPr>
          <p:cNvSpPr>
            <a:spLocks noGrp="1"/>
          </p:cNvSpPr>
          <p:nvPr>
            <p:ph type="dt" sz="half" idx="10"/>
          </p:nvPr>
        </p:nvSpPr>
        <p:spPr/>
        <p:txBody>
          <a:bodyPr/>
          <a:lstStyle/>
          <a:p>
            <a:fld id="{88CAD2BA-3BDA-2B44-A67A-9AA0278FC24F}" type="datetimeFigureOut">
              <a:rPr lang="pt-BR" smtClean="0"/>
              <a:t>26/02/2025</a:t>
            </a:fld>
            <a:endParaRPr lang="pt-BR"/>
          </a:p>
        </p:txBody>
      </p:sp>
      <p:sp>
        <p:nvSpPr>
          <p:cNvPr id="6" name="Espaço Reservado para Rodapé 5">
            <a:extLst>
              <a:ext uri="{FF2B5EF4-FFF2-40B4-BE49-F238E27FC236}">
                <a16:creationId xmlns:a16="http://schemas.microsoft.com/office/drawing/2014/main" id="{1994AC93-63C3-2D40-9197-9045C56F871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71C20E1C-FB87-A54D-BF27-44F237BE9B17}"/>
              </a:ext>
            </a:extLst>
          </p:cNvPr>
          <p:cNvSpPr>
            <a:spLocks noGrp="1"/>
          </p:cNvSpPr>
          <p:nvPr>
            <p:ph type="sldNum" sz="quarter" idx="12"/>
          </p:nvPr>
        </p:nvSpPr>
        <p:spPr/>
        <p:txBody>
          <a:bodyPr/>
          <a:lstStyle/>
          <a:p>
            <a:fld id="{8FCABB0C-7B52-2C44-8620-3AC684FD215A}" type="slidenum">
              <a:rPr lang="pt-BR" smtClean="0"/>
              <a:t>‹nº›</a:t>
            </a:fld>
            <a:endParaRPr lang="pt-BR"/>
          </a:p>
        </p:txBody>
      </p:sp>
    </p:spTree>
    <p:extLst>
      <p:ext uri="{BB962C8B-B14F-4D97-AF65-F5344CB8AC3E}">
        <p14:creationId xmlns:p14="http://schemas.microsoft.com/office/powerpoint/2010/main" val="2767077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5EE796-DB8A-8447-B747-3AA97149DC6B}"/>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E835D720-178D-3F43-A0C9-C902C2D4DB3B}"/>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552AEF88-377F-F34E-9CFB-2C1CED2BEB4B}"/>
              </a:ext>
            </a:extLst>
          </p:cNvPr>
          <p:cNvSpPr>
            <a:spLocks noGrp="1"/>
          </p:cNvSpPr>
          <p:nvPr>
            <p:ph type="dt" sz="half" idx="10"/>
          </p:nvPr>
        </p:nvSpPr>
        <p:spPr/>
        <p:txBody>
          <a:bodyPr/>
          <a:lstStyle/>
          <a:p>
            <a:fld id="{88CAD2BA-3BDA-2B44-A67A-9AA0278FC24F}" type="datetimeFigureOut">
              <a:rPr lang="pt-BR" smtClean="0"/>
              <a:t>26/02/2025</a:t>
            </a:fld>
            <a:endParaRPr lang="pt-BR"/>
          </a:p>
        </p:txBody>
      </p:sp>
      <p:sp>
        <p:nvSpPr>
          <p:cNvPr id="5" name="Espaço Reservado para Rodapé 4">
            <a:extLst>
              <a:ext uri="{FF2B5EF4-FFF2-40B4-BE49-F238E27FC236}">
                <a16:creationId xmlns:a16="http://schemas.microsoft.com/office/drawing/2014/main" id="{DE2F45B7-CDA4-764C-9404-FA37633352E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FB837CE-0577-384E-A5B3-8CF8867CCD48}"/>
              </a:ext>
            </a:extLst>
          </p:cNvPr>
          <p:cNvSpPr>
            <a:spLocks noGrp="1"/>
          </p:cNvSpPr>
          <p:nvPr>
            <p:ph type="sldNum" sz="quarter" idx="12"/>
          </p:nvPr>
        </p:nvSpPr>
        <p:spPr/>
        <p:txBody>
          <a:bodyPr/>
          <a:lstStyle/>
          <a:p>
            <a:fld id="{8FCABB0C-7B52-2C44-8620-3AC684FD215A}" type="slidenum">
              <a:rPr lang="pt-BR" smtClean="0"/>
              <a:t>‹nº›</a:t>
            </a:fld>
            <a:endParaRPr lang="pt-BR"/>
          </a:p>
        </p:txBody>
      </p:sp>
    </p:spTree>
    <p:extLst>
      <p:ext uri="{BB962C8B-B14F-4D97-AF65-F5344CB8AC3E}">
        <p14:creationId xmlns:p14="http://schemas.microsoft.com/office/powerpoint/2010/main" val="2977552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42C4CD4-03F5-C14E-ABC0-C337AC5486FA}"/>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477CA02D-2424-3F49-B37C-8FC507A647AE}"/>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7793A89-C464-AD4A-92F7-A6DFC3B85D1B}"/>
              </a:ext>
            </a:extLst>
          </p:cNvPr>
          <p:cNvSpPr>
            <a:spLocks noGrp="1"/>
          </p:cNvSpPr>
          <p:nvPr>
            <p:ph type="dt" sz="half" idx="10"/>
          </p:nvPr>
        </p:nvSpPr>
        <p:spPr/>
        <p:txBody>
          <a:bodyPr/>
          <a:lstStyle/>
          <a:p>
            <a:fld id="{88CAD2BA-3BDA-2B44-A67A-9AA0278FC24F}" type="datetimeFigureOut">
              <a:rPr lang="pt-BR" smtClean="0"/>
              <a:t>26/02/2025</a:t>
            </a:fld>
            <a:endParaRPr lang="pt-BR"/>
          </a:p>
        </p:txBody>
      </p:sp>
      <p:sp>
        <p:nvSpPr>
          <p:cNvPr id="5" name="Espaço Reservado para Rodapé 4">
            <a:extLst>
              <a:ext uri="{FF2B5EF4-FFF2-40B4-BE49-F238E27FC236}">
                <a16:creationId xmlns:a16="http://schemas.microsoft.com/office/drawing/2014/main" id="{6412A756-6DBC-1245-A49C-01D885BCC04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63EB778-268D-CD40-B191-373C83488DC6}"/>
              </a:ext>
            </a:extLst>
          </p:cNvPr>
          <p:cNvSpPr>
            <a:spLocks noGrp="1"/>
          </p:cNvSpPr>
          <p:nvPr>
            <p:ph type="sldNum" sz="quarter" idx="12"/>
          </p:nvPr>
        </p:nvSpPr>
        <p:spPr/>
        <p:txBody>
          <a:bodyPr/>
          <a:lstStyle/>
          <a:p>
            <a:fld id="{8FCABB0C-7B52-2C44-8620-3AC684FD215A}" type="slidenum">
              <a:rPr lang="pt-BR" smtClean="0"/>
              <a:t>‹nº›</a:t>
            </a:fld>
            <a:endParaRPr lang="pt-BR"/>
          </a:p>
        </p:txBody>
      </p:sp>
    </p:spTree>
    <p:extLst>
      <p:ext uri="{BB962C8B-B14F-4D97-AF65-F5344CB8AC3E}">
        <p14:creationId xmlns:p14="http://schemas.microsoft.com/office/powerpoint/2010/main" val="3505157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2C2641DC-25AE-4B4A-ACA1-773667CC20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B0EAF497-2CCA-9342-871E-1C5B972740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2D3EB93-8CA4-E84E-BEC3-422498B825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CAD2BA-3BDA-2B44-A67A-9AA0278FC24F}" type="datetimeFigureOut">
              <a:rPr lang="pt-BR" smtClean="0"/>
              <a:t>26/02/2025</a:t>
            </a:fld>
            <a:endParaRPr lang="pt-BR"/>
          </a:p>
        </p:txBody>
      </p:sp>
      <p:sp>
        <p:nvSpPr>
          <p:cNvPr id="5" name="Espaço Reservado para Rodapé 4">
            <a:extLst>
              <a:ext uri="{FF2B5EF4-FFF2-40B4-BE49-F238E27FC236}">
                <a16:creationId xmlns:a16="http://schemas.microsoft.com/office/drawing/2014/main" id="{C1033803-C6EE-BF47-9072-6F2DDFB409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630EF55F-2A47-9942-98D1-C8707460B4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CABB0C-7B52-2C44-8620-3AC684FD215A}" type="slidenum">
              <a:rPr lang="pt-BR" smtClean="0"/>
              <a:t>‹nº›</a:t>
            </a:fld>
            <a:endParaRPr lang="pt-BR"/>
          </a:p>
        </p:txBody>
      </p:sp>
    </p:spTree>
    <p:extLst>
      <p:ext uri="{BB962C8B-B14F-4D97-AF65-F5344CB8AC3E}">
        <p14:creationId xmlns:p14="http://schemas.microsoft.com/office/powerpoint/2010/main" val="19650312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mailto:nome@suaempresa.com.br"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7.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azure.microsoft.com/en-gb/global-infrastructure/geographies/#overview"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aws.amazon.com/pt/about-aws/global-infrastructure/"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4" name="Imagem 13">
            <a:extLst>
              <a:ext uri="{FF2B5EF4-FFF2-40B4-BE49-F238E27FC236}">
                <a16:creationId xmlns:a16="http://schemas.microsoft.com/office/drawing/2014/main" id="{E9C4341D-E3F2-464E-AFBF-956E5FDE0678}"/>
              </a:ext>
            </a:extLst>
          </p:cNvPr>
          <p:cNvPicPr>
            <a:picLocks noChangeAspect="1"/>
          </p:cNvPicPr>
          <p:nvPr/>
        </p:nvPicPr>
        <p:blipFill>
          <a:blip r:embed="rId4">
            <a:alphaModFix amt="50000"/>
          </a:blip>
          <a:stretch>
            <a:fillRect/>
          </a:stretch>
        </p:blipFill>
        <p:spPr>
          <a:xfrm>
            <a:off x="9580110" y="6070601"/>
            <a:ext cx="2021340" cy="425076"/>
          </a:xfrm>
          <a:prstGeom prst="rect">
            <a:avLst/>
          </a:prstGeom>
        </p:spPr>
      </p:pic>
      <p:sp>
        <p:nvSpPr>
          <p:cNvPr id="4" name="CaixaDeTexto 3">
            <a:extLst>
              <a:ext uri="{FF2B5EF4-FFF2-40B4-BE49-F238E27FC236}">
                <a16:creationId xmlns:a16="http://schemas.microsoft.com/office/drawing/2014/main" id="{6BBB1F0A-415C-4A42-B77D-55D092C474F6}"/>
              </a:ext>
            </a:extLst>
          </p:cNvPr>
          <p:cNvSpPr txBox="1"/>
          <p:nvPr/>
        </p:nvSpPr>
        <p:spPr>
          <a:xfrm>
            <a:off x="2129618" y="2991198"/>
            <a:ext cx="7951940" cy="1200329"/>
          </a:xfrm>
          <a:prstGeom prst="rect">
            <a:avLst/>
          </a:prstGeom>
          <a:noFill/>
        </p:spPr>
        <p:txBody>
          <a:bodyPr wrap="square" rtlCol="0">
            <a:spAutoFit/>
          </a:bodyPr>
          <a:lstStyle/>
          <a:p>
            <a:pPr algn="ctr"/>
            <a:r>
              <a:rPr lang="pt-BR" sz="3600" b="1" dirty="0">
                <a:solidFill>
                  <a:schemeClr val="bg1"/>
                </a:solidFill>
                <a:latin typeface="Arial" panose="020B0604020202020204" pitchFamily="34" charset="0"/>
                <a:cs typeface="Arial" panose="020B0604020202020204" pitchFamily="34" charset="0"/>
              </a:rPr>
              <a:t>INFRAESTRUTURA DE TECNOLOGIA DA INFORMAÇÃO</a:t>
            </a:r>
          </a:p>
        </p:txBody>
      </p:sp>
      <p:sp>
        <p:nvSpPr>
          <p:cNvPr id="5" name="Retângulo 4">
            <a:extLst>
              <a:ext uri="{FF2B5EF4-FFF2-40B4-BE49-F238E27FC236}">
                <a16:creationId xmlns:a16="http://schemas.microsoft.com/office/drawing/2014/main" id="{D1E42391-2677-4D21-9DF1-7E9016530017}"/>
              </a:ext>
            </a:extLst>
          </p:cNvPr>
          <p:cNvSpPr/>
          <p:nvPr/>
        </p:nvSpPr>
        <p:spPr>
          <a:xfrm rot="5400000">
            <a:off x="6061118" y="2604486"/>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01920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95669"/>
            <a:ext cx="10515600" cy="1325563"/>
          </a:xfrm>
        </p:spPr>
        <p:txBody>
          <a:bodyPr>
            <a:normAutofit/>
          </a:bodyPr>
          <a:lstStyle/>
          <a:p>
            <a:r>
              <a:rPr lang="pt-BR" dirty="0">
                <a:effectLst>
                  <a:outerShdw blurRad="38100" dist="38100" dir="2700000" algn="tl">
                    <a:srgbClr val="000000">
                      <a:alpha val="43137"/>
                    </a:srgbClr>
                  </a:outerShdw>
                </a:effectLst>
              </a:rPr>
              <a:t>SIBC - </a:t>
            </a:r>
            <a:r>
              <a:rPr lang="pt-BR" sz="3100" dirty="0"/>
              <a:t>Sistema de Informação Baseado em Computador</a:t>
            </a:r>
            <a:endParaRPr lang="pt-BR" dirty="0">
              <a:effectLst>
                <a:outerShdw blurRad="38100" dist="38100" dir="2700000" algn="tl">
                  <a:srgbClr val="000000">
                    <a:alpha val="43137"/>
                  </a:srgbClr>
                </a:outerShdw>
              </a:effectLst>
            </a:endParaRPr>
          </a:p>
        </p:txBody>
      </p:sp>
      <p:sp>
        <p:nvSpPr>
          <p:cNvPr id="8" name="Espaço Reservado para Conteúdo 2"/>
          <p:cNvSpPr>
            <a:spLocks noGrp="1"/>
          </p:cNvSpPr>
          <p:nvPr>
            <p:ph idx="1"/>
          </p:nvPr>
        </p:nvSpPr>
        <p:spPr>
          <a:xfrm>
            <a:off x="1962149" y="1347384"/>
            <a:ext cx="8229600" cy="1524000"/>
          </a:xfrm>
        </p:spPr>
        <p:txBody>
          <a:bodyPr anchor="t">
            <a:normAutofit fontScale="92500" lnSpcReduction="10000"/>
          </a:bodyPr>
          <a:lstStyle/>
          <a:p>
            <a:pPr marL="0" indent="0">
              <a:buNone/>
            </a:pPr>
            <a:r>
              <a:rPr lang="pt-BR"/>
              <a:t>“Conjunto ou disposição de </a:t>
            </a:r>
            <a:r>
              <a:rPr lang="pt-BR" b="1"/>
              <a:t>elementos</a:t>
            </a:r>
            <a:r>
              <a:rPr lang="pt-BR"/>
              <a:t>, organizado    para </a:t>
            </a:r>
            <a:r>
              <a:rPr lang="pt-BR" b="1"/>
              <a:t>executar  certo método,  procedimento ou controle ao  processar informações</a:t>
            </a:r>
            <a:r>
              <a:rPr lang="pt-BR"/>
              <a:t>”</a:t>
            </a:r>
          </a:p>
          <a:p>
            <a:pPr marL="273050" lvl="1" indent="0" algn="r">
              <a:buNone/>
            </a:pPr>
            <a:r>
              <a:rPr lang="pt-BR"/>
              <a:t>Pressman</a:t>
            </a:r>
          </a:p>
        </p:txBody>
      </p:sp>
      <p:grpSp>
        <p:nvGrpSpPr>
          <p:cNvPr id="3" name="Grupo 2"/>
          <p:cNvGrpSpPr/>
          <p:nvPr/>
        </p:nvGrpSpPr>
        <p:grpSpPr>
          <a:xfrm>
            <a:off x="1609725" y="2533277"/>
            <a:ext cx="8763000" cy="3962400"/>
            <a:chOff x="152400" y="2743200"/>
            <a:chExt cx="8763000" cy="3962400"/>
          </a:xfrm>
        </p:grpSpPr>
        <p:pic>
          <p:nvPicPr>
            <p:cNvPr id="1029" name="Picture 5" descr="D:\Documentos\Imagens\_Aulas\SIB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2099" y="2743200"/>
              <a:ext cx="5981701" cy="3962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xmlns="">
                  <a:solidFill>
                    <a:srgbClr val="FFFFFF"/>
                  </a:solidFill>
                </a14:hiddenFill>
              </a:ext>
            </a:extLst>
          </p:spPr>
        </p:pic>
        <p:sp>
          <p:nvSpPr>
            <p:cNvPr id="32" name="AutoShape 148"/>
            <p:cNvSpPr>
              <a:spLocks noChangeArrowheads="1"/>
            </p:cNvSpPr>
            <p:nvPr/>
          </p:nvSpPr>
          <p:spPr bwMode="auto">
            <a:xfrm>
              <a:off x="7637462" y="4419600"/>
              <a:ext cx="1277938" cy="609600"/>
            </a:xfrm>
            <a:custGeom>
              <a:avLst/>
              <a:gdLst>
                <a:gd name="T0" fmla="*/ 7258050 w 21600"/>
                <a:gd name="T1" fmla="*/ 0 h 21600"/>
                <a:gd name="T2" fmla="*/ 0 w 21600"/>
                <a:gd name="T3" fmla="*/ 8602134 h 21600"/>
                <a:gd name="T4" fmla="*/ 7258050 w 21600"/>
                <a:gd name="T5" fmla="*/ 17204267 h 21600"/>
                <a:gd name="T6" fmla="*/ 9677399 w 21600"/>
                <a:gd name="T7" fmla="*/ 8602134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defRPr/>
              </a:pPr>
              <a:r>
                <a:rPr lang="pt-BR">
                  <a:latin typeface="+mj-lt"/>
                </a:rPr>
                <a:t>Saída</a:t>
              </a:r>
            </a:p>
          </p:txBody>
        </p:sp>
        <p:sp>
          <p:nvSpPr>
            <p:cNvPr id="33" name="AutoShape 149"/>
            <p:cNvSpPr>
              <a:spLocks noChangeArrowheads="1"/>
            </p:cNvSpPr>
            <p:nvPr/>
          </p:nvSpPr>
          <p:spPr bwMode="auto">
            <a:xfrm>
              <a:off x="152400" y="4419600"/>
              <a:ext cx="1277938" cy="609600"/>
            </a:xfrm>
            <a:custGeom>
              <a:avLst/>
              <a:gdLst>
                <a:gd name="T0" fmla="*/ 7258050 w 21600"/>
                <a:gd name="T1" fmla="*/ 0 h 21600"/>
                <a:gd name="T2" fmla="*/ 0 w 21600"/>
                <a:gd name="T3" fmla="*/ 8602134 h 21600"/>
                <a:gd name="T4" fmla="*/ 7258050 w 21600"/>
                <a:gd name="T5" fmla="*/ 17204267 h 21600"/>
                <a:gd name="T6" fmla="*/ 9677399 w 21600"/>
                <a:gd name="T7" fmla="*/ 8602134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defRPr/>
              </a:pPr>
              <a:r>
                <a:rPr lang="pt-BR">
                  <a:latin typeface="+mj-lt"/>
                </a:rPr>
                <a:t>Entrada</a:t>
              </a:r>
            </a:p>
          </p:txBody>
        </p:sp>
      </p:grpSp>
      <p:pic>
        <p:nvPicPr>
          <p:cNvPr id="9" name="Imagem 8">
            <a:extLst>
              <a:ext uri="{FF2B5EF4-FFF2-40B4-BE49-F238E27FC236}">
                <a16:creationId xmlns:a16="http://schemas.microsoft.com/office/drawing/2014/main" id="{6922D9A4-8DA5-41D2-8B8E-9FBB59518E1F}"/>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
        <p:nvSpPr>
          <p:cNvPr id="10" name="Retângulo 9">
            <a:extLst>
              <a:ext uri="{FF2B5EF4-FFF2-40B4-BE49-F238E27FC236}">
                <a16:creationId xmlns:a16="http://schemas.microsoft.com/office/drawing/2014/main" id="{F658A787-2AE2-48E4-8FB2-8BB32F9B14E4}"/>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684882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7F021BD8-CF0A-40B3-B094-358B24AE252E}"/>
              </a:ext>
            </a:extLst>
          </p:cNvPr>
          <p:cNvSpPr txBox="1"/>
          <p:nvPr/>
        </p:nvSpPr>
        <p:spPr>
          <a:xfrm>
            <a:off x="587375" y="511912"/>
            <a:ext cx="11014067" cy="646331"/>
          </a:xfrm>
          <a:prstGeom prst="rect">
            <a:avLst/>
          </a:prstGeom>
          <a:noFill/>
        </p:spPr>
        <p:txBody>
          <a:bodyPr wrap="square" rtlCol="0">
            <a:spAutoFit/>
          </a:bodyPr>
          <a:lstStyle/>
          <a:p>
            <a:r>
              <a:rPr lang="pt-BR" sz="3600" dirty="0">
                <a:solidFill>
                  <a:schemeClr val="bg1">
                    <a:lumMod val="75000"/>
                  </a:schemeClr>
                </a:solidFill>
                <a:latin typeface="Arial" panose="020B0604020202020204" pitchFamily="34" charset="0"/>
                <a:cs typeface="Arial" panose="020B0604020202020204" pitchFamily="34" charset="0"/>
              </a:rPr>
              <a:t> Infraestrutura de Tecnologia da Informação</a:t>
            </a:r>
          </a:p>
        </p:txBody>
      </p:sp>
      <p:sp>
        <p:nvSpPr>
          <p:cNvPr id="6" name="Retângulo 5">
            <a:extLst>
              <a:ext uri="{FF2B5EF4-FFF2-40B4-BE49-F238E27FC236}">
                <a16:creationId xmlns:a16="http://schemas.microsoft.com/office/drawing/2014/main" id="{B40E4EA0-3119-4915-B5AB-F5E26AD9012A}"/>
              </a:ext>
            </a:extLst>
          </p:cNvPr>
          <p:cNvSpPr/>
          <p:nvPr/>
        </p:nvSpPr>
        <p:spPr>
          <a:xfrm>
            <a:off x="587375" y="597472"/>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53878D07-A456-4862-8D28-A7E25196310E}"/>
              </a:ext>
            </a:extLst>
          </p:cNvPr>
          <p:cNvPicPr>
            <a:picLocks noChangeAspect="1"/>
          </p:cNvPicPr>
          <p:nvPr/>
        </p:nvPicPr>
        <p:blipFill>
          <a:blip r:embed="rId3">
            <a:alphaModFix amt="50000"/>
          </a:blip>
          <a:stretch>
            <a:fillRect/>
          </a:stretch>
        </p:blipFill>
        <p:spPr>
          <a:xfrm>
            <a:off x="9580110" y="6070601"/>
            <a:ext cx="2021340" cy="425076"/>
          </a:xfrm>
          <a:prstGeom prst="rect">
            <a:avLst/>
          </a:prstGeom>
        </p:spPr>
      </p:pic>
      <p:sp>
        <p:nvSpPr>
          <p:cNvPr id="7" name="CaixaDeTexto 7">
            <a:extLst>
              <a:ext uri="{FF2B5EF4-FFF2-40B4-BE49-F238E27FC236}">
                <a16:creationId xmlns:a16="http://schemas.microsoft.com/office/drawing/2014/main" id="{E8683DB2-1671-5749-B985-3E93412B8953}"/>
              </a:ext>
            </a:extLst>
          </p:cNvPr>
          <p:cNvSpPr txBox="1"/>
          <p:nvPr/>
        </p:nvSpPr>
        <p:spPr>
          <a:xfrm>
            <a:off x="535601" y="1804132"/>
            <a:ext cx="11117613" cy="3249736"/>
          </a:xfrm>
          <a:prstGeom prst="rect">
            <a:avLst/>
          </a:prstGeom>
          <a:noFill/>
        </p:spPr>
        <p:txBody>
          <a:bodyPr wrap="square" rtlCol="0">
            <a:spAutoFit/>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pt-BR" sz="2800" dirty="0">
                <a:solidFill>
                  <a:schemeClr val="bg1">
                    <a:lumMod val="75000"/>
                  </a:schemeClr>
                </a:solidFill>
                <a:latin typeface="Montserrat" pitchFamily="2" charset="77"/>
              </a:rPr>
              <a:t>A infraestrutura de tecnologia da informação (TI) são os componentes necessários para executar e gerenciar os ambientes de TI empresarial. É possível implantá-la em um sistema de </a:t>
            </a:r>
            <a:r>
              <a:rPr lang="pt-BR" sz="2800" i="1" dirty="0">
                <a:solidFill>
                  <a:schemeClr val="bg1">
                    <a:lumMod val="75000"/>
                  </a:schemeClr>
                </a:solidFill>
                <a:latin typeface="Montserrat" pitchFamily="2" charset="77"/>
              </a:rPr>
              <a:t>cloud </a:t>
            </a:r>
            <a:r>
              <a:rPr lang="pt-BR" sz="2800" i="1" dirty="0" err="1">
                <a:solidFill>
                  <a:schemeClr val="bg1">
                    <a:lumMod val="75000"/>
                  </a:schemeClr>
                </a:solidFill>
                <a:latin typeface="Montserrat" pitchFamily="2" charset="77"/>
              </a:rPr>
              <a:t>computing</a:t>
            </a:r>
            <a:r>
              <a:rPr lang="pt-BR" sz="2800" i="1" dirty="0">
                <a:solidFill>
                  <a:schemeClr val="bg1">
                    <a:lumMod val="75000"/>
                  </a:schemeClr>
                </a:solidFill>
                <a:latin typeface="Montserrat" pitchFamily="2" charset="77"/>
              </a:rPr>
              <a:t> </a:t>
            </a:r>
            <a:r>
              <a:rPr lang="pt-BR" sz="2800" dirty="0">
                <a:solidFill>
                  <a:schemeClr val="bg1">
                    <a:lumMod val="75000"/>
                  </a:schemeClr>
                </a:solidFill>
                <a:latin typeface="Montserrat" pitchFamily="2" charset="77"/>
              </a:rPr>
              <a:t>ou nas próprias instalações da organização (</a:t>
            </a:r>
            <a:r>
              <a:rPr lang="pt-BR" sz="2800" i="1" dirty="0" err="1">
                <a:solidFill>
                  <a:schemeClr val="bg1">
                    <a:lumMod val="75000"/>
                  </a:schemeClr>
                </a:solidFill>
                <a:latin typeface="Montserrat" pitchFamily="2" charset="77"/>
              </a:rPr>
              <a:t>on</a:t>
            </a:r>
            <a:r>
              <a:rPr lang="pt-BR" sz="2800" i="1" dirty="0">
                <a:solidFill>
                  <a:schemeClr val="bg1">
                    <a:lumMod val="75000"/>
                  </a:schemeClr>
                </a:solidFill>
                <a:latin typeface="Montserrat" pitchFamily="2" charset="77"/>
              </a:rPr>
              <a:t> </a:t>
            </a:r>
            <a:r>
              <a:rPr lang="pt-BR" sz="2800" i="1" dirty="0" err="1">
                <a:solidFill>
                  <a:schemeClr val="bg1">
                    <a:lumMod val="75000"/>
                  </a:schemeClr>
                </a:solidFill>
                <a:latin typeface="Montserrat" pitchFamily="2" charset="77"/>
              </a:rPr>
              <a:t>premise</a:t>
            </a:r>
            <a:r>
              <a:rPr lang="pt-BR" sz="2800" dirty="0">
                <a:solidFill>
                  <a:schemeClr val="bg1">
                    <a:lumMod val="75000"/>
                  </a:schemeClr>
                </a:solidFill>
                <a:latin typeface="Montserrat" pitchFamily="2" charset="77"/>
              </a:rPr>
              <a:t>).</a:t>
            </a:r>
          </a:p>
        </p:txBody>
      </p:sp>
    </p:spTree>
    <p:extLst>
      <p:ext uri="{BB962C8B-B14F-4D97-AF65-F5344CB8AC3E}">
        <p14:creationId xmlns:p14="http://schemas.microsoft.com/office/powerpoint/2010/main" val="3632301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1124674" y="403594"/>
            <a:ext cx="8229600" cy="709714"/>
          </a:xfrm>
        </p:spPr>
        <p:txBody>
          <a:bodyPr>
            <a:normAutofit/>
          </a:bodyPr>
          <a:lstStyle/>
          <a:p>
            <a:r>
              <a:rPr lang="pt-BR" dirty="0"/>
              <a:t>Servidores</a:t>
            </a:r>
          </a:p>
        </p:txBody>
      </p:sp>
      <p:pic>
        <p:nvPicPr>
          <p:cNvPr id="2" name="Imagem 1">
            <a:extLst>
              <a:ext uri="{FF2B5EF4-FFF2-40B4-BE49-F238E27FC236}">
                <a16:creationId xmlns:a16="http://schemas.microsoft.com/office/drawing/2014/main" id="{88798977-4469-4B4B-B538-8472AC07DEC2}"/>
              </a:ext>
            </a:extLst>
          </p:cNvPr>
          <p:cNvPicPr>
            <a:picLocks noChangeAspect="1"/>
          </p:cNvPicPr>
          <p:nvPr/>
        </p:nvPicPr>
        <p:blipFill>
          <a:blip r:embed="rId3"/>
          <a:stretch>
            <a:fillRect/>
          </a:stretch>
        </p:blipFill>
        <p:spPr>
          <a:xfrm>
            <a:off x="3143671" y="1556793"/>
            <a:ext cx="6454223" cy="3813860"/>
          </a:xfrm>
          <a:prstGeom prst="rect">
            <a:avLst/>
          </a:prstGeom>
        </p:spPr>
      </p:pic>
      <p:pic>
        <p:nvPicPr>
          <p:cNvPr id="4" name="Imagem 3">
            <a:extLst>
              <a:ext uri="{FF2B5EF4-FFF2-40B4-BE49-F238E27FC236}">
                <a16:creationId xmlns:a16="http://schemas.microsoft.com/office/drawing/2014/main" id="{D71312BC-D826-0706-8361-435669B7C7D6}"/>
              </a:ext>
            </a:extLst>
          </p:cNvPr>
          <p:cNvPicPr>
            <a:picLocks noChangeAspect="1"/>
          </p:cNvPicPr>
          <p:nvPr/>
        </p:nvPicPr>
        <p:blipFill>
          <a:blip r:embed="rId4">
            <a:alphaModFix amt="35000"/>
          </a:blip>
          <a:stretch>
            <a:fillRect/>
          </a:stretch>
        </p:blipFill>
        <p:spPr>
          <a:xfrm>
            <a:off x="9582700" y="6070601"/>
            <a:ext cx="2016159" cy="425076"/>
          </a:xfrm>
          <a:prstGeom prst="rect">
            <a:avLst/>
          </a:prstGeom>
        </p:spPr>
      </p:pic>
      <p:sp>
        <p:nvSpPr>
          <p:cNvPr id="5" name="Retângulo 4">
            <a:extLst>
              <a:ext uri="{FF2B5EF4-FFF2-40B4-BE49-F238E27FC236}">
                <a16:creationId xmlns:a16="http://schemas.microsoft.com/office/drawing/2014/main" id="{2CE9A6A9-9AC5-6F35-549B-B33640136F36}"/>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438258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587375" y="1431437"/>
            <a:ext cx="10732665" cy="4827992"/>
          </a:xfrm>
        </p:spPr>
        <p:txBody>
          <a:bodyPr>
            <a:noAutofit/>
          </a:bodyPr>
          <a:lstStyle/>
          <a:p>
            <a:pPr algn="just"/>
            <a:r>
              <a:rPr lang="pt-BR" dirty="0"/>
              <a:t>Um centro de processamento de dados (CPD), também conhecido como data center, é um local onde estão concentrados os sistemas computacionais de uma empresa ou organização, como um sistema de telecomunicações ou um sistema de armazenamento de dados, além do fornecimento de energia para a instalação;</a:t>
            </a:r>
          </a:p>
          <a:p>
            <a:pPr algn="just"/>
            <a:endParaRPr lang="pt-BR" dirty="0"/>
          </a:p>
          <a:p>
            <a:pPr algn="just"/>
            <a:r>
              <a:rPr lang="pt-BR" dirty="0"/>
              <a:t>A segurança nos </a:t>
            </a:r>
            <a:r>
              <a:rPr lang="pt-BR" dirty="0" err="1"/>
              <a:t>CPDs</a:t>
            </a:r>
            <a:r>
              <a:rPr lang="pt-BR" dirty="0"/>
              <a:t> é a que se encarrega de socorrer pontos fracos da infraestrutura, tanto lógica como física do nosso Centro de Processamento de Dados. A segurança está dividida em dois pontos: física e lógica.</a:t>
            </a:r>
          </a:p>
        </p:txBody>
      </p:sp>
      <p:sp>
        <p:nvSpPr>
          <p:cNvPr id="3" name="Título 2"/>
          <p:cNvSpPr>
            <a:spLocks noGrp="1"/>
          </p:cNvSpPr>
          <p:nvPr>
            <p:ph type="title"/>
          </p:nvPr>
        </p:nvSpPr>
        <p:spPr>
          <a:xfrm>
            <a:off x="962628" y="403594"/>
            <a:ext cx="8229600" cy="709714"/>
          </a:xfrm>
        </p:spPr>
        <p:txBody>
          <a:bodyPr>
            <a:normAutofit/>
          </a:bodyPr>
          <a:lstStyle/>
          <a:p>
            <a:r>
              <a:rPr lang="pt-BR" dirty="0"/>
              <a:t>O que é um Data Center?</a:t>
            </a:r>
          </a:p>
        </p:txBody>
      </p:sp>
      <p:pic>
        <p:nvPicPr>
          <p:cNvPr id="4" name="Imagem 3">
            <a:extLst>
              <a:ext uri="{FF2B5EF4-FFF2-40B4-BE49-F238E27FC236}">
                <a16:creationId xmlns:a16="http://schemas.microsoft.com/office/drawing/2014/main" id="{4C292563-3F6D-3662-2276-DF31A92A79B7}"/>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
        <p:nvSpPr>
          <p:cNvPr id="5" name="Retângulo 4">
            <a:extLst>
              <a:ext uri="{FF2B5EF4-FFF2-40B4-BE49-F238E27FC236}">
                <a16:creationId xmlns:a16="http://schemas.microsoft.com/office/drawing/2014/main" id="{4482A4CE-05C2-6F96-71CD-90237799D621}"/>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95471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974201" y="1121288"/>
            <a:ext cx="10624657" cy="5333118"/>
          </a:xfrm>
        </p:spPr>
        <p:txBody>
          <a:bodyPr vert="horz" lIns="91440" tIns="45720" rIns="91440" bIns="45720" rtlCol="0">
            <a:noAutofit/>
          </a:bodyPr>
          <a:lstStyle/>
          <a:p>
            <a:pPr algn="just"/>
            <a:endParaRPr lang="pt-BR" dirty="0"/>
          </a:p>
          <a:p>
            <a:pPr algn="just"/>
            <a:r>
              <a:rPr lang="pt-BR" b="1" dirty="0"/>
              <a:t>Servidores:</a:t>
            </a:r>
            <a:r>
              <a:rPr lang="pt-BR" dirty="0"/>
              <a:t> a parte principal de um data center. Equipamentos para a execução de tarefas específicas, ou seja, uma espécie de computador para uso especializado.</a:t>
            </a:r>
          </a:p>
          <a:p>
            <a:pPr algn="just"/>
            <a:endParaRPr lang="pt-BR" dirty="0"/>
          </a:p>
          <a:p>
            <a:pPr algn="just"/>
            <a:r>
              <a:rPr lang="pt-BR" b="1" dirty="0"/>
              <a:t>Infraestrutura de energia:</a:t>
            </a:r>
            <a:r>
              <a:rPr lang="pt-BR" dirty="0"/>
              <a:t> Aparelhos computacionais só funcionam com energia elétrica.</a:t>
            </a:r>
          </a:p>
          <a:p>
            <a:pPr algn="just"/>
            <a:endParaRPr lang="pt-BR" dirty="0"/>
          </a:p>
          <a:p>
            <a:pPr algn="just"/>
            <a:r>
              <a:rPr lang="pt-BR" b="1" dirty="0"/>
              <a:t>Refrigeração:</a:t>
            </a:r>
            <a:r>
              <a:rPr lang="pt-BR" dirty="0"/>
              <a:t> mantem os aparelhos computacionais em temperaturas ideais para funcionamento.</a:t>
            </a:r>
          </a:p>
        </p:txBody>
      </p:sp>
      <p:sp>
        <p:nvSpPr>
          <p:cNvPr id="3" name="Título 2"/>
          <p:cNvSpPr>
            <a:spLocks noGrp="1"/>
          </p:cNvSpPr>
          <p:nvPr>
            <p:ph type="title"/>
          </p:nvPr>
        </p:nvSpPr>
        <p:spPr>
          <a:xfrm>
            <a:off x="974202" y="403594"/>
            <a:ext cx="8229600" cy="709714"/>
          </a:xfrm>
        </p:spPr>
        <p:txBody>
          <a:bodyPr>
            <a:normAutofit/>
          </a:bodyPr>
          <a:lstStyle/>
          <a:p>
            <a:r>
              <a:rPr lang="pt-BR" dirty="0"/>
              <a:t>Componentes Básicos Data Center?</a:t>
            </a:r>
          </a:p>
        </p:txBody>
      </p:sp>
      <p:pic>
        <p:nvPicPr>
          <p:cNvPr id="4" name="Imagem 3">
            <a:extLst>
              <a:ext uri="{FF2B5EF4-FFF2-40B4-BE49-F238E27FC236}">
                <a16:creationId xmlns:a16="http://schemas.microsoft.com/office/drawing/2014/main" id="{C79E0C10-CD42-12E6-09D6-51095D79D0FB}"/>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
        <p:nvSpPr>
          <p:cNvPr id="5" name="Retângulo 4">
            <a:extLst>
              <a:ext uri="{FF2B5EF4-FFF2-40B4-BE49-F238E27FC236}">
                <a16:creationId xmlns:a16="http://schemas.microsoft.com/office/drawing/2014/main" id="{0F3C79E1-5BC4-E7C8-6850-3FCDCEA5067B}"/>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897726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974202" y="1423686"/>
            <a:ext cx="10438436" cy="4525594"/>
          </a:xfrm>
        </p:spPr>
        <p:txBody>
          <a:bodyPr>
            <a:noAutofit/>
          </a:bodyPr>
          <a:lstStyle/>
          <a:p>
            <a:pPr algn="just"/>
            <a:r>
              <a:rPr lang="pt-BR" b="1" dirty="0"/>
              <a:t>Soluções de segurança e controle de acesso: </a:t>
            </a:r>
            <a:r>
              <a:rPr lang="pt-BR" dirty="0"/>
              <a:t>grande número de dados sigilosos. Devem ser otimizados para sempre terem boa segurança de dados. Isso se faz com ferramentas de monitoramento e controle de acesso.</a:t>
            </a:r>
          </a:p>
          <a:p>
            <a:pPr algn="just"/>
            <a:endParaRPr lang="pt-BR" dirty="0"/>
          </a:p>
          <a:p>
            <a:pPr algn="just"/>
            <a:r>
              <a:rPr lang="pt-BR" b="1" dirty="0"/>
              <a:t>Equipamentos de prevenção e monitoramento de desastres: </a:t>
            </a:r>
            <a:r>
              <a:rPr lang="pt-BR" dirty="0"/>
              <a:t>pode ser atingido por falhas que geram danos físicos graves à infraestrutura, como incêndios. Para sua prevenção e mitigação correta, uma política abrangente pode ser adotada.</a:t>
            </a:r>
          </a:p>
        </p:txBody>
      </p:sp>
      <p:sp>
        <p:nvSpPr>
          <p:cNvPr id="6" name="Título 2">
            <a:extLst>
              <a:ext uri="{FF2B5EF4-FFF2-40B4-BE49-F238E27FC236}">
                <a16:creationId xmlns:a16="http://schemas.microsoft.com/office/drawing/2014/main" id="{4D3EAE4F-94C7-0743-59B7-A543CA6C80FD}"/>
              </a:ext>
            </a:extLst>
          </p:cNvPr>
          <p:cNvSpPr txBox="1">
            <a:spLocks/>
          </p:cNvSpPr>
          <p:nvPr/>
        </p:nvSpPr>
        <p:spPr>
          <a:xfrm>
            <a:off x="974202" y="403594"/>
            <a:ext cx="8229600" cy="70971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a:t>Componentes Básicos Data Center?</a:t>
            </a:r>
            <a:endParaRPr lang="pt-BR" dirty="0"/>
          </a:p>
        </p:txBody>
      </p:sp>
      <p:pic>
        <p:nvPicPr>
          <p:cNvPr id="7" name="Imagem 6">
            <a:extLst>
              <a:ext uri="{FF2B5EF4-FFF2-40B4-BE49-F238E27FC236}">
                <a16:creationId xmlns:a16="http://schemas.microsoft.com/office/drawing/2014/main" id="{A580E69E-AC5E-2BF0-6B9F-E2D6EC50E298}"/>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
        <p:nvSpPr>
          <p:cNvPr id="8" name="Retângulo 7">
            <a:extLst>
              <a:ext uri="{FF2B5EF4-FFF2-40B4-BE49-F238E27FC236}">
                <a16:creationId xmlns:a16="http://schemas.microsoft.com/office/drawing/2014/main" id="{64C0ADD6-22D0-566D-4B78-94CF3B588594}"/>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14747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1020501" y="1516284"/>
            <a:ext cx="10578358" cy="4364444"/>
          </a:xfrm>
        </p:spPr>
        <p:txBody>
          <a:bodyPr>
            <a:noAutofit/>
          </a:bodyPr>
          <a:lstStyle/>
          <a:p>
            <a:pPr algn="just"/>
            <a:r>
              <a:rPr lang="pt-BR" sz="2600" dirty="0"/>
              <a:t>Em informática, um servidor é um software ou computador, com sistema de computação centralizada que fornece serviços a uma rede de computadores, chamada de cliente.</a:t>
            </a:r>
          </a:p>
          <a:p>
            <a:pPr algn="just"/>
            <a:endParaRPr lang="pt-BR" sz="2600" dirty="0"/>
          </a:p>
          <a:p>
            <a:pPr algn="just"/>
            <a:r>
              <a:rPr lang="pt-BR" sz="2600" dirty="0"/>
              <a:t>Esses serviços podem ser de naturezas distintas, como por exemplo, arquivos, e-mail, impressão, aplicação desktop, aplicações web, banco de dados, telefonia, etc.</a:t>
            </a:r>
          </a:p>
          <a:p>
            <a:pPr algn="just"/>
            <a:endParaRPr lang="pt-BR" sz="2600" dirty="0"/>
          </a:p>
          <a:p>
            <a:pPr algn="just"/>
            <a:r>
              <a:rPr lang="pt-BR" sz="2600" dirty="0"/>
              <a:t>Esta arquitetura é chamada de modelo cliente-servidor, é utilizada em redes de médio e grande porte (com muitas máquinas) e em redes onde a questão da segurança desempenha um papel de grande importância. </a:t>
            </a:r>
          </a:p>
        </p:txBody>
      </p:sp>
      <p:sp>
        <p:nvSpPr>
          <p:cNvPr id="3" name="Título 2"/>
          <p:cNvSpPr>
            <a:spLocks noGrp="1"/>
          </p:cNvSpPr>
          <p:nvPr>
            <p:ph type="title"/>
          </p:nvPr>
        </p:nvSpPr>
        <p:spPr>
          <a:xfrm>
            <a:off x="995423" y="471489"/>
            <a:ext cx="8229600" cy="709714"/>
          </a:xfrm>
          <a:noFill/>
        </p:spPr>
        <p:txBody>
          <a:bodyPr>
            <a:normAutofit/>
          </a:bodyPr>
          <a:lstStyle/>
          <a:p>
            <a:r>
              <a:rPr lang="pt-BR" dirty="0"/>
              <a:t>O que é um Servidor?</a:t>
            </a:r>
          </a:p>
        </p:txBody>
      </p:sp>
      <p:pic>
        <p:nvPicPr>
          <p:cNvPr id="5" name="Imagem 4">
            <a:extLst>
              <a:ext uri="{FF2B5EF4-FFF2-40B4-BE49-F238E27FC236}">
                <a16:creationId xmlns:a16="http://schemas.microsoft.com/office/drawing/2014/main" id="{E5F8F615-A45E-47FC-2A89-D40BD92B404B}"/>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
        <p:nvSpPr>
          <p:cNvPr id="6" name="Retângulo 5">
            <a:extLst>
              <a:ext uri="{FF2B5EF4-FFF2-40B4-BE49-F238E27FC236}">
                <a16:creationId xmlns:a16="http://schemas.microsoft.com/office/drawing/2014/main" id="{626973A2-889B-F23F-E840-1E01F02A90AF}"/>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970630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1367741" y="403594"/>
            <a:ext cx="8229600" cy="709714"/>
          </a:xfrm>
        </p:spPr>
        <p:txBody>
          <a:bodyPr>
            <a:normAutofit/>
          </a:bodyPr>
          <a:lstStyle/>
          <a:p>
            <a:r>
              <a:rPr lang="pt-BR" dirty="0"/>
              <a:t>Servidores</a:t>
            </a:r>
          </a:p>
        </p:txBody>
      </p:sp>
      <p:pic>
        <p:nvPicPr>
          <p:cNvPr id="6" name="Imagem 5">
            <a:extLst>
              <a:ext uri="{FF2B5EF4-FFF2-40B4-BE49-F238E27FC236}">
                <a16:creationId xmlns:a16="http://schemas.microsoft.com/office/drawing/2014/main" id="{E3FFFDEB-3864-42C1-9B67-ED72070B35F7}"/>
              </a:ext>
            </a:extLst>
          </p:cNvPr>
          <p:cNvPicPr>
            <a:picLocks noChangeAspect="1"/>
          </p:cNvPicPr>
          <p:nvPr/>
        </p:nvPicPr>
        <p:blipFill>
          <a:blip r:embed="rId3"/>
          <a:stretch>
            <a:fillRect/>
          </a:stretch>
        </p:blipFill>
        <p:spPr>
          <a:xfrm>
            <a:off x="2440992" y="969618"/>
            <a:ext cx="7310016" cy="4417966"/>
          </a:xfrm>
          <a:prstGeom prst="rect">
            <a:avLst/>
          </a:prstGeom>
        </p:spPr>
      </p:pic>
      <p:sp>
        <p:nvSpPr>
          <p:cNvPr id="7" name="CaixaDeTexto 6">
            <a:extLst>
              <a:ext uri="{FF2B5EF4-FFF2-40B4-BE49-F238E27FC236}">
                <a16:creationId xmlns:a16="http://schemas.microsoft.com/office/drawing/2014/main" id="{B4564D28-A783-4FFE-BCF1-A957526D6006}"/>
              </a:ext>
            </a:extLst>
          </p:cNvPr>
          <p:cNvSpPr txBox="1"/>
          <p:nvPr/>
        </p:nvSpPr>
        <p:spPr>
          <a:xfrm>
            <a:off x="3575720" y="5533110"/>
            <a:ext cx="5545492" cy="461665"/>
          </a:xfrm>
          <a:prstGeom prst="rect">
            <a:avLst/>
          </a:prstGeom>
          <a:noFill/>
        </p:spPr>
        <p:txBody>
          <a:bodyPr wrap="none" rtlCol="0">
            <a:spAutoFit/>
          </a:bodyPr>
          <a:lstStyle/>
          <a:p>
            <a:r>
              <a:rPr lang="pt-BR" sz="2400" dirty="0"/>
              <a:t>Qual a diferença entre cloud x </a:t>
            </a:r>
            <a:r>
              <a:rPr lang="pt-BR" sz="2400" dirty="0" err="1"/>
              <a:t>on</a:t>
            </a:r>
            <a:r>
              <a:rPr lang="pt-BR" sz="2400" dirty="0"/>
              <a:t> </a:t>
            </a:r>
            <a:r>
              <a:rPr lang="pt-BR" sz="2400" dirty="0" err="1"/>
              <a:t>premise</a:t>
            </a:r>
            <a:r>
              <a:rPr lang="pt-BR" sz="2400" dirty="0"/>
              <a:t>?</a:t>
            </a:r>
          </a:p>
        </p:txBody>
      </p:sp>
      <p:sp>
        <p:nvSpPr>
          <p:cNvPr id="4" name="Retângulo 3">
            <a:extLst>
              <a:ext uri="{FF2B5EF4-FFF2-40B4-BE49-F238E27FC236}">
                <a16:creationId xmlns:a16="http://schemas.microsoft.com/office/drawing/2014/main" id="{16BC925C-FAF5-943C-D1A2-8FE64B456EEF}"/>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38D7400D-3EC1-EB7D-33AD-B0966E6A6A72}"/>
              </a:ext>
            </a:extLst>
          </p:cNvPr>
          <p:cNvPicPr>
            <a:picLocks noChangeAspect="1"/>
          </p:cNvPicPr>
          <p:nvPr/>
        </p:nvPicPr>
        <p:blipFill>
          <a:blip r:embed="rId4">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2932651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1367741" y="403594"/>
            <a:ext cx="8229600" cy="709714"/>
          </a:xfrm>
        </p:spPr>
        <p:txBody>
          <a:bodyPr>
            <a:normAutofit/>
          </a:bodyPr>
          <a:lstStyle/>
          <a:p>
            <a:r>
              <a:rPr lang="pt-BR" dirty="0"/>
              <a:t>Data Center</a:t>
            </a:r>
          </a:p>
        </p:txBody>
      </p:sp>
      <p:sp>
        <p:nvSpPr>
          <p:cNvPr id="4" name="Retângulo 3">
            <a:extLst>
              <a:ext uri="{FF2B5EF4-FFF2-40B4-BE49-F238E27FC236}">
                <a16:creationId xmlns:a16="http://schemas.microsoft.com/office/drawing/2014/main" id="{16BC925C-FAF5-943C-D1A2-8FE64B456EEF}"/>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 name="Imagem 1">
            <a:extLst>
              <a:ext uri="{FF2B5EF4-FFF2-40B4-BE49-F238E27FC236}">
                <a16:creationId xmlns:a16="http://schemas.microsoft.com/office/drawing/2014/main" id="{A64ABB39-4092-0AE9-578E-F7F5FCA4CA18}"/>
              </a:ext>
            </a:extLst>
          </p:cNvPr>
          <p:cNvPicPr>
            <a:picLocks noChangeAspect="1"/>
          </p:cNvPicPr>
          <p:nvPr/>
        </p:nvPicPr>
        <p:blipFill>
          <a:blip r:embed="rId3"/>
          <a:stretch>
            <a:fillRect/>
          </a:stretch>
        </p:blipFill>
        <p:spPr>
          <a:xfrm>
            <a:off x="2624640" y="1297218"/>
            <a:ext cx="6942720" cy="4627323"/>
          </a:xfrm>
          <a:prstGeom prst="rect">
            <a:avLst/>
          </a:prstGeom>
        </p:spPr>
      </p:pic>
      <p:pic>
        <p:nvPicPr>
          <p:cNvPr id="8" name="Imagem 7">
            <a:extLst>
              <a:ext uri="{FF2B5EF4-FFF2-40B4-BE49-F238E27FC236}">
                <a16:creationId xmlns:a16="http://schemas.microsoft.com/office/drawing/2014/main" id="{3E9F7E0F-F0C1-3FB1-129F-7A0198ED732A}"/>
              </a:ext>
            </a:extLst>
          </p:cNvPr>
          <p:cNvPicPr>
            <a:picLocks noChangeAspect="1"/>
          </p:cNvPicPr>
          <p:nvPr/>
        </p:nvPicPr>
        <p:blipFill>
          <a:blip r:embed="rId4">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2854640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7F021BD8-CF0A-40B3-B094-358B24AE252E}"/>
              </a:ext>
            </a:extLst>
          </p:cNvPr>
          <p:cNvSpPr txBox="1"/>
          <p:nvPr/>
        </p:nvSpPr>
        <p:spPr>
          <a:xfrm>
            <a:off x="587375" y="511912"/>
            <a:ext cx="11014067" cy="646331"/>
          </a:xfrm>
          <a:prstGeom prst="rect">
            <a:avLst/>
          </a:prstGeom>
          <a:noFill/>
        </p:spPr>
        <p:txBody>
          <a:bodyPr wrap="square" rtlCol="0">
            <a:spAutoFit/>
          </a:bodyPr>
          <a:lstStyle/>
          <a:p>
            <a:r>
              <a:rPr lang="pt-BR" sz="3600" dirty="0">
                <a:solidFill>
                  <a:schemeClr val="bg1">
                    <a:lumMod val="75000"/>
                  </a:schemeClr>
                </a:solidFill>
                <a:latin typeface="Arial" panose="020B0604020202020204" pitchFamily="34" charset="0"/>
                <a:cs typeface="Arial" panose="020B0604020202020204" pitchFamily="34" charset="0"/>
              </a:rPr>
              <a:t> Infraestrutura de Tecnologia da Informação</a:t>
            </a:r>
          </a:p>
        </p:txBody>
      </p:sp>
      <p:sp>
        <p:nvSpPr>
          <p:cNvPr id="6" name="Retângulo 5">
            <a:extLst>
              <a:ext uri="{FF2B5EF4-FFF2-40B4-BE49-F238E27FC236}">
                <a16:creationId xmlns:a16="http://schemas.microsoft.com/office/drawing/2014/main" id="{B40E4EA0-3119-4915-B5AB-F5E26AD9012A}"/>
              </a:ext>
            </a:extLst>
          </p:cNvPr>
          <p:cNvSpPr/>
          <p:nvPr/>
        </p:nvSpPr>
        <p:spPr>
          <a:xfrm>
            <a:off x="587375" y="597472"/>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53878D07-A456-4862-8D28-A7E25196310E}"/>
              </a:ext>
            </a:extLst>
          </p:cNvPr>
          <p:cNvPicPr>
            <a:picLocks noChangeAspect="1"/>
          </p:cNvPicPr>
          <p:nvPr/>
        </p:nvPicPr>
        <p:blipFill>
          <a:blip r:embed="rId3">
            <a:alphaModFix amt="50000"/>
          </a:blip>
          <a:stretch>
            <a:fillRect/>
          </a:stretch>
        </p:blipFill>
        <p:spPr>
          <a:xfrm>
            <a:off x="9580110" y="6070601"/>
            <a:ext cx="2021340" cy="425076"/>
          </a:xfrm>
          <a:prstGeom prst="rect">
            <a:avLst/>
          </a:prstGeom>
        </p:spPr>
      </p:pic>
      <p:pic>
        <p:nvPicPr>
          <p:cNvPr id="12" name="Picture 2">
            <a:extLst>
              <a:ext uri="{FF2B5EF4-FFF2-40B4-BE49-F238E27FC236}">
                <a16:creationId xmlns:a16="http://schemas.microsoft.com/office/drawing/2014/main" id="{0855C255-1859-0B1A-51AF-1E1899D716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6293" y="4411073"/>
            <a:ext cx="4091796" cy="1834468"/>
          </a:xfrm>
          <a:prstGeom prst="rect">
            <a:avLst/>
          </a:prstGeom>
          <a:noFill/>
          <a:extLst>
            <a:ext uri="{909E8E84-426E-40DD-AFC4-6F175D3DCCD1}">
              <a14:hiddenFill xmlns:a14="http://schemas.microsoft.com/office/drawing/2010/main">
                <a:solidFill>
                  <a:srgbClr val="FFFFFF"/>
                </a:solidFill>
              </a14:hiddenFill>
            </a:ext>
          </a:extLst>
        </p:spPr>
      </p:pic>
      <p:sp>
        <p:nvSpPr>
          <p:cNvPr id="13" name="Título 2">
            <a:extLst>
              <a:ext uri="{FF2B5EF4-FFF2-40B4-BE49-F238E27FC236}">
                <a16:creationId xmlns:a16="http://schemas.microsoft.com/office/drawing/2014/main" id="{7BC0B685-3AC4-4571-4752-671195684A2A}"/>
              </a:ext>
            </a:extLst>
          </p:cNvPr>
          <p:cNvSpPr txBox="1">
            <a:spLocks/>
          </p:cNvSpPr>
          <p:nvPr/>
        </p:nvSpPr>
        <p:spPr>
          <a:xfrm>
            <a:off x="-931554" y="3374708"/>
            <a:ext cx="8229600" cy="583878"/>
          </a:xfrm>
          <a:prstGeom prst="rect">
            <a:avLst/>
          </a:prstGeom>
          <a:noFill/>
        </p:spPr>
        <p:txBody>
          <a:bodyPr wrap="square" rtlCol="0">
            <a:spAutoFit/>
          </a:bodyPr>
          <a:lstStyle>
            <a:defPPr>
              <a:defRPr lang="pt-BR"/>
            </a:defPPr>
            <a:lvl1pPr algn="ctr">
              <a:lnSpc>
                <a:spcPct val="150000"/>
              </a:lnSpc>
              <a:defRPr sz="2800">
                <a:solidFill>
                  <a:schemeClr val="bg1">
                    <a:lumMod val="75000"/>
                  </a:schemeClr>
                </a:solidFill>
                <a:latin typeface="Montserrat" pitchFamily="2" charset="77"/>
              </a:defRPr>
            </a:lvl1pPr>
          </a:lstStyle>
          <a:p>
            <a:r>
              <a:rPr lang="pt-BR" sz="2400" dirty="0"/>
              <a:t>Sistemas Operacionais</a:t>
            </a:r>
          </a:p>
        </p:txBody>
      </p:sp>
      <p:sp>
        <p:nvSpPr>
          <p:cNvPr id="14" name="Título 2">
            <a:extLst>
              <a:ext uri="{FF2B5EF4-FFF2-40B4-BE49-F238E27FC236}">
                <a16:creationId xmlns:a16="http://schemas.microsoft.com/office/drawing/2014/main" id="{65A90633-EECB-05C5-6D4D-BBBCDD4DC1B1}"/>
              </a:ext>
            </a:extLst>
          </p:cNvPr>
          <p:cNvSpPr txBox="1">
            <a:spLocks/>
          </p:cNvSpPr>
          <p:nvPr/>
        </p:nvSpPr>
        <p:spPr>
          <a:xfrm>
            <a:off x="377695" y="6160984"/>
            <a:ext cx="8928992" cy="583878"/>
          </a:xfrm>
          <a:prstGeom prst="rect">
            <a:avLst/>
          </a:prstGeom>
          <a:noFill/>
        </p:spPr>
        <p:txBody>
          <a:bodyPr wrap="square" rtlCol="0">
            <a:spAutoFit/>
          </a:bodyPr>
          <a:lstStyle>
            <a:defPPr>
              <a:defRPr lang="pt-BR"/>
            </a:defPPr>
            <a:lvl1pPr algn="ctr">
              <a:lnSpc>
                <a:spcPct val="150000"/>
              </a:lnSpc>
              <a:defRPr sz="2800">
                <a:solidFill>
                  <a:schemeClr val="bg1">
                    <a:lumMod val="75000"/>
                  </a:schemeClr>
                </a:solidFill>
                <a:latin typeface="Montserrat" pitchFamily="2" charset="77"/>
              </a:defRPr>
            </a:lvl1pPr>
          </a:lstStyle>
          <a:p>
            <a:r>
              <a:rPr lang="pt-BR" sz="2400" dirty="0"/>
              <a:t>Servidores de Aplicações WEB</a:t>
            </a:r>
          </a:p>
        </p:txBody>
      </p:sp>
      <p:sp>
        <p:nvSpPr>
          <p:cNvPr id="15" name="Título 2">
            <a:extLst>
              <a:ext uri="{FF2B5EF4-FFF2-40B4-BE49-F238E27FC236}">
                <a16:creationId xmlns:a16="http://schemas.microsoft.com/office/drawing/2014/main" id="{B6BECFA5-9C07-BE9B-5E12-0C9E8286B0FD}"/>
              </a:ext>
            </a:extLst>
          </p:cNvPr>
          <p:cNvSpPr txBox="1">
            <a:spLocks/>
          </p:cNvSpPr>
          <p:nvPr/>
        </p:nvSpPr>
        <p:spPr>
          <a:xfrm>
            <a:off x="5738157" y="4595619"/>
            <a:ext cx="8229600" cy="1137876"/>
          </a:xfrm>
          <a:prstGeom prst="rect">
            <a:avLst/>
          </a:prstGeom>
          <a:noFill/>
        </p:spPr>
        <p:txBody>
          <a:bodyPr wrap="square" rtlCol="0">
            <a:spAutoFit/>
          </a:bodyPr>
          <a:lstStyle>
            <a:defPPr>
              <a:defRPr lang="pt-BR"/>
            </a:defPPr>
            <a:lvl1pPr algn="ctr">
              <a:lnSpc>
                <a:spcPct val="150000"/>
              </a:lnSpc>
              <a:defRPr sz="2800">
                <a:solidFill>
                  <a:schemeClr val="bg1">
                    <a:lumMod val="75000"/>
                  </a:schemeClr>
                </a:solidFill>
                <a:latin typeface="Montserrat" pitchFamily="2" charset="77"/>
              </a:defRPr>
            </a:lvl1pPr>
          </a:lstStyle>
          <a:p>
            <a:r>
              <a:rPr lang="pt-BR" sz="2400" dirty="0"/>
              <a:t>Sistema Gerenciador </a:t>
            </a:r>
          </a:p>
          <a:p>
            <a:r>
              <a:rPr lang="pt-BR" sz="2400" dirty="0"/>
              <a:t>de Banco de Dados</a:t>
            </a:r>
          </a:p>
        </p:txBody>
      </p:sp>
      <p:pic>
        <p:nvPicPr>
          <p:cNvPr id="16" name="Imagem 15">
            <a:extLst>
              <a:ext uri="{FF2B5EF4-FFF2-40B4-BE49-F238E27FC236}">
                <a16:creationId xmlns:a16="http://schemas.microsoft.com/office/drawing/2014/main" id="{4DF2EB89-644D-1B30-2C9C-BD9ABFFDAEA3}"/>
              </a:ext>
            </a:extLst>
          </p:cNvPr>
          <p:cNvPicPr>
            <a:picLocks noChangeAspect="1"/>
          </p:cNvPicPr>
          <p:nvPr/>
        </p:nvPicPr>
        <p:blipFill>
          <a:blip r:embed="rId5"/>
          <a:stretch>
            <a:fillRect/>
          </a:stretch>
        </p:blipFill>
        <p:spPr>
          <a:xfrm>
            <a:off x="1219825" y="1199820"/>
            <a:ext cx="3926843" cy="2349881"/>
          </a:xfrm>
          <a:prstGeom prst="rect">
            <a:avLst/>
          </a:prstGeom>
        </p:spPr>
      </p:pic>
      <p:pic>
        <p:nvPicPr>
          <p:cNvPr id="17" name="Imagem 16">
            <a:extLst>
              <a:ext uri="{FF2B5EF4-FFF2-40B4-BE49-F238E27FC236}">
                <a16:creationId xmlns:a16="http://schemas.microsoft.com/office/drawing/2014/main" id="{679CEA7B-B6BE-C62E-2099-85491464DC37}"/>
              </a:ext>
            </a:extLst>
          </p:cNvPr>
          <p:cNvPicPr>
            <a:picLocks noChangeAspect="1"/>
          </p:cNvPicPr>
          <p:nvPr/>
        </p:nvPicPr>
        <p:blipFill rotWithShape="1">
          <a:blip r:embed="rId6"/>
          <a:srcRect l="55374" t="24614" b="8001"/>
          <a:stretch/>
        </p:blipFill>
        <p:spPr>
          <a:xfrm>
            <a:off x="8482022" y="2188790"/>
            <a:ext cx="2920276" cy="2480420"/>
          </a:xfrm>
          <a:prstGeom prst="rect">
            <a:avLst/>
          </a:prstGeom>
        </p:spPr>
      </p:pic>
    </p:spTree>
    <p:extLst>
      <p:ext uri="{BB962C8B-B14F-4D97-AF65-F5344CB8AC3E}">
        <p14:creationId xmlns:p14="http://schemas.microsoft.com/office/powerpoint/2010/main" val="657475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787078" y="1455147"/>
            <a:ext cx="10811781" cy="4827992"/>
          </a:xfrm>
        </p:spPr>
        <p:txBody>
          <a:bodyPr>
            <a:noAutofit/>
          </a:bodyPr>
          <a:lstStyle/>
          <a:p>
            <a:pPr algn="just"/>
            <a:r>
              <a:rPr lang="pt-BR" dirty="0"/>
              <a:t>Programa ou um conjunto de programas cuja função é gerenciar os recursos do sistema (definir qual programa recebe atenção do processador, gerenciar memória, criar um sistema de arquivos, etc.), fornecendo uma interface entre o computador e o usuário. </a:t>
            </a:r>
          </a:p>
          <a:p>
            <a:pPr algn="just"/>
            <a:r>
              <a:rPr lang="pt-BR" dirty="0"/>
              <a:t>Após executar testes e iniciar os componentes da máquina (monitores, discos, </a:t>
            </a:r>
            <a:r>
              <a:rPr lang="pt-BR" dirty="0" err="1"/>
              <a:t>etc</a:t>
            </a:r>
            <a:r>
              <a:rPr lang="pt-BR" dirty="0"/>
              <a:t>), o BIOS procura pelo sistema operacional em alguma unidade de armazenamento, geralmente o Disco Rígido, e a partir daí, o sistema operacional "toma" o controle da máquina. </a:t>
            </a:r>
          </a:p>
          <a:p>
            <a:pPr algn="just"/>
            <a:r>
              <a:rPr lang="pt-BR" dirty="0"/>
              <a:t>O sistema operacional reveza sua execução com a de outros programas, como se estivesse vigiando, controlando e orquestrando todo o processo computacional.</a:t>
            </a:r>
          </a:p>
        </p:txBody>
      </p:sp>
      <p:sp>
        <p:nvSpPr>
          <p:cNvPr id="3" name="Título 2"/>
          <p:cNvSpPr>
            <a:spLocks noGrp="1"/>
          </p:cNvSpPr>
          <p:nvPr>
            <p:ph type="title"/>
          </p:nvPr>
        </p:nvSpPr>
        <p:spPr>
          <a:xfrm>
            <a:off x="1032076" y="471489"/>
            <a:ext cx="8229600" cy="709714"/>
          </a:xfrm>
        </p:spPr>
        <p:txBody>
          <a:bodyPr>
            <a:normAutofit/>
          </a:bodyPr>
          <a:lstStyle/>
          <a:p>
            <a:r>
              <a:rPr lang="pt-BR" dirty="0"/>
              <a:t>O que são Sistema Operacional?</a:t>
            </a:r>
          </a:p>
        </p:txBody>
      </p:sp>
      <p:sp>
        <p:nvSpPr>
          <p:cNvPr id="4" name="Retângulo 3">
            <a:extLst>
              <a:ext uri="{FF2B5EF4-FFF2-40B4-BE49-F238E27FC236}">
                <a16:creationId xmlns:a16="http://schemas.microsoft.com/office/drawing/2014/main" id="{A4A25688-C2FA-2D83-B80F-FF645FDBB166}"/>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B23FCC31-9B4A-BFA7-1F07-55DC831784C7}"/>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241215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902825" y="1196752"/>
            <a:ext cx="10696034" cy="4827992"/>
          </a:xfrm>
        </p:spPr>
        <p:txBody>
          <a:bodyPr>
            <a:noAutofit/>
          </a:bodyPr>
          <a:lstStyle/>
          <a:p>
            <a:pPr algn="just"/>
            <a:endParaRPr lang="pt-BR" dirty="0"/>
          </a:p>
          <a:p>
            <a:pPr algn="just"/>
            <a:r>
              <a:rPr lang="pt-BR" dirty="0"/>
              <a:t>Servidor web é um software responsável por aceitar pedidos em HTTP de clientes, geralmente os navegadores, e servi-los com respostas em HTTP, incluindo opcionalmente dados, que geralmente são páginas web, tais como documentos em HTML com objetos embutidos (imagens, </a:t>
            </a:r>
            <a:r>
              <a:rPr lang="pt-BR" dirty="0" err="1"/>
              <a:t>etc</a:t>
            </a:r>
            <a:r>
              <a:rPr lang="pt-BR" dirty="0"/>
              <a:t>) ou um computador que executa um programa que provê a funcionalidade descrita anteriormente;</a:t>
            </a:r>
          </a:p>
          <a:p>
            <a:pPr algn="just"/>
            <a:r>
              <a:rPr lang="pt-BR" dirty="0"/>
              <a:t>O mais popular, e mais utilizado no mundo, é o servidor Apache (software livre). A Microsoft possui a sua própria solução denominada IIS (Internet </a:t>
            </a:r>
            <a:r>
              <a:rPr lang="pt-BR" dirty="0" err="1"/>
              <a:t>Information</a:t>
            </a:r>
            <a:r>
              <a:rPr lang="pt-BR" dirty="0"/>
              <a:t> Services);</a:t>
            </a:r>
          </a:p>
        </p:txBody>
      </p:sp>
      <p:sp>
        <p:nvSpPr>
          <p:cNvPr id="3" name="Título 2"/>
          <p:cNvSpPr>
            <a:spLocks noGrp="1"/>
          </p:cNvSpPr>
          <p:nvPr>
            <p:ph type="title"/>
          </p:nvPr>
        </p:nvSpPr>
        <p:spPr>
          <a:xfrm>
            <a:off x="1147823" y="403594"/>
            <a:ext cx="8229600" cy="709714"/>
          </a:xfrm>
        </p:spPr>
        <p:txBody>
          <a:bodyPr>
            <a:normAutofit/>
          </a:bodyPr>
          <a:lstStyle/>
          <a:p>
            <a:r>
              <a:rPr lang="pt-BR" dirty="0"/>
              <a:t>Servidores de Aplicações WEB?</a:t>
            </a:r>
          </a:p>
        </p:txBody>
      </p:sp>
      <p:sp>
        <p:nvSpPr>
          <p:cNvPr id="4" name="Retângulo 3">
            <a:extLst>
              <a:ext uri="{FF2B5EF4-FFF2-40B4-BE49-F238E27FC236}">
                <a16:creationId xmlns:a16="http://schemas.microsoft.com/office/drawing/2014/main" id="{C43FF22E-31C4-4751-9A79-7EEB63A9B003}"/>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E9501675-2BAB-B5DB-A8F9-EE5994F615AE}"/>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777641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997351" y="1273214"/>
            <a:ext cx="10601508" cy="4535505"/>
          </a:xfrm>
        </p:spPr>
        <p:txBody>
          <a:bodyPr>
            <a:noAutofit/>
          </a:bodyPr>
          <a:lstStyle/>
          <a:p>
            <a:pPr algn="just"/>
            <a:r>
              <a:rPr lang="pt-BR" sz="2600" dirty="0"/>
              <a:t>Os pedidos http que se referem habitualmente a páginas em HTML são normalmente feitos através de navegadores;</a:t>
            </a:r>
          </a:p>
          <a:p>
            <a:pPr algn="just"/>
            <a:r>
              <a:rPr lang="pt-BR" sz="2600" dirty="0"/>
              <a:t>O processo se inicia com a conexão entre o computador onde está instalado o servidor web e o computador do cliente; como na web não é possível prever a que hora se dará essa conexão, os servidores web precisam estar disponíveis dia e noite;</a:t>
            </a:r>
          </a:p>
          <a:p>
            <a:pPr algn="just"/>
            <a:r>
              <a:rPr lang="pt-BR" sz="2600" dirty="0"/>
              <a:t>O pedido do cliente é processado, e conforme as restrições de segurança e a existência da informação solicitada, o servidor devolve os dados;</a:t>
            </a:r>
          </a:p>
          <a:p>
            <a:pPr algn="just"/>
            <a:r>
              <a:rPr lang="pt-BR" sz="2600" dirty="0"/>
              <a:t>Genericamente tudo o que se enquadre no conceito de ficheiro pode ser enviado como resultado de um pedido em HTTP;</a:t>
            </a:r>
          </a:p>
          <a:p>
            <a:pPr algn="just"/>
            <a:r>
              <a:rPr lang="pt-BR" sz="2600" dirty="0"/>
              <a:t>Servidores web podem executar programas e scripts, gerando mais interações com o usuário.</a:t>
            </a:r>
          </a:p>
        </p:txBody>
      </p:sp>
      <p:sp>
        <p:nvSpPr>
          <p:cNvPr id="3" name="Título 2"/>
          <p:cNvSpPr>
            <a:spLocks noGrp="1"/>
          </p:cNvSpPr>
          <p:nvPr>
            <p:ph type="title"/>
          </p:nvPr>
        </p:nvSpPr>
        <p:spPr>
          <a:xfrm>
            <a:off x="997351" y="471489"/>
            <a:ext cx="8229600" cy="709714"/>
          </a:xfrm>
        </p:spPr>
        <p:txBody>
          <a:bodyPr>
            <a:normAutofit/>
          </a:bodyPr>
          <a:lstStyle/>
          <a:p>
            <a:r>
              <a:rPr lang="pt-BR" dirty="0"/>
              <a:t>Características Servidores WEB?</a:t>
            </a:r>
          </a:p>
        </p:txBody>
      </p:sp>
      <p:sp>
        <p:nvSpPr>
          <p:cNvPr id="4" name="Retângulo 3">
            <a:extLst>
              <a:ext uri="{FF2B5EF4-FFF2-40B4-BE49-F238E27FC236}">
                <a16:creationId xmlns:a16="http://schemas.microsoft.com/office/drawing/2014/main" id="{C4E5D8F2-5E53-4E53-CAF1-14EA4885BC1F}"/>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1211220D-F07E-2742-0F2C-CCF377FEFB35}"/>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1411487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1136247" y="1192192"/>
            <a:ext cx="10462611" cy="4616528"/>
          </a:xfrm>
        </p:spPr>
        <p:txBody>
          <a:bodyPr>
            <a:noAutofit/>
          </a:bodyPr>
          <a:lstStyle/>
          <a:p>
            <a:pPr algn="just"/>
            <a:r>
              <a:rPr lang="pt-BR" sz="2600" dirty="0"/>
              <a:t>O registro de domínio é um processo administrativo para garantir uma importante propriedade para uma empresa: o seu domínio na Internet. Tão importante quanto a marca, o domínio é o endereço eletrônico de uma página/empresa;</a:t>
            </a:r>
          </a:p>
          <a:p>
            <a:pPr algn="just"/>
            <a:r>
              <a:rPr lang="pt-BR" sz="2600" dirty="0"/>
              <a:t>Diferente da marca registrada, o domínio pertence a quem o registrar primeiro, mesmo que o responsável pelo registro não seja o proprietário da marca;</a:t>
            </a:r>
          </a:p>
          <a:p>
            <a:pPr algn="just"/>
            <a:r>
              <a:rPr lang="pt-BR" sz="2600" dirty="0"/>
              <a:t>Um domínio serve para conferir, ao seu negócio, um endereço eletrônico na Internet e, também, serve como uma proteção adicional à sua marca. Geralmente, quando se abre uma empresa, deve-se rapidamente registrar o domínio com o nome igual ou similar ao nome empresarial escolhido.</a:t>
            </a:r>
          </a:p>
        </p:txBody>
      </p:sp>
      <p:sp>
        <p:nvSpPr>
          <p:cNvPr id="3" name="Título 2"/>
          <p:cNvSpPr>
            <a:spLocks noGrp="1"/>
          </p:cNvSpPr>
          <p:nvPr>
            <p:ph type="title"/>
          </p:nvPr>
        </p:nvSpPr>
        <p:spPr>
          <a:xfrm>
            <a:off x="1136248" y="339566"/>
            <a:ext cx="8229600" cy="709714"/>
          </a:xfrm>
        </p:spPr>
        <p:txBody>
          <a:bodyPr>
            <a:normAutofit/>
          </a:bodyPr>
          <a:lstStyle/>
          <a:p>
            <a:r>
              <a:rPr lang="pt-BR" dirty="0"/>
              <a:t>Registro de Domínio?</a:t>
            </a:r>
          </a:p>
        </p:txBody>
      </p:sp>
      <p:sp>
        <p:nvSpPr>
          <p:cNvPr id="4" name="Retângulo 3">
            <a:extLst>
              <a:ext uri="{FF2B5EF4-FFF2-40B4-BE49-F238E27FC236}">
                <a16:creationId xmlns:a16="http://schemas.microsoft.com/office/drawing/2014/main" id="{15932AE2-E9A6-48EC-EEA5-992487B67A8D}"/>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4F59E49E-6498-9D79-34A4-31B58376697C}"/>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1455723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1194120" y="1339209"/>
            <a:ext cx="10496309" cy="4827992"/>
          </a:xfrm>
        </p:spPr>
        <p:txBody>
          <a:bodyPr>
            <a:noAutofit/>
          </a:bodyPr>
          <a:lstStyle/>
          <a:p>
            <a:pPr algn="just"/>
            <a:r>
              <a:rPr lang="pt-BR" sz="2600" dirty="0"/>
              <a:t>O domínio confere ao seu proprietário um endereço, por exemplo www.suaempresa.com.br. Além disso, mediante a contratação de uma hospedagem de sites ou serviço de e-mail corporativo, é possível criar contas de e-mail do tipo </a:t>
            </a:r>
            <a:r>
              <a:rPr lang="pt-BR" sz="2600" dirty="0">
                <a:hlinkClick r:id="rId3"/>
              </a:rPr>
              <a:t>nome@suaempresa.com.br</a:t>
            </a:r>
            <a:r>
              <a:rPr lang="pt-BR" sz="2600" dirty="0"/>
              <a:t>;</a:t>
            </a:r>
          </a:p>
          <a:p>
            <a:pPr algn="just"/>
            <a:r>
              <a:rPr lang="pt-BR" sz="2600" dirty="0"/>
              <a:t>Há extensões de domínios nacionais(.</a:t>
            </a:r>
            <a:r>
              <a:rPr lang="pt-BR" sz="2600" dirty="0" err="1"/>
              <a:t>br</a:t>
            </a:r>
            <a:r>
              <a:rPr lang="pt-BR" sz="2600" dirty="0"/>
              <a:t>), internacionais(.com,.net,.</a:t>
            </a:r>
            <a:r>
              <a:rPr lang="pt-BR" sz="2600" dirty="0" err="1"/>
              <a:t>org</a:t>
            </a:r>
            <a:r>
              <a:rPr lang="pt-BR" sz="2600" dirty="0"/>
              <a:t>) e também para cada tipo de segmento. Empresas e profissionais que trabalham com música, por exemplo, podem optar por uma extensão .mus. Porém, é mais aconselhável utilizar extensões .com.br, .com ou </a:t>
            </a:r>
            <a:r>
              <a:rPr lang="pt-BR" sz="2600" dirty="0" err="1"/>
              <a:t>.net</a:t>
            </a:r>
            <a:r>
              <a:rPr lang="pt-BR" sz="2600" dirty="0"/>
              <a:t>, que são mais conhecidas, mais fáceis de lembrar. Há ainda a extensão .</a:t>
            </a:r>
            <a:r>
              <a:rPr lang="pt-BR" sz="2600" dirty="0" err="1"/>
              <a:t>org</a:t>
            </a:r>
            <a:r>
              <a:rPr lang="pt-BR" sz="2600" dirty="0"/>
              <a:t>, que também é bastante conhecida e foi criada para identificar as entidades sem fins lucrativos.</a:t>
            </a:r>
          </a:p>
        </p:txBody>
      </p:sp>
      <p:sp>
        <p:nvSpPr>
          <p:cNvPr id="3" name="Título 2"/>
          <p:cNvSpPr>
            <a:spLocks noGrp="1"/>
          </p:cNvSpPr>
          <p:nvPr>
            <p:ph type="title"/>
          </p:nvPr>
        </p:nvSpPr>
        <p:spPr>
          <a:xfrm>
            <a:off x="1194121" y="471489"/>
            <a:ext cx="8229600" cy="709714"/>
          </a:xfrm>
        </p:spPr>
        <p:txBody>
          <a:bodyPr>
            <a:normAutofit/>
          </a:bodyPr>
          <a:lstStyle/>
          <a:p>
            <a:r>
              <a:rPr lang="pt-BR" dirty="0"/>
              <a:t>Registro de Domínio?</a:t>
            </a:r>
          </a:p>
        </p:txBody>
      </p:sp>
      <p:pic>
        <p:nvPicPr>
          <p:cNvPr id="4" name="Imagem 3">
            <a:extLst>
              <a:ext uri="{FF2B5EF4-FFF2-40B4-BE49-F238E27FC236}">
                <a16:creationId xmlns:a16="http://schemas.microsoft.com/office/drawing/2014/main" id="{1D00EBB0-C2C0-42BA-A11D-12B534A7E202}"/>
              </a:ext>
            </a:extLst>
          </p:cNvPr>
          <p:cNvPicPr>
            <a:picLocks noChangeAspect="1"/>
          </p:cNvPicPr>
          <p:nvPr/>
        </p:nvPicPr>
        <p:blipFill rotWithShape="1">
          <a:blip r:embed="rId4"/>
          <a:srcRect l="21569" t="29414" r="21431" b="29405"/>
          <a:stretch/>
        </p:blipFill>
        <p:spPr>
          <a:xfrm>
            <a:off x="4974812" y="5430313"/>
            <a:ext cx="3384376" cy="1280575"/>
          </a:xfrm>
          <a:prstGeom prst="rect">
            <a:avLst/>
          </a:prstGeom>
        </p:spPr>
      </p:pic>
      <p:sp>
        <p:nvSpPr>
          <p:cNvPr id="5" name="Retângulo 4">
            <a:extLst>
              <a:ext uri="{FF2B5EF4-FFF2-40B4-BE49-F238E27FC236}">
                <a16:creationId xmlns:a16="http://schemas.microsoft.com/office/drawing/2014/main" id="{046822F9-8E65-3721-B03F-C660C160F2A5}"/>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Imagem 5">
            <a:extLst>
              <a:ext uri="{FF2B5EF4-FFF2-40B4-BE49-F238E27FC236}">
                <a16:creationId xmlns:a16="http://schemas.microsoft.com/office/drawing/2014/main" id="{AD1936D3-CB0A-673C-3D79-DF0EC6AA7E7F}"/>
              </a:ext>
            </a:extLst>
          </p:cNvPr>
          <p:cNvPicPr>
            <a:picLocks noChangeAspect="1"/>
          </p:cNvPicPr>
          <p:nvPr/>
        </p:nvPicPr>
        <p:blipFill>
          <a:blip r:embed="rId5">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356067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1134319" y="1319514"/>
            <a:ext cx="10464540" cy="4489206"/>
          </a:xfrm>
        </p:spPr>
        <p:txBody>
          <a:bodyPr>
            <a:noAutofit/>
          </a:bodyPr>
          <a:lstStyle/>
          <a:p>
            <a:pPr algn="just"/>
            <a:r>
              <a:rPr lang="pt-BR" dirty="0"/>
              <a:t>Os servidores DNS convertem solicitações de nomes em endereços IP, controlando qual servidor um usuário final alcançará quando digitar um nome de domínio no navegador da web. Essas solicitações são chamadas consultas.</a:t>
            </a:r>
          </a:p>
        </p:txBody>
      </p:sp>
      <p:sp>
        <p:nvSpPr>
          <p:cNvPr id="3" name="Título 2"/>
          <p:cNvSpPr>
            <a:spLocks noGrp="1"/>
          </p:cNvSpPr>
          <p:nvPr>
            <p:ph type="title"/>
          </p:nvPr>
        </p:nvSpPr>
        <p:spPr>
          <a:xfrm>
            <a:off x="1020501" y="423085"/>
            <a:ext cx="8229600" cy="709714"/>
          </a:xfrm>
        </p:spPr>
        <p:txBody>
          <a:bodyPr>
            <a:normAutofit/>
          </a:bodyPr>
          <a:lstStyle/>
          <a:p>
            <a:r>
              <a:rPr lang="pt-BR" dirty="0"/>
              <a:t>Servidor de DNS?</a:t>
            </a:r>
          </a:p>
        </p:txBody>
      </p:sp>
      <p:pic>
        <p:nvPicPr>
          <p:cNvPr id="5" name="Imagem 4">
            <a:extLst>
              <a:ext uri="{FF2B5EF4-FFF2-40B4-BE49-F238E27FC236}">
                <a16:creationId xmlns:a16="http://schemas.microsoft.com/office/drawing/2014/main" id="{829F0D8A-BAED-4A12-AD2C-89CC31AE3619}"/>
              </a:ext>
            </a:extLst>
          </p:cNvPr>
          <p:cNvPicPr>
            <a:picLocks noChangeAspect="1"/>
          </p:cNvPicPr>
          <p:nvPr/>
        </p:nvPicPr>
        <p:blipFill>
          <a:blip r:embed="rId3"/>
          <a:stretch>
            <a:fillRect/>
          </a:stretch>
        </p:blipFill>
        <p:spPr>
          <a:xfrm>
            <a:off x="3703041" y="2963848"/>
            <a:ext cx="4619156" cy="3531829"/>
          </a:xfrm>
          <a:prstGeom prst="rect">
            <a:avLst/>
          </a:prstGeom>
        </p:spPr>
      </p:pic>
      <p:sp>
        <p:nvSpPr>
          <p:cNvPr id="4" name="Retângulo 3">
            <a:extLst>
              <a:ext uri="{FF2B5EF4-FFF2-40B4-BE49-F238E27FC236}">
                <a16:creationId xmlns:a16="http://schemas.microsoft.com/office/drawing/2014/main" id="{0DD27FDF-E407-49A7-6C3D-471830C2A6A3}"/>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Imagem 5">
            <a:extLst>
              <a:ext uri="{FF2B5EF4-FFF2-40B4-BE49-F238E27FC236}">
                <a16:creationId xmlns:a16="http://schemas.microsoft.com/office/drawing/2014/main" id="{EB483EF9-4E5A-3309-D6E0-1C9EDF6349E3}"/>
              </a:ext>
            </a:extLst>
          </p:cNvPr>
          <p:cNvPicPr>
            <a:picLocks noChangeAspect="1"/>
          </p:cNvPicPr>
          <p:nvPr/>
        </p:nvPicPr>
        <p:blipFill>
          <a:blip r:embed="rId4">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1841593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856527" y="1409320"/>
            <a:ext cx="10660283" cy="4827992"/>
          </a:xfrm>
        </p:spPr>
        <p:txBody>
          <a:bodyPr>
            <a:noAutofit/>
          </a:bodyPr>
          <a:lstStyle/>
          <a:p>
            <a:pPr algn="just"/>
            <a:r>
              <a:rPr lang="pt-BR" sz="2600" dirty="0"/>
              <a:t>Um Sistema de Gerenciamento de Banco de Dados (SGBD) – do inglês </a:t>
            </a:r>
            <a:r>
              <a:rPr lang="pt-BR" sz="2600" i="1" dirty="0"/>
              <a:t>Data Base Management System</a:t>
            </a:r>
            <a:r>
              <a:rPr lang="pt-BR" sz="2600" dirty="0"/>
              <a:t> (DBMS) – é o conjunto de programas de computador (softwares) responsáveis pelo gerenciamento de uma base de dados;</a:t>
            </a:r>
          </a:p>
          <a:p>
            <a:pPr algn="just"/>
            <a:r>
              <a:rPr lang="pt-BR" sz="2600" dirty="0"/>
              <a:t>Seu principal objetivo é retirar da aplicação cliente a responsabilidade de gerenciar o acesso, a manipulação e a organização dos dados;</a:t>
            </a:r>
          </a:p>
          <a:p>
            <a:pPr algn="just"/>
            <a:r>
              <a:rPr lang="pt-BR" sz="2600" dirty="0"/>
              <a:t>O SGBD disponibiliza uma interface para que seus clientes possam incluir, alterar ou consultar dados previamente armazenados;</a:t>
            </a:r>
          </a:p>
          <a:p>
            <a:pPr algn="just"/>
            <a:r>
              <a:rPr lang="pt-BR" sz="2600" dirty="0"/>
              <a:t>Em bancos de dados relacionais a interface é constituída pelas APIs </a:t>
            </a:r>
            <a:r>
              <a:rPr lang="pt-BR" sz="2600" i="1" dirty="0"/>
              <a:t>(</a:t>
            </a:r>
            <a:r>
              <a:rPr lang="pt-BR" sz="2600" i="1" dirty="0" err="1"/>
              <a:t>Application</a:t>
            </a:r>
            <a:r>
              <a:rPr lang="pt-BR" sz="2600" i="1" dirty="0"/>
              <a:t> </a:t>
            </a:r>
            <a:r>
              <a:rPr lang="pt-BR" sz="2600" i="1" dirty="0" err="1"/>
              <a:t>Programming</a:t>
            </a:r>
            <a:r>
              <a:rPr lang="pt-BR" sz="2600" i="1" dirty="0"/>
              <a:t> Interface) </a:t>
            </a:r>
            <a:r>
              <a:rPr lang="pt-BR" sz="2600" dirty="0"/>
              <a:t>ou drivers do SGBD, que executam comandos na linguagem </a:t>
            </a:r>
            <a:r>
              <a:rPr lang="pt-BR" sz="2600" i="1" dirty="0"/>
              <a:t>SQL (</a:t>
            </a:r>
            <a:r>
              <a:rPr lang="pt-BR" sz="2600" i="1" dirty="0" err="1"/>
              <a:t>Structured</a:t>
            </a:r>
            <a:r>
              <a:rPr lang="pt-BR" sz="2600" i="1" dirty="0"/>
              <a:t> Query </a:t>
            </a:r>
            <a:r>
              <a:rPr lang="pt-BR" sz="2600" i="1" dirty="0" err="1"/>
              <a:t>Language</a:t>
            </a:r>
            <a:r>
              <a:rPr lang="pt-BR" sz="2600" i="1" dirty="0"/>
              <a:t>).</a:t>
            </a:r>
          </a:p>
        </p:txBody>
      </p:sp>
      <p:sp>
        <p:nvSpPr>
          <p:cNvPr id="3" name="Título 2"/>
          <p:cNvSpPr>
            <a:spLocks noGrp="1"/>
          </p:cNvSpPr>
          <p:nvPr>
            <p:ph type="title"/>
          </p:nvPr>
        </p:nvSpPr>
        <p:spPr>
          <a:xfrm>
            <a:off x="960699" y="441241"/>
            <a:ext cx="9250101" cy="709714"/>
          </a:xfrm>
        </p:spPr>
        <p:txBody>
          <a:bodyPr>
            <a:normAutofit fontScale="90000"/>
          </a:bodyPr>
          <a:lstStyle/>
          <a:p>
            <a:r>
              <a:rPr lang="pt-BR" dirty="0"/>
              <a:t>Sistema Gerenciador de Banco de Dados?</a:t>
            </a:r>
          </a:p>
        </p:txBody>
      </p:sp>
      <p:sp>
        <p:nvSpPr>
          <p:cNvPr id="4" name="Retângulo 3">
            <a:extLst>
              <a:ext uri="{FF2B5EF4-FFF2-40B4-BE49-F238E27FC236}">
                <a16:creationId xmlns:a16="http://schemas.microsoft.com/office/drawing/2014/main" id="{E626BECE-43F4-3974-6A80-4C95B0F3AC4F}"/>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046A83A0-CDF8-07A9-49B8-FF9DA281C87C}"/>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2514058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1147823" y="1409320"/>
            <a:ext cx="10322688" cy="4827992"/>
          </a:xfrm>
        </p:spPr>
        <p:txBody>
          <a:bodyPr>
            <a:noAutofit/>
          </a:bodyPr>
          <a:lstStyle/>
          <a:p>
            <a:pPr algn="just"/>
            <a:r>
              <a:rPr lang="pt-BR" dirty="0"/>
              <a:t>O protocolo de transferência de hipertexto (HTTP – </a:t>
            </a:r>
            <a:r>
              <a:rPr lang="pt-BR" dirty="0" err="1"/>
              <a:t>HyperText</a:t>
            </a:r>
            <a:r>
              <a:rPr lang="pt-BR" dirty="0"/>
              <a:t> </a:t>
            </a:r>
            <a:r>
              <a:rPr lang="pt-BR" dirty="0" err="1"/>
              <a:t>Transfer</a:t>
            </a:r>
            <a:r>
              <a:rPr lang="pt-BR" dirty="0"/>
              <a:t> </a:t>
            </a:r>
            <a:r>
              <a:rPr lang="pt-BR" dirty="0" err="1"/>
              <a:t>Protocol</a:t>
            </a:r>
            <a:r>
              <a:rPr lang="pt-BR" dirty="0"/>
              <a:t>) é o protocolo padrão para a Web. Através dele, os navegadores requisitam as páginas da Web e as recebem;</a:t>
            </a:r>
          </a:p>
          <a:p>
            <a:pPr algn="just"/>
            <a:r>
              <a:rPr lang="pt-BR" dirty="0"/>
              <a:t>Dessa forma, o HTTP define, entre outras formalidades, como são requisitadas as páginas da Web, como são enviados os dados que o usuário insere em formulários e como o servidor envia mensagens de erro para o navegador do usuário;</a:t>
            </a:r>
          </a:p>
          <a:p>
            <a:pPr algn="just"/>
            <a:r>
              <a:rPr lang="pt-BR" dirty="0"/>
              <a:t>Como o HTTP é um protocolo baseado em texto, ou seja, toda a informação transmitida está em texto, os dados do usuário e do servidor podem ser interceptados ou alterados no meio do caminho.</a:t>
            </a:r>
          </a:p>
        </p:txBody>
      </p:sp>
      <p:sp>
        <p:nvSpPr>
          <p:cNvPr id="3" name="Título 2"/>
          <p:cNvSpPr>
            <a:spLocks noGrp="1"/>
          </p:cNvSpPr>
          <p:nvPr>
            <p:ph type="title"/>
          </p:nvPr>
        </p:nvSpPr>
        <p:spPr>
          <a:xfrm>
            <a:off x="1147823" y="441241"/>
            <a:ext cx="8229600" cy="709714"/>
          </a:xfrm>
        </p:spPr>
        <p:txBody>
          <a:bodyPr>
            <a:normAutofit/>
          </a:bodyPr>
          <a:lstStyle/>
          <a:p>
            <a:r>
              <a:rPr lang="pt-BR" dirty="0"/>
              <a:t>HTTP</a:t>
            </a:r>
          </a:p>
        </p:txBody>
      </p:sp>
      <p:sp>
        <p:nvSpPr>
          <p:cNvPr id="4" name="Retângulo 3">
            <a:extLst>
              <a:ext uri="{FF2B5EF4-FFF2-40B4-BE49-F238E27FC236}">
                <a16:creationId xmlns:a16="http://schemas.microsoft.com/office/drawing/2014/main" id="{A87BA9C6-0E5B-D043-3B69-823435875BE2}"/>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FE72D7FA-2C25-F6E0-FF13-745BF691340D}"/>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3879718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1066800" y="1409320"/>
            <a:ext cx="10450010" cy="4827992"/>
          </a:xfrm>
        </p:spPr>
        <p:txBody>
          <a:bodyPr vert="horz" lIns="91440" tIns="45720" rIns="91440" bIns="45720" rtlCol="0">
            <a:noAutofit/>
          </a:bodyPr>
          <a:lstStyle/>
          <a:p>
            <a:pPr algn="just"/>
            <a:r>
              <a:rPr lang="pt-BR" dirty="0"/>
              <a:t>Com o uso do HTTPS, que é o HTTP seguro, adiciona-se alguns princípios de segurança, como confidencialidade, integridade e autenticação. Por confidencialidade, entende-se que a mensagem só é lida pelo destinatário real da mensagem. A integridade representa que a mensagem não foi alterada e o princípio da autenticação prova que o servidor é realmente quem diz ser.</a:t>
            </a:r>
          </a:p>
        </p:txBody>
      </p:sp>
      <p:sp>
        <p:nvSpPr>
          <p:cNvPr id="3" name="Título 2"/>
          <p:cNvSpPr>
            <a:spLocks noGrp="1"/>
          </p:cNvSpPr>
          <p:nvPr>
            <p:ph type="title"/>
          </p:nvPr>
        </p:nvSpPr>
        <p:spPr>
          <a:xfrm>
            <a:off x="1066800" y="403594"/>
            <a:ext cx="8229600" cy="709714"/>
          </a:xfrm>
        </p:spPr>
        <p:txBody>
          <a:bodyPr>
            <a:normAutofit/>
          </a:bodyPr>
          <a:lstStyle/>
          <a:p>
            <a:r>
              <a:rPr lang="pt-BR" dirty="0" err="1"/>
              <a:t>HTTPs</a:t>
            </a:r>
            <a:endParaRPr lang="pt-BR" dirty="0"/>
          </a:p>
        </p:txBody>
      </p:sp>
      <p:sp>
        <p:nvSpPr>
          <p:cNvPr id="4" name="Retângulo 3">
            <a:extLst>
              <a:ext uri="{FF2B5EF4-FFF2-40B4-BE49-F238E27FC236}">
                <a16:creationId xmlns:a16="http://schemas.microsoft.com/office/drawing/2014/main" id="{64528A94-042A-A582-6227-A7CEE51C9D39}"/>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F62434DE-0745-3056-07A9-A78F58388D79}"/>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1718217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4" name="Imagem 13">
            <a:extLst>
              <a:ext uri="{FF2B5EF4-FFF2-40B4-BE49-F238E27FC236}">
                <a16:creationId xmlns:a16="http://schemas.microsoft.com/office/drawing/2014/main" id="{E9C4341D-E3F2-464E-AFBF-956E5FDE0678}"/>
              </a:ext>
            </a:extLst>
          </p:cNvPr>
          <p:cNvPicPr>
            <a:picLocks noChangeAspect="1"/>
          </p:cNvPicPr>
          <p:nvPr/>
        </p:nvPicPr>
        <p:blipFill>
          <a:blip r:embed="rId4">
            <a:alphaModFix amt="50000"/>
          </a:blip>
          <a:stretch>
            <a:fillRect/>
          </a:stretch>
        </p:blipFill>
        <p:spPr>
          <a:xfrm>
            <a:off x="9580110" y="6070601"/>
            <a:ext cx="2021340" cy="425076"/>
          </a:xfrm>
          <a:prstGeom prst="rect">
            <a:avLst/>
          </a:prstGeom>
        </p:spPr>
      </p:pic>
      <p:sp>
        <p:nvSpPr>
          <p:cNvPr id="4" name="CaixaDeTexto 3">
            <a:extLst>
              <a:ext uri="{FF2B5EF4-FFF2-40B4-BE49-F238E27FC236}">
                <a16:creationId xmlns:a16="http://schemas.microsoft.com/office/drawing/2014/main" id="{6BBB1F0A-415C-4A42-B77D-55D092C474F6}"/>
              </a:ext>
            </a:extLst>
          </p:cNvPr>
          <p:cNvSpPr txBox="1"/>
          <p:nvPr/>
        </p:nvSpPr>
        <p:spPr>
          <a:xfrm>
            <a:off x="2129618" y="2991198"/>
            <a:ext cx="7951940" cy="1200329"/>
          </a:xfrm>
          <a:prstGeom prst="rect">
            <a:avLst/>
          </a:prstGeom>
          <a:noFill/>
        </p:spPr>
        <p:txBody>
          <a:bodyPr wrap="square" rtlCol="0">
            <a:spAutoFit/>
          </a:bodyPr>
          <a:lstStyle/>
          <a:p>
            <a:pPr algn="ctr"/>
            <a:r>
              <a:rPr lang="pt-BR" sz="3600" b="1" dirty="0">
                <a:solidFill>
                  <a:schemeClr val="bg1"/>
                </a:solidFill>
                <a:latin typeface="Arial" panose="020B0604020202020204" pitchFamily="34" charset="0"/>
                <a:cs typeface="Arial" panose="020B0604020202020204" pitchFamily="34" charset="0"/>
              </a:rPr>
              <a:t>INFRAESTRUTURA DE TI </a:t>
            </a:r>
          </a:p>
          <a:p>
            <a:pPr algn="ctr"/>
            <a:r>
              <a:rPr lang="pt-BR" sz="3600" b="1" dirty="0">
                <a:solidFill>
                  <a:schemeClr val="bg1"/>
                </a:solidFill>
                <a:latin typeface="Arial" panose="020B0604020202020204" pitchFamily="34" charset="0"/>
                <a:cs typeface="Arial" panose="020B0604020202020204" pitchFamily="34" charset="0"/>
              </a:rPr>
              <a:t>ON PREMISE X CLOUD</a:t>
            </a:r>
          </a:p>
        </p:txBody>
      </p:sp>
      <p:sp>
        <p:nvSpPr>
          <p:cNvPr id="5" name="Retângulo 4">
            <a:extLst>
              <a:ext uri="{FF2B5EF4-FFF2-40B4-BE49-F238E27FC236}">
                <a16:creationId xmlns:a16="http://schemas.microsoft.com/office/drawing/2014/main" id="{D1E42391-2677-4D21-9DF1-7E9016530017}"/>
              </a:ext>
            </a:extLst>
          </p:cNvPr>
          <p:cNvSpPr/>
          <p:nvPr/>
        </p:nvSpPr>
        <p:spPr>
          <a:xfrm rot="5400000">
            <a:off x="6061118" y="2604486"/>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033160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1124674" y="403594"/>
            <a:ext cx="8229600" cy="709714"/>
          </a:xfrm>
        </p:spPr>
        <p:txBody>
          <a:bodyPr>
            <a:normAutofit/>
          </a:bodyPr>
          <a:lstStyle/>
          <a:p>
            <a:r>
              <a:rPr lang="pt-BR" dirty="0"/>
              <a:t>Data Center</a:t>
            </a:r>
          </a:p>
        </p:txBody>
      </p:sp>
      <p:pic>
        <p:nvPicPr>
          <p:cNvPr id="2" name="Imagem 1">
            <a:extLst>
              <a:ext uri="{FF2B5EF4-FFF2-40B4-BE49-F238E27FC236}">
                <a16:creationId xmlns:a16="http://schemas.microsoft.com/office/drawing/2014/main" id="{88798977-4469-4B4B-B538-8472AC07DEC2}"/>
              </a:ext>
            </a:extLst>
          </p:cNvPr>
          <p:cNvPicPr>
            <a:picLocks noChangeAspect="1"/>
          </p:cNvPicPr>
          <p:nvPr/>
        </p:nvPicPr>
        <p:blipFill>
          <a:blip r:embed="rId3"/>
          <a:stretch>
            <a:fillRect/>
          </a:stretch>
        </p:blipFill>
        <p:spPr>
          <a:xfrm>
            <a:off x="3143671" y="1556793"/>
            <a:ext cx="6454223" cy="3813860"/>
          </a:xfrm>
          <a:prstGeom prst="rect">
            <a:avLst/>
          </a:prstGeom>
        </p:spPr>
      </p:pic>
      <p:pic>
        <p:nvPicPr>
          <p:cNvPr id="4" name="Imagem 3">
            <a:extLst>
              <a:ext uri="{FF2B5EF4-FFF2-40B4-BE49-F238E27FC236}">
                <a16:creationId xmlns:a16="http://schemas.microsoft.com/office/drawing/2014/main" id="{D71312BC-D826-0706-8361-435669B7C7D6}"/>
              </a:ext>
            </a:extLst>
          </p:cNvPr>
          <p:cNvPicPr>
            <a:picLocks noChangeAspect="1"/>
          </p:cNvPicPr>
          <p:nvPr/>
        </p:nvPicPr>
        <p:blipFill>
          <a:blip r:embed="rId4">
            <a:alphaModFix amt="35000"/>
          </a:blip>
          <a:stretch>
            <a:fillRect/>
          </a:stretch>
        </p:blipFill>
        <p:spPr>
          <a:xfrm>
            <a:off x="9582700" y="6070601"/>
            <a:ext cx="2016159" cy="425076"/>
          </a:xfrm>
          <a:prstGeom prst="rect">
            <a:avLst/>
          </a:prstGeom>
        </p:spPr>
      </p:pic>
      <p:sp>
        <p:nvSpPr>
          <p:cNvPr id="5" name="Retângulo 4">
            <a:extLst>
              <a:ext uri="{FF2B5EF4-FFF2-40B4-BE49-F238E27FC236}">
                <a16:creationId xmlns:a16="http://schemas.microsoft.com/office/drawing/2014/main" id="{2CE9A6A9-9AC5-6F35-549B-B33640136F36}"/>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8047801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1170972" y="403594"/>
            <a:ext cx="8229600" cy="709714"/>
          </a:xfrm>
        </p:spPr>
        <p:txBody>
          <a:bodyPr>
            <a:normAutofit/>
          </a:bodyPr>
          <a:lstStyle/>
          <a:p>
            <a:r>
              <a:rPr lang="pt-BR" dirty="0"/>
              <a:t>Cloud </a:t>
            </a:r>
            <a:r>
              <a:rPr lang="pt-BR" dirty="0" err="1"/>
              <a:t>Computing</a:t>
            </a:r>
            <a:endParaRPr lang="pt-BR" dirty="0"/>
          </a:p>
        </p:txBody>
      </p:sp>
      <p:pic>
        <p:nvPicPr>
          <p:cNvPr id="4" name="Imagem 3">
            <a:extLst>
              <a:ext uri="{FF2B5EF4-FFF2-40B4-BE49-F238E27FC236}">
                <a16:creationId xmlns:a16="http://schemas.microsoft.com/office/drawing/2014/main" id="{FA062EAC-A3BF-4A71-9A75-635ACA58B812}"/>
              </a:ext>
            </a:extLst>
          </p:cNvPr>
          <p:cNvPicPr>
            <a:picLocks noChangeAspect="1"/>
          </p:cNvPicPr>
          <p:nvPr/>
        </p:nvPicPr>
        <p:blipFill>
          <a:blip r:embed="rId3"/>
          <a:stretch>
            <a:fillRect/>
          </a:stretch>
        </p:blipFill>
        <p:spPr>
          <a:xfrm>
            <a:off x="3287688" y="908721"/>
            <a:ext cx="5616624" cy="5083045"/>
          </a:xfrm>
          <a:prstGeom prst="rect">
            <a:avLst/>
          </a:prstGeom>
        </p:spPr>
      </p:pic>
      <p:sp>
        <p:nvSpPr>
          <p:cNvPr id="2" name="Retângulo 1">
            <a:extLst>
              <a:ext uri="{FF2B5EF4-FFF2-40B4-BE49-F238E27FC236}">
                <a16:creationId xmlns:a16="http://schemas.microsoft.com/office/drawing/2014/main" id="{B9631842-4D0A-90F2-FCF5-6169DF094636}"/>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49B02631-FDB5-2396-A329-AB10A2B5EF7B}"/>
              </a:ext>
            </a:extLst>
          </p:cNvPr>
          <p:cNvPicPr>
            <a:picLocks noChangeAspect="1"/>
          </p:cNvPicPr>
          <p:nvPr/>
        </p:nvPicPr>
        <p:blipFill>
          <a:blip r:embed="rId4">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19189488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1981200" y="1052736"/>
            <a:ext cx="8229600" cy="4827992"/>
          </a:xfrm>
        </p:spPr>
        <p:txBody>
          <a:bodyPr>
            <a:noAutofit/>
          </a:bodyPr>
          <a:lstStyle/>
          <a:p>
            <a:pPr marL="0" indent="0" algn="ctr">
              <a:buNone/>
            </a:pPr>
            <a:endParaRPr lang="pt-BR" dirty="0"/>
          </a:p>
          <a:p>
            <a:pPr marL="0" indent="0" algn="ctr">
              <a:buNone/>
            </a:pPr>
            <a:endParaRPr lang="pt-BR" dirty="0"/>
          </a:p>
          <a:p>
            <a:pPr marL="0" indent="0" algn="ctr">
              <a:buNone/>
            </a:pPr>
            <a:r>
              <a:rPr lang="pt-BR" dirty="0"/>
              <a:t>O conceito de computação em nuvem (em inglês, cloud </a:t>
            </a:r>
            <a:r>
              <a:rPr lang="pt-BR" dirty="0" err="1"/>
              <a:t>computing</a:t>
            </a:r>
            <a:r>
              <a:rPr lang="pt-BR" dirty="0"/>
              <a:t>) refere-se à utilização da memória, das capacidades de armazenamento e processamento de computadores e servidores compartilhados e interligados por meio da Internet, seguindo o princípio da computação em grade.</a:t>
            </a:r>
          </a:p>
          <a:p>
            <a:pPr marL="0" indent="0" algn="ctr">
              <a:buNone/>
            </a:pPr>
            <a:endParaRPr lang="pt-BR" dirty="0"/>
          </a:p>
        </p:txBody>
      </p:sp>
      <p:sp>
        <p:nvSpPr>
          <p:cNvPr id="3" name="Título 2"/>
          <p:cNvSpPr>
            <a:spLocks noGrp="1"/>
          </p:cNvSpPr>
          <p:nvPr>
            <p:ph type="title"/>
          </p:nvPr>
        </p:nvSpPr>
        <p:spPr>
          <a:xfrm>
            <a:off x="1205696" y="403594"/>
            <a:ext cx="8229600" cy="709714"/>
          </a:xfrm>
        </p:spPr>
        <p:txBody>
          <a:bodyPr>
            <a:normAutofit/>
          </a:bodyPr>
          <a:lstStyle/>
          <a:p>
            <a:r>
              <a:rPr lang="pt-BR" dirty="0"/>
              <a:t>O que é um Cloud </a:t>
            </a:r>
            <a:r>
              <a:rPr lang="pt-BR" dirty="0" err="1"/>
              <a:t>Computing</a:t>
            </a:r>
            <a:r>
              <a:rPr lang="pt-BR" dirty="0"/>
              <a:t>?</a:t>
            </a:r>
          </a:p>
        </p:txBody>
      </p:sp>
      <p:sp>
        <p:nvSpPr>
          <p:cNvPr id="4" name="Retângulo 3">
            <a:extLst>
              <a:ext uri="{FF2B5EF4-FFF2-40B4-BE49-F238E27FC236}">
                <a16:creationId xmlns:a16="http://schemas.microsoft.com/office/drawing/2014/main" id="{EECEF1A2-1F8A-BAE4-E1C8-D6112388D11F}"/>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BD0B4827-3E01-2126-98F1-B4500810DAB0}"/>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31470228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1205696" y="1242609"/>
            <a:ext cx="10542608" cy="4827992"/>
          </a:xfrm>
        </p:spPr>
        <p:txBody>
          <a:bodyPr>
            <a:noAutofit/>
          </a:bodyPr>
          <a:lstStyle/>
          <a:p>
            <a:pPr algn="just"/>
            <a:r>
              <a:rPr lang="pt-BR" dirty="0"/>
              <a:t>O armazenamento de dados é feito em serviços que poderão ser acessados de qualquer lugar do mundo, a qualquer hora, não havendo necessidade de instalação de programas x ou de armazenar dados;</a:t>
            </a:r>
          </a:p>
          <a:p>
            <a:pPr algn="just"/>
            <a:endParaRPr lang="pt-BR" dirty="0"/>
          </a:p>
          <a:p>
            <a:pPr algn="just"/>
            <a:r>
              <a:rPr lang="pt-BR" dirty="0"/>
              <a:t>O acesso a programas, serviços e arquivos é remoto, através da Internet, sendo este a alusão à “nuvem”;</a:t>
            </a:r>
          </a:p>
          <a:p>
            <a:pPr algn="just"/>
            <a:endParaRPr lang="pt-BR" dirty="0"/>
          </a:p>
          <a:p>
            <a:pPr algn="just"/>
            <a:r>
              <a:rPr lang="pt-BR" dirty="0"/>
              <a:t>O uso desse modelo (ambiente) é mais viável do que o uso de unidades físicas;</a:t>
            </a:r>
          </a:p>
          <a:p>
            <a:pPr algn="just"/>
            <a:endParaRPr lang="pt-BR" dirty="0"/>
          </a:p>
        </p:txBody>
      </p:sp>
      <p:sp>
        <p:nvSpPr>
          <p:cNvPr id="3" name="Título 2"/>
          <p:cNvSpPr>
            <a:spLocks noGrp="1"/>
          </p:cNvSpPr>
          <p:nvPr>
            <p:ph type="title"/>
          </p:nvPr>
        </p:nvSpPr>
        <p:spPr>
          <a:xfrm>
            <a:off x="1205696" y="403594"/>
            <a:ext cx="8229600" cy="709714"/>
          </a:xfrm>
        </p:spPr>
        <p:txBody>
          <a:bodyPr>
            <a:normAutofit/>
          </a:bodyPr>
          <a:lstStyle/>
          <a:p>
            <a:r>
              <a:rPr lang="pt-BR" dirty="0"/>
              <a:t>Características?</a:t>
            </a:r>
          </a:p>
        </p:txBody>
      </p:sp>
      <p:sp>
        <p:nvSpPr>
          <p:cNvPr id="4" name="Retângulo 3">
            <a:extLst>
              <a:ext uri="{FF2B5EF4-FFF2-40B4-BE49-F238E27FC236}">
                <a16:creationId xmlns:a16="http://schemas.microsoft.com/office/drawing/2014/main" id="{85876706-C821-00FA-F381-DE250CD600D4}"/>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54A33B68-62C2-CB49-2332-84112C356992}"/>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954263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1124673" y="1242609"/>
            <a:ext cx="10102769" cy="4827992"/>
          </a:xfrm>
        </p:spPr>
        <p:txBody>
          <a:bodyPr>
            <a:noAutofit/>
          </a:bodyPr>
          <a:lstStyle/>
          <a:p>
            <a:pPr algn="just"/>
            <a:r>
              <a:rPr lang="pt-BR" dirty="0"/>
              <a:t>Em qualquer SO conectado a internet e em qualquer lugar, pode-se ter acesso a informações, arquivos e programas em um sistema único, independente de plataforma;</a:t>
            </a:r>
          </a:p>
          <a:p>
            <a:pPr algn="just"/>
            <a:endParaRPr lang="pt-BR" dirty="0"/>
          </a:p>
          <a:p>
            <a:pPr algn="just"/>
            <a:r>
              <a:rPr lang="pt-BR" dirty="0"/>
              <a:t>O requisito mínimo é um computador compatível com os recursos disponíveis na internet;</a:t>
            </a:r>
          </a:p>
          <a:p>
            <a:pPr algn="just"/>
            <a:endParaRPr lang="pt-BR" dirty="0"/>
          </a:p>
          <a:p>
            <a:pPr algn="just"/>
            <a:r>
              <a:rPr lang="pt-BR" dirty="0"/>
              <a:t>O dispositivo é apenas um ponto de acesso a "grande nuvem" de computadores, sendo necessários somente os dispositivos de entrada (teclado, mouse) e saída (monitor). </a:t>
            </a:r>
          </a:p>
        </p:txBody>
      </p:sp>
      <p:sp>
        <p:nvSpPr>
          <p:cNvPr id="3" name="Título 2"/>
          <p:cNvSpPr>
            <a:spLocks noGrp="1"/>
          </p:cNvSpPr>
          <p:nvPr>
            <p:ph type="title"/>
          </p:nvPr>
        </p:nvSpPr>
        <p:spPr>
          <a:xfrm>
            <a:off x="1124674" y="403594"/>
            <a:ext cx="8229600" cy="709714"/>
          </a:xfrm>
          <a:noFill/>
        </p:spPr>
        <p:txBody>
          <a:bodyPr>
            <a:normAutofit/>
          </a:bodyPr>
          <a:lstStyle/>
          <a:p>
            <a:r>
              <a:rPr lang="pt-BR" dirty="0"/>
              <a:t>Características?</a:t>
            </a:r>
          </a:p>
        </p:txBody>
      </p:sp>
      <p:sp>
        <p:nvSpPr>
          <p:cNvPr id="4" name="Retângulo 3">
            <a:extLst>
              <a:ext uri="{FF2B5EF4-FFF2-40B4-BE49-F238E27FC236}">
                <a16:creationId xmlns:a16="http://schemas.microsoft.com/office/drawing/2014/main" id="{BE26E2EA-E52F-3609-CB7C-F03C7D781BB8}"/>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AABE2F95-0E94-D76A-8F4E-A42C88CFA279}"/>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263752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1228845" y="1341097"/>
            <a:ext cx="10370014" cy="4827992"/>
          </a:xfrm>
        </p:spPr>
        <p:txBody>
          <a:bodyPr>
            <a:noAutofit/>
          </a:bodyPr>
          <a:lstStyle/>
          <a:p>
            <a:pPr algn="just"/>
            <a:r>
              <a:rPr lang="pt-BR" sz="2600" b="1" dirty="0"/>
              <a:t>Pública: </a:t>
            </a:r>
            <a:r>
              <a:rPr lang="pt-BR" sz="2600" dirty="0"/>
              <a:t>fazem parte de um provedor de serviço terceirizado e é por ele que elas são administradas, oferecendo alguns recursos de computação via internet. Utilizando uma nuvem pública, toda a parte de hardware, software e algumas outras infraestruturas são de total responsabilidade do provedor.</a:t>
            </a:r>
            <a:endParaRPr lang="pt-BR" sz="2600" b="1" dirty="0"/>
          </a:p>
          <a:p>
            <a:pPr algn="just"/>
            <a:r>
              <a:rPr lang="pt-BR" sz="2600" b="1" dirty="0"/>
              <a:t>Privada: </a:t>
            </a:r>
            <a:r>
              <a:rPr lang="pt-BR" sz="2600" dirty="0"/>
              <a:t>recursos de computação que são utilizados especialmente por uma única empresa ou organização. Nuvens privadas podem ser localizadas fisicamente no datacenter local de uma instituição.</a:t>
            </a:r>
            <a:endParaRPr lang="pt-BR" sz="2600" b="1" dirty="0"/>
          </a:p>
          <a:p>
            <a:pPr algn="just"/>
            <a:r>
              <a:rPr lang="pt-BR" sz="2600" b="1" dirty="0"/>
              <a:t>Híbrida: </a:t>
            </a:r>
            <a:r>
              <a:rPr lang="pt-BR" sz="2600" dirty="0"/>
              <a:t>nuvens públicas e privadas que ficam conectadas por uma tecnologia que possibilita o compartilhamento de dados e aplicativos entre elas. Permitindo, assim, que todos os aplicativos e dados se transitem entre ambas as versões.</a:t>
            </a:r>
          </a:p>
        </p:txBody>
      </p:sp>
      <p:sp>
        <p:nvSpPr>
          <p:cNvPr id="3" name="Título 2"/>
          <p:cNvSpPr>
            <a:spLocks noGrp="1"/>
          </p:cNvSpPr>
          <p:nvPr>
            <p:ph type="title"/>
          </p:nvPr>
        </p:nvSpPr>
        <p:spPr>
          <a:xfrm>
            <a:off x="1228845" y="403594"/>
            <a:ext cx="8229600" cy="709714"/>
          </a:xfrm>
        </p:spPr>
        <p:txBody>
          <a:bodyPr>
            <a:normAutofit/>
          </a:bodyPr>
          <a:lstStyle/>
          <a:p>
            <a:r>
              <a:rPr lang="pt-BR" dirty="0"/>
              <a:t>Tipos de Clouds?</a:t>
            </a:r>
          </a:p>
        </p:txBody>
      </p:sp>
      <p:sp>
        <p:nvSpPr>
          <p:cNvPr id="4" name="Retângulo 3">
            <a:extLst>
              <a:ext uri="{FF2B5EF4-FFF2-40B4-BE49-F238E27FC236}">
                <a16:creationId xmlns:a16="http://schemas.microsoft.com/office/drawing/2014/main" id="{7E854F8B-C287-6F19-768C-A89FA824C0A0}"/>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EAC451DA-D4FC-EF9A-52F9-C8EFD646B58A}"/>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227281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1205696" y="1242609"/>
            <a:ext cx="8229600" cy="4827992"/>
          </a:xfrm>
        </p:spPr>
        <p:txBody>
          <a:bodyPr>
            <a:noAutofit/>
          </a:bodyPr>
          <a:lstStyle/>
          <a:p>
            <a:pPr algn="just"/>
            <a:endParaRPr lang="pt-BR" dirty="0"/>
          </a:p>
          <a:p>
            <a:pPr algn="just"/>
            <a:r>
              <a:rPr lang="pt-BR" dirty="0"/>
              <a:t>Não precisamos se preocupar:</a:t>
            </a:r>
          </a:p>
          <a:p>
            <a:pPr algn="just"/>
            <a:endParaRPr lang="pt-BR" dirty="0"/>
          </a:p>
          <a:p>
            <a:pPr lvl="1" algn="just"/>
            <a:r>
              <a:rPr lang="pt-BR" dirty="0"/>
              <a:t>Escalabilidade</a:t>
            </a:r>
          </a:p>
          <a:p>
            <a:pPr lvl="1" algn="just"/>
            <a:endParaRPr lang="pt-BR" dirty="0"/>
          </a:p>
          <a:p>
            <a:pPr lvl="1" algn="just"/>
            <a:r>
              <a:rPr lang="pt-BR" dirty="0"/>
              <a:t>Disponibilidade</a:t>
            </a:r>
          </a:p>
          <a:p>
            <a:pPr lvl="1" algn="just"/>
            <a:endParaRPr lang="pt-BR" dirty="0"/>
          </a:p>
          <a:p>
            <a:pPr lvl="1" algn="just"/>
            <a:r>
              <a:rPr lang="pt-BR" dirty="0"/>
              <a:t>Desempenho</a:t>
            </a:r>
          </a:p>
          <a:p>
            <a:pPr lvl="1" algn="just"/>
            <a:endParaRPr lang="pt-BR" dirty="0"/>
          </a:p>
          <a:p>
            <a:pPr lvl="1" algn="just"/>
            <a:r>
              <a:rPr lang="pt-BR" dirty="0"/>
              <a:t>Backups</a:t>
            </a:r>
            <a:endParaRPr lang="pt-BR" sz="2000" dirty="0"/>
          </a:p>
        </p:txBody>
      </p:sp>
      <p:sp>
        <p:nvSpPr>
          <p:cNvPr id="3" name="Título 2"/>
          <p:cNvSpPr>
            <a:spLocks noGrp="1"/>
          </p:cNvSpPr>
          <p:nvPr>
            <p:ph type="title"/>
          </p:nvPr>
        </p:nvSpPr>
        <p:spPr>
          <a:xfrm>
            <a:off x="1113099" y="471489"/>
            <a:ext cx="8229600" cy="709714"/>
          </a:xfrm>
        </p:spPr>
        <p:txBody>
          <a:bodyPr>
            <a:normAutofit/>
          </a:bodyPr>
          <a:lstStyle/>
          <a:p>
            <a:r>
              <a:rPr lang="pt-BR" dirty="0"/>
              <a:t>Com Cloud...</a:t>
            </a:r>
          </a:p>
        </p:txBody>
      </p:sp>
      <p:sp>
        <p:nvSpPr>
          <p:cNvPr id="4" name="Retângulo 3">
            <a:extLst>
              <a:ext uri="{FF2B5EF4-FFF2-40B4-BE49-F238E27FC236}">
                <a16:creationId xmlns:a16="http://schemas.microsoft.com/office/drawing/2014/main" id="{CDF2CF2F-FA6C-43C8-FBD9-E2DB88C8BD8D}"/>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0D81DE59-9043-B79C-8A44-1E43BAC4E312}"/>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38319925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1981200" y="2702940"/>
            <a:ext cx="8229600" cy="709714"/>
          </a:xfrm>
        </p:spPr>
        <p:txBody>
          <a:bodyPr>
            <a:normAutofit fontScale="90000"/>
          </a:bodyPr>
          <a:lstStyle/>
          <a:p>
            <a:r>
              <a:rPr lang="pt-BR" dirty="0"/>
              <a:t>A Virtualização contribuiu para Cloud </a:t>
            </a:r>
            <a:r>
              <a:rPr lang="pt-BR" dirty="0" err="1"/>
              <a:t>Computing</a:t>
            </a:r>
            <a:r>
              <a:rPr lang="pt-BR" dirty="0"/>
              <a:t>...</a:t>
            </a:r>
          </a:p>
        </p:txBody>
      </p:sp>
      <p:sp>
        <p:nvSpPr>
          <p:cNvPr id="2" name="Retângulo 1">
            <a:extLst>
              <a:ext uri="{FF2B5EF4-FFF2-40B4-BE49-F238E27FC236}">
                <a16:creationId xmlns:a16="http://schemas.microsoft.com/office/drawing/2014/main" id="{7E163999-5553-8086-9D35-0B56D84EA929}"/>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 name="Imagem 3">
            <a:extLst>
              <a:ext uri="{FF2B5EF4-FFF2-40B4-BE49-F238E27FC236}">
                <a16:creationId xmlns:a16="http://schemas.microsoft.com/office/drawing/2014/main" id="{88889446-2B79-AAAB-0753-20FAD039A12D}"/>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28453211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1101525" y="1284790"/>
            <a:ext cx="10230090" cy="4595938"/>
          </a:xfrm>
        </p:spPr>
        <p:txBody>
          <a:bodyPr>
            <a:noAutofit/>
          </a:bodyPr>
          <a:lstStyle/>
          <a:p>
            <a:pPr algn="just"/>
            <a:r>
              <a:rPr lang="pt-BR" sz="2400" dirty="0"/>
              <a:t>Dividir um servidor físico em vários servidores virtuais e independentes.</a:t>
            </a:r>
          </a:p>
          <a:p>
            <a:pPr lvl="1" algn="just"/>
            <a:r>
              <a:rPr lang="pt-BR" sz="2000" dirty="0"/>
              <a:t>Permite compartilhar e utilizar recursos de um único sistema computacional em vários outros (VM).</a:t>
            </a:r>
          </a:p>
          <a:p>
            <a:pPr lvl="1" algn="just"/>
            <a:endParaRPr lang="pt-BR" sz="2000" dirty="0"/>
          </a:p>
          <a:p>
            <a:pPr lvl="1" algn="just"/>
            <a:r>
              <a:rPr lang="pt-BR" sz="2000" dirty="0"/>
              <a:t>Cada máquina virtual oferece um sistema computacional completo muito similar a uma máquina física.</a:t>
            </a:r>
          </a:p>
          <a:p>
            <a:pPr lvl="1" algn="just"/>
            <a:endParaRPr lang="pt-BR" sz="2000" dirty="0"/>
          </a:p>
          <a:p>
            <a:pPr lvl="1" algn="just"/>
            <a:r>
              <a:rPr lang="pt-BR" sz="2000" dirty="0"/>
              <a:t>Cada máquina virtual pode ter seu próprio sistema operacional, aplicativos e oferecer serviços de rede.</a:t>
            </a:r>
          </a:p>
          <a:p>
            <a:pPr lvl="1" algn="just"/>
            <a:endParaRPr lang="pt-BR" sz="2000" dirty="0"/>
          </a:p>
          <a:p>
            <a:pPr marL="457200" lvl="1" indent="0" algn="just">
              <a:buNone/>
            </a:pPr>
            <a:r>
              <a:rPr lang="pt-BR" sz="2000" dirty="0"/>
              <a:t>– É possível ainda interconectar (virtualmente) cada uma dessas máquinas. ?</a:t>
            </a:r>
          </a:p>
        </p:txBody>
      </p:sp>
      <p:sp>
        <p:nvSpPr>
          <p:cNvPr id="3" name="Título 2"/>
          <p:cNvSpPr>
            <a:spLocks noGrp="1"/>
          </p:cNvSpPr>
          <p:nvPr>
            <p:ph type="title"/>
          </p:nvPr>
        </p:nvSpPr>
        <p:spPr>
          <a:xfrm>
            <a:off x="1101525" y="403594"/>
            <a:ext cx="8229600" cy="709714"/>
          </a:xfrm>
        </p:spPr>
        <p:txBody>
          <a:bodyPr>
            <a:normAutofit/>
          </a:bodyPr>
          <a:lstStyle/>
          <a:p>
            <a:r>
              <a:rPr lang="pt-BR" dirty="0"/>
              <a:t>Virtualização</a:t>
            </a:r>
          </a:p>
        </p:txBody>
      </p:sp>
      <p:sp>
        <p:nvSpPr>
          <p:cNvPr id="4" name="Retângulo 3">
            <a:extLst>
              <a:ext uri="{FF2B5EF4-FFF2-40B4-BE49-F238E27FC236}">
                <a16:creationId xmlns:a16="http://schemas.microsoft.com/office/drawing/2014/main" id="{699116EF-55E1-9E79-D6A8-4EC3E4C8139A}"/>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6F7DE52D-F9D3-6FB4-D3EA-223EF17A1C23}"/>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19334490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1251995" y="432542"/>
            <a:ext cx="8229600" cy="709714"/>
          </a:xfrm>
        </p:spPr>
        <p:txBody>
          <a:bodyPr>
            <a:normAutofit/>
          </a:bodyPr>
          <a:lstStyle/>
          <a:p>
            <a:r>
              <a:rPr lang="pt-BR" dirty="0"/>
              <a:t>Virtualização</a:t>
            </a:r>
          </a:p>
        </p:txBody>
      </p:sp>
      <p:pic>
        <p:nvPicPr>
          <p:cNvPr id="6" name="Imagem 5">
            <a:extLst>
              <a:ext uri="{FF2B5EF4-FFF2-40B4-BE49-F238E27FC236}">
                <a16:creationId xmlns:a16="http://schemas.microsoft.com/office/drawing/2014/main" id="{25035417-CAD8-4460-A257-AFC09B26F79C}"/>
              </a:ext>
            </a:extLst>
          </p:cNvPr>
          <p:cNvPicPr>
            <a:picLocks noChangeAspect="1"/>
          </p:cNvPicPr>
          <p:nvPr/>
        </p:nvPicPr>
        <p:blipFill>
          <a:blip r:embed="rId3"/>
          <a:stretch>
            <a:fillRect/>
          </a:stretch>
        </p:blipFill>
        <p:spPr>
          <a:xfrm>
            <a:off x="2069302" y="1185767"/>
            <a:ext cx="7805833" cy="4884834"/>
          </a:xfrm>
          <a:prstGeom prst="rect">
            <a:avLst/>
          </a:prstGeom>
        </p:spPr>
      </p:pic>
      <p:sp>
        <p:nvSpPr>
          <p:cNvPr id="2" name="Retângulo 1">
            <a:extLst>
              <a:ext uri="{FF2B5EF4-FFF2-40B4-BE49-F238E27FC236}">
                <a16:creationId xmlns:a16="http://schemas.microsoft.com/office/drawing/2014/main" id="{5F70F2CB-12C1-54D6-9BB7-220A9240CCBB}"/>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 name="Imagem 3">
            <a:extLst>
              <a:ext uri="{FF2B5EF4-FFF2-40B4-BE49-F238E27FC236}">
                <a16:creationId xmlns:a16="http://schemas.microsoft.com/office/drawing/2014/main" id="{8D6841CE-05BC-0C9D-3EB5-16747249B85C}"/>
              </a:ext>
            </a:extLst>
          </p:cNvPr>
          <p:cNvPicPr>
            <a:picLocks noChangeAspect="1"/>
          </p:cNvPicPr>
          <p:nvPr/>
        </p:nvPicPr>
        <p:blipFill>
          <a:blip r:embed="rId4">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8192308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1353100" y="403594"/>
            <a:ext cx="8229600" cy="709714"/>
          </a:xfrm>
        </p:spPr>
        <p:txBody>
          <a:bodyPr>
            <a:normAutofit/>
          </a:bodyPr>
          <a:lstStyle/>
          <a:p>
            <a:r>
              <a:rPr lang="pt-BR" dirty="0"/>
              <a:t>Software Virtualização</a:t>
            </a:r>
          </a:p>
        </p:txBody>
      </p:sp>
      <p:pic>
        <p:nvPicPr>
          <p:cNvPr id="4" name="Imagem 3">
            <a:extLst>
              <a:ext uri="{FF2B5EF4-FFF2-40B4-BE49-F238E27FC236}">
                <a16:creationId xmlns:a16="http://schemas.microsoft.com/office/drawing/2014/main" id="{0C73C405-6A8E-43C5-A8A0-68215F7CB661}"/>
              </a:ext>
            </a:extLst>
          </p:cNvPr>
          <p:cNvPicPr>
            <a:picLocks noChangeAspect="1"/>
          </p:cNvPicPr>
          <p:nvPr/>
        </p:nvPicPr>
        <p:blipFill>
          <a:blip r:embed="rId3"/>
          <a:stretch>
            <a:fillRect/>
          </a:stretch>
        </p:blipFill>
        <p:spPr>
          <a:xfrm>
            <a:off x="7563520" y="4437112"/>
            <a:ext cx="2664296" cy="1499900"/>
          </a:xfrm>
          <a:prstGeom prst="rect">
            <a:avLst/>
          </a:prstGeom>
        </p:spPr>
      </p:pic>
      <p:pic>
        <p:nvPicPr>
          <p:cNvPr id="5" name="Imagem 4">
            <a:extLst>
              <a:ext uri="{FF2B5EF4-FFF2-40B4-BE49-F238E27FC236}">
                <a16:creationId xmlns:a16="http://schemas.microsoft.com/office/drawing/2014/main" id="{307C5D50-C6A2-4A99-9CED-8374832DAC26}"/>
              </a:ext>
            </a:extLst>
          </p:cNvPr>
          <p:cNvPicPr>
            <a:picLocks noChangeAspect="1"/>
          </p:cNvPicPr>
          <p:nvPr/>
        </p:nvPicPr>
        <p:blipFill>
          <a:blip r:embed="rId4"/>
          <a:stretch>
            <a:fillRect/>
          </a:stretch>
        </p:blipFill>
        <p:spPr>
          <a:xfrm>
            <a:off x="4259852" y="2549969"/>
            <a:ext cx="4834671" cy="1758062"/>
          </a:xfrm>
          <a:prstGeom prst="rect">
            <a:avLst/>
          </a:prstGeom>
        </p:spPr>
      </p:pic>
      <p:pic>
        <p:nvPicPr>
          <p:cNvPr id="7" name="Imagem 6">
            <a:extLst>
              <a:ext uri="{FF2B5EF4-FFF2-40B4-BE49-F238E27FC236}">
                <a16:creationId xmlns:a16="http://schemas.microsoft.com/office/drawing/2014/main" id="{BFB24DEB-1012-4C75-B9AE-FD0BA531C4FC}"/>
              </a:ext>
            </a:extLst>
          </p:cNvPr>
          <p:cNvPicPr>
            <a:picLocks noChangeAspect="1"/>
          </p:cNvPicPr>
          <p:nvPr/>
        </p:nvPicPr>
        <p:blipFill>
          <a:blip r:embed="rId5"/>
          <a:stretch>
            <a:fillRect/>
          </a:stretch>
        </p:blipFill>
        <p:spPr>
          <a:xfrm>
            <a:off x="1809984" y="1306554"/>
            <a:ext cx="3041154" cy="1468655"/>
          </a:xfrm>
          <a:prstGeom prst="rect">
            <a:avLst/>
          </a:prstGeom>
        </p:spPr>
      </p:pic>
      <p:sp>
        <p:nvSpPr>
          <p:cNvPr id="2" name="Retângulo 1">
            <a:extLst>
              <a:ext uri="{FF2B5EF4-FFF2-40B4-BE49-F238E27FC236}">
                <a16:creationId xmlns:a16="http://schemas.microsoft.com/office/drawing/2014/main" id="{8988C831-6D7A-29A4-4CF7-770153298E09}"/>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Imagem 5">
            <a:extLst>
              <a:ext uri="{FF2B5EF4-FFF2-40B4-BE49-F238E27FC236}">
                <a16:creationId xmlns:a16="http://schemas.microsoft.com/office/drawing/2014/main" id="{D09A55BD-C32C-A91E-47DE-7B1FA7397283}"/>
              </a:ext>
            </a:extLst>
          </p:cNvPr>
          <p:cNvPicPr>
            <a:picLocks noChangeAspect="1"/>
          </p:cNvPicPr>
          <p:nvPr/>
        </p:nvPicPr>
        <p:blipFill>
          <a:blip r:embed="rId6">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42859698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1217271" y="403594"/>
            <a:ext cx="8229600" cy="709714"/>
          </a:xfrm>
        </p:spPr>
        <p:txBody>
          <a:bodyPr>
            <a:normAutofit/>
          </a:bodyPr>
          <a:lstStyle/>
          <a:p>
            <a:r>
              <a:rPr lang="pt-BR" dirty="0" err="1"/>
              <a:t>Gartner</a:t>
            </a:r>
            <a:endParaRPr lang="pt-BR" dirty="0"/>
          </a:p>
        </p:txBody>
      </p:sp>
      <p:pic>
        <p:nvPicPr>
          <p:cNvPr id="4098" name="Picture 2" descr="2020 Magic Quadrant for Cloud Infrastructure as a Service, Worldwide (Fonte de imagem: Gartner)">
            <a:extLst>
              <a:ext uri="{FF2B5EF4-FFF2-40B4-BE49-F238E27FC236}">
                <a16:creationId xmlns:a16="http://schemas.microsoft.com/office/drawing/2014/main" id="{47A617F1-6261-474D-ACC0-0E2085B96D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8908" y="927231"/>
            <a:ext cx="5500307" cy="5527175"/>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a:extLst>
              <a:ext uri="{FF2B5EF4-FFF2-40B4-BE49-F238E27FC236}">
                <a16:creationId xmlns:a16="http://schemas.microsoft.com/office/drawing/2014/main" id="{B335F7F1-FFE6-F9FA-A585-257B7D2AE39D}"/>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 name="Imagem 3">
            <a:extLst>
              <a:ext uri="{FF2B5EF4-FFF2-40B4-BE49-F238E27FC236}">
                <a16:creationId xmlns:a16="http://schemas.microsoft.com/office/drawing/2014/main" id="{8948B9F8-00D0-D3D8-86A0-ED9B53F4D644}"/>
              </a:ext>
            </a:extLst>
          </p:cNvPr>
          <p:cNvPicPr>
            <a:picLocks noChangeAspect="1"/>
          </p:cNvPicPr>
          <p:nvPr/>
        </p:nvPicPr>
        <p:blipFill>
          <a:blip r:embed="rId4">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25038231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1353100" y="403594"/>
            <a:ext cx="8229600" cy="709714"/>
          </a:xfrm>
        </p:spPr>
        <p:txBody>
          <a:bodyPr>
            <a:normAutofit/>
          </a:bodyPr>
          <a:lstStyle/>
          <a:p>
            <a:r>
              <a:rPr lang="pt-BR" dirty="0"/>
              <a:t>Distribuição Geográfica Azure</a:t>
            </a:r>
          </a:p>
        </p:txBody>
      </p:sp>
      <p:pic>
        <p:nvPicPr>
          <p:cNvPr id="2050" name="Picture 2" descr="AWS vs Azure em 2021 (Comparando os Gigantes da Computação)">
            <a:extLst>
              <a:ext uri="{FF2B5EF4-FFF2-40B4-BE49-F238E27FC236}">
                <a16:creationId xmlns:a16="http://schemas.microsoft.com/office/drawing/2014/main" id="{1BE4D3E4-FCAC-4319-A1F6-2D2C176EA3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7723" y="1225774"/>
            <a:ext cx="8973056" cy="4844827"/>
          </a:xfrm>
          <a:prstGeom prst="rect">
            <a:avLst/>
          </a:prstGeom>
          <a:noFill/>
          <a:extLst>
            <a:ext uri="{909E8E84-426E-40DD-AFC4-6F175D3DCCD1}">
              <a14:hiddenFill xmlns:a14="http://schemas.microsoft.com/office/drawing/2010/main">
                <a:solidFill>
                  <a:srgbClr val="FFFFFF"/>
                </a:solidFill>
              </a14:hiddenFill>
            </a:ext>
          </a:extLst>
        </p:spPr>
      </p:pic>
      <p:sp>
        <p:nvSpPr>
          <p:cNvPr id="7" name="CaixaDeTexto 6">
            <a:extLst>
              <a:ext uri="{FF2B5EF4-FFF2-40B4-BE49-F238E27FC236}">
                <a16:creationId xmlns:a16="http://schemas.microsoft.com/office/drawing/2014/main" id="{7CCA1636-C5B5-406C-B8F6-6660C1EFC46A}"/>
              </a:ext>
            </a:extLst>
          </p:cNvPr>
          <p:cNvSpPr txBox="1"/>
          <p:nvPr/>
        </p:nvSpPr>
        <p:spPr>
          <a:xfrm>
            <a:off x="5577510" y="5846988"/>
            <a:ext cx="1459310" cy="369332"/>
          </a:xfrm>
          <a:prstGeom prst="rect">
            <a:avLst/>
          </a:prstGeom>
          <a:noFill/>
        </p:spPr>
        <p:txBody>
          <a:bodyPr wrap="none" rtlCol="0">
            <a:spAutoFit/>
          </a:bodyPr>
          <a:lstStyle/>
          <a:p>
            <a:r>
              <a:rPr lang="pt-BR" dirty="0"/>
              <a:t>Fonte: </a:t>
            </a:r>
            <a:r>
              <a:rPr lang="pt-BR" dirty="0">
                <a:hlinkClick r:id="rId4"/>
              </a:rPr>
              <a:t>AZURE</a:t>
            </a:r>
            <a:endParaRPr lang="pt-BR" dirty="0"/>
          </a:p>
        </p:txBody>
      </p:sp>
      <p:sp>
        <p:nvSpPr>
          <p:cNvPr id="2" name="Retângulo 1">
            <a:extLst>
              <a:ext uri="{FF2B5EF4-FFF2-40B4-BE49-F238E27FC236}">
                <a16:creationId xmlns:a16="http://schemas.microsoft.com/office/drawing/2014/main" id="{F1C91582-0D37-EB07-EFD1-CB2C12BD7679}"/>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 name="Imagem 3">
            <a:extLst>
              <a:ext uri="{FF2B5EF4-FFF2-40B4-BE49-F238E27FC236}">
                <a16:creationId xmlns:a16="http://schemas.microsoft.com/office/drawing/2014/main" id="{797AC03D-D604-AE6C-178A-AF762697F6D3}"/>
              </a:ext>
            </a:extLst>
          </p:cNvPr>
          <p:cNvPicPr>
            <a:picLocks noChangeAspect="1"/>
          </p:cNvPicPr>
          <p:nvPr/>
        </p:nvPicPr>
        <p:blipFill>
          <a:blip r:embed="rId5">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35543159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1217271" y="412170"/>
            <a:ext cx="8229600" cy="709714"/>
          </a:xfrm>
        </p:spPr>
        <p:txBody>
          <a:bodyPr>
            <a:normAutofit/>
          </a:bodyPr>
          <a:lstStyle/>
          <a:p>
            <a:r>
              <a:rPr lang="pt-BR" dirty="0"/>
              <a:t>Distribuição Geográfica AWS</a:t>
            </a:r>
          </a:p>
        </p:txBody>
      </p:sp>
      <p:pic>
        <p:nvPicPr>
          <p:cNvPr id="4" name="Imagem 3">
            <a:extLst>
              <a:ext uri="{FF2B5EF4-FFF2-40B4-BE49-F238E27FC236}">
                <a16:creationId xmlns:a16="http://schemas.microsoft.com/office/drawing/2014/main" id="{95711C9A-1F97-4C00-B050-7312D1773BE9}"/>
              </a:ext>
            </a:extLst>
          </p:cNvPr>
          <p:cNvPicPr>
            <a:picLocks noChangeAspect="1"/>
          </p:cNvPicPr>
          <p:nvPr/>
        </p:nvPicPr>
        <p:blipFill rotWithShape="1">
          <a:blip r:embed="rId3"/>
          <a:srcRect l="19288" t="20586" r="18500" b="20586"/>
          <a:stretch/>
        </p:blipFill>
        <p:spPr>
          <a:xfrm>
            <a:off x="2161492" y="1288192"/>
            <a:ext cx="8262058" cy="4392488"/>
          </a:xfrm>
          <a:prstGeom prst="rect">
            <a:avLst/>
          </a:prstGeom>
        </p:spPr>
      </p:pic>
      <p:sp>
        <p:nvSpPr>
          <p:cNvPr id="5" name="CaixaDeTexto 4">
            <a:extLst>
              <a:ext uri="{FF2B5EF4-FFF2-40B4-BE49-F238E27FC236}">
                <a16:creationId xmlns:a16="http://schemas.microsoft.com/office/drawing/2014/main" id="{66AA305E-3C02-47B1-A220-3692D5F5E112}"/>
              </a:ext>
            </a:extLst>
          </p:cNvPr>
          <p:cNvSpPr txBox="1"/>
          <p:nvPr/>
        </p:nvSpPr>
        <p:spPr>
          <a:xfrm>
            <a:off x="5577510" y="5846988"/>
            <a:ext cx="1267976" cy="369332"/>
          </a:xfrm>
          <a:prstGeom prst="rect">
            <a:avLst/>
          </a:prstGeom>
          <a:noFill/>
        </p:spPr>
        <p:txBody>
          <a:bodyPr wrap="none" rtlCol="0">
            <a:spAutoFit/>
          </a:bodyPr>
          <a:lstStyle/>
          <a:p>
            <a:r>
              <a:rPr lang="pt-BR" dirty="0"/>
              <a:t>Fonte: </a:t>
            </a:r>
            <a:r>
              <a:rPr lang="pt-BR" dirty="0">
                <a:hlinkClick r:id="rId4"/>
              </a:rPr>
              <a:t>AWS</a:t>
            </a:r>
            <a:endParaRPr lang="pt-BR" dirty="0"/>
          </a:p>
        </p:txBody>
      </p:sp>
      <p:sp>
        <p:nvSpPr>
          <p:cNvPr id="2" name="Retângulo 1">
            <a:extLst>
              <a:ext uri="{FF2B5EF4-FFF2-40B4-BE49-F238E27FC236}">
                <a16:creationId xmlns:a16="http://schemas.microsoft.com/office/drawing/2014/main" id="{C8F018A5-C0B4-34DA-E944-51F3D5C40C23}"/>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Imagem 5">
            <a:extLst>
              <a:ext uri="{FF2B5EF4-FFF2-40B4-BE49-F238E27FC236}">
                <a16:creationId xmlns:a16="http://schemas.microsoft.com/office/drawing/2014/main" id="{CB58454C-4AFD-54B7-9B4C-9F632A055D32}"/>
              </a:ext>
            </a:extLst>
          </p:cNvPr>
          <p:cNvPicPr>
            <a:picLocks noChangeAspect="1"/>
          </p:cNvPicPr>
          <p:nvPr/>
        </p:nvPicPr>
        <p:blipFill>
          <a:blip r:embed="rId5">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2786503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1228846" y="403594"/>
            <a:ext cx="8229600" cy="709714"/>
          </a:xfrm>
        </p:spPr>
        <p:txBody>
          <a:bodyPr>
            <a:normAutofit/>
          </a:bodyPr>
          <a:lstStyle/>
          <a:p>
            <a:r>
              <a:rPr lang="pt-BR" dirty="0"/>
              <a:t>Modelos de Serviços</a:t>
            </a:r>
          </a:p>
        </p:txBody>
      </p:sp>
      <p:pic>
        <p:nvPicPr>
          <p:cNvPr id="6" name="Imagem 5">
            <a:extLst>
              <a:ext uri="{FF2B5EF4-FFF2-40B4-BE49-F238E27FC236}">
                <a16:creationId xmlns:a16="http://schemas.microsoft.com/office/drawing/2014/main" id="{45A3763C-9EF7-441F-A2A1-FBE5FE9990BB}"/>
              </a:ext>
            </a:extLst>
          </p:cNvPr>
          <p:cNvPicPr>
            <a:picLocks noChangeAspect="1"/>
          </p:cNvPicPr>
          <p:nvPr/>
        </p:nvPicPr>
        <p:blipFill rotWithShape="1">
          <a:blip r:embed="rId3"/>
          <a:srcRect l="30312" t="34593" r="26375" b="23388"/>
          <a:stretch/>
        </p:blipFill>
        <p:spPr>
          <a:xfrm>
            <a:off x="2139338" y="1379388"/>
            <a:ext cx="7913324" cy="4316361"/>
          </a:xfrm>
          <a:prstGeom prst="rect">
            <a:avLst/>
          </a:prstGeom>
        </p:spPr>
      </p:pic>
      <p:sp>
        <p:nvSpPr>
          <p:cNvPr id="2" name="Retângulo 1">
            <a:extLst>
              <a:ext uri="{FF2B5EF4-FFF2-40B4-BE49-F238E27FC236}">
                <a16:creationId xmlns:a16="http://schemas.microsoft.com/office/drawing/2014/main" id="{DC2CDA14-8D97-141F-F801-04AD6225F622}"/>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 name="Imagem 3">
            <a:extLst>
              <a:ext uri="{FF2B5EF4-FFF2-40B4-BE49-F238E27FC236}">
                <a16:creationId xmlns:a16="http://schemas.microsoft.com/office/drawing/2014/main" id="{A8FBA036-E483-8617-EF9D-B01CDB2C6ED1}"/>
              </a:ext>
            </a:extLst>
          </p:cNvPr>
          <p:cNvPicPr>
            <a:picLocks noChangeAspect="1"/>
          </p:cNvPicPr>
          <p:nvPr/>
        </p:nvPicPr>
        <p:blipFill>
          <a:blip r:embed="rId4">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1333796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1089949" y="1021199"/>
            <a:ext cx="10508910" cy="4827992"/>
          </a:xfrm>
        </p:spPr>
        <p:txBody>
          <a:bodyPr>
            <a:noAutofit/>
          </a:bodyPr>
          <a:lstStyle/>
          <a:p>
            <a:pPr algn="just">
              <a:lnSpc>
                <a:spcPct val="150000"/>
              </a:lnSpc>
            </a:pPr>
            <a:r>
              <a:rPr lang="pt-BR" dirty="0"/>
              <a:t>Software as a Service;</a:t>
            </a:r>
          </a:p>
          <a:p>
            <a:pPr algn="just">
              <a:lnSpc>
                <a:spcPct val="150000"/>
              </a:lnSpc>
            </a:pPr>
            <a:r>
              <a:rPr lang="pt-BR" dirty="0"/>
              <a:t>Aplicações hospedadas na nuvem;</a:t>
            </a:r>
          </a:p>
          <a:p>
            <a:pPr algn="just">
              <a:lnSpc>
                <a:spcPct val="150000"/>
              </a:lnSpc>
            </a:pPr>
            <a:r>
              <a:rPr lang="pt-BR" dirty="0"/>
              <a:t>O modelo de SaaS proporciona softwares com propósitos específicos que são disponíveis para os usuários através da Internet;</a:t>
            </a:r>
          </a:p>
          <a:p>
            <a:pPr algn="just">
              <a:lnSpc>
                <a:spcPct val="150000"/>
              </a:lnSpc>
            </a:pPr>
            <a:r>
              <a:rPr lang="pt-BR" dirty="0"/>
              <a:t>Os softwares são acessíveis a partir de vários dispositivos do usuário por meio de uma interface </a:t>
            </a:r>
            <a:r>
              <a:rPr lang="pt-BR" dirty="0" err="1"/>
              <a:t>thinclient</a:t>
            </a:r>
            <a:r>
              <a:rPr lang="pt-BR" dirty="0"/>
              <a:t> como um navegador Web; e</a:t>
            </a:r>
          </a:p>
          <a:p>
            <a:pPr algn="just">
              <a:lnSpc>
                <a:spcPct val="150000"/>
              </a:lnSpc>
            </a:pPr>
            <a:r>
              <a:rPr lang="pt-BR" dirty="0"/>
              <a:t>O SaaS reduz os custos dispensa a aquisição de licenças de softwares.</a:t>
            </a:r>
          </a:p>
        </p:txBody>
      </p:sp>
      <p:sp>
        <p:nvSpPr>
          <p:cNvPr id="3" name="Título 2"/>
          <p:cNvSpPr>
            <a:spLocks noGrp="1"/>
          </p:cNvSpPr>
          <p:nvPr>
            <p:ph type="title"/>
          </p:nvPr>
        </p:nvSpPr>
        <p:spPr>
          <a:xfrm>
            <a:off x="1089949" y="403594"/>
            <a:ext cx="8229600" cy="709714"/>
          </a:xfrm>
        </p:spPr>
        <p:txBody>
          <a:bodyPr>
            <a:normAutofit/>
          </a:bodyPr>
          <a:lstStyle/>
          <a:p>
            <a:r>
              <a:rPr lang="pt-BR" dirty="0"/>
              <a:t>SaaS</a:t>
            </a:r>
          </a:p>
        </p:txBody>
      </p:sp>
      <p:sp>
        <p:nvSpPr>
          <p:cNvPr id="4" name="Retângulo 3">
            <a:extLst>
              <a:ext uri="{FF2B5EF4-FFF2-40B4-BE49-F238E27FC236}">
                <a16:creationId xmlns:a16="http://schemas.microsoft.com/office/drawing/2014/main" id="{68B425AA-6856-4527-8764-14BF258856C7}"/>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4171AD43-C703-ACB7-3264-22E8E1DB93A7}"/>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3064013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m 6">
            <a:extLst>
              <a:ext uri="{FF2B5EF4-FFF2-40B4-BE49-F238E27FC236}">
                <a16:creationId xmlns:a16="http://schemas.microsoft.com/office/drawing/2014/main" id="{D0E6460F-79D4-43C6-A3FC-9C53AE16C819}"/>
              </a:ext>
            </a:extLst>
          </p:cNvPr>
          <p:cNvPicPr>
            <a:picLocks noChangeAspect="1"/>
          </p:cNvPicPr>
          <p:nvPr/>
        </p:nvPicPr>
        <p:blipFill>
          <a:blip r:embed="rId3"/>
          <a:stretch>
            <a:fillRect/>
          </a:stretch>
        </p:blipFill>
        <p:spPr>
          <a:xfrm>
            <a:off x="4511825" y="2564904"/>
            <a:ext cx="5942919" cy="3528392"/>
          </a:xfrm>
          <a:prstGeom prst="rect">
            <a:avLst/>
          </a:prstGeom>
        </p:spPr>
      </p:pic>
      <p:sp>
        <p:nvSpPr>
          <p:cNvPr id="3" name="Título 2"/>
          <p:cNvSpPr>
            <a:spLocks noGrp="1"/>
          </p:cNvSpPr>
          <p:nvPr>
            <p:ph type="title"/>
          </p:nvPr>
        </p:nvSpPr>
        <p:spPr>
          <a:xfrm>
            <a:off x="1147823" y="415031"/>
            <a:ext cx="8229600" cy="709714"/>
          </a:xfrm>
        </p:spPr>
        <p:txBody>
          <a:bodyPr>
            <a:normAutofit/>
          </a:bodyPr>
          <a:lstStyle/>
          <a:p>
            <a:r>
              <a:rPr lang="pt-BR" dirty="0"/>
              <a:t>SaaS</a:t>
            </a:r>
          </a:p>
        </p:txBody>
      </p:sp>
      <p:pic>
        <p:nvPicPr>
          <p:cNvPr id="6" name="Imagem 5">
            <a:extLst>
              <a:ext uri="{FF2B5EF4-FFF2-40B4-BE49-F238E27FC236}">
                <a16:creationId xmlns:a16="http://schemas.microsoft.com/office/drawing/2014/main" id="{CBA57C88-AB6A-4C41-BC06-6662B9EAD728}"/>
              </a:ext>
            </a:extLst>
          </p:cNvPr>
          <p:cNvPicPr>
            <a:picLocks noChangeAspect="1"/>
          </p:cNvPicPr>
          <p:nvPr/>
        </p:nvPicPr>
        <p:blipFill>
          <a:blip r:embed="rId4"/>
          <a:stretch>
            <a:fillRect/>
          </a:stretch>
        </p:blipFill>
        <p:spPr>
          <a:xfrm>
            <a:off x="1970936" y="1124745"/>
            <a:ext cx="3909040" cy="2485396"/>
          </a:xfrm>
          <a:prstGeom prst="rect">
            <a:avLst/>
          </a:prstGeom>
        </p:spPr>
      </p:pic>
      <p:sp>
        <p:nvSpPr>
          <p:cNvPr id="2" name="Retângulo 1">
            <a:extLst>
              <a:ext uri="{FF2B5EF4-FFF2-40B4-BE49-F238E27FC236}">
                <a16:creationId xmlns:a16="http://schemas.microsoft.com/office/drawing/2014/main" id="{7D45076F-8A9A-F680-6B93-AADA9B06E1BC}"/>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 name="Imagem 3">
            <a:extLst>
              <a:ext uri="{FF2B5EF4-FFF2-40B4-BE49-F238E27FC236}">
                <a16:creationId xmlns:a16="http://schemas.microsoft.com/office/drawing/2014/main" id="{B1EA4C58-C7C0-A837-00D0-A079D0162C1B}"/>
              </a:ext>
            </a:extLst>
          </p:cNvPr>
          <p:cNvPicPr>
            <a:picLocks noChangeAspect="1"/>
          </p:cNvPicPr>
          <p:nvPr/>
        </p:nvPicPr>
        <p:blipFill>
          <a:blip r:embed="rId5">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13877720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1251995" y="1455147"/>
            <a:ext cx="10346864" cy="4827992"/>
          </a:xfrm>
        </p:spPr>
        <p:txBody>
          <a:bodyPr>
            <a:noAutofit/>
          </a:bodyPr>
          <a:lstStyle/>
          <a:p>
            <a:pPr algn="just"/>
            <a:r>
              <a:rPr lang="pt-BR" dirty="0" err="1"/>
              <a:t>Plataform</a:t>
            </a:r>
            <a:r>
              <a:rPr lang="pt-BR" dirty="0"/>
              <a:t> as a Service;</a:t>
            </a:r>
          </a:p>
          <a:p>
            <a:pPr algn="just"/>
            <a:r>
              <a:rPr lang="pt-BR" dirty="0"/>
              <a:t>Oferece uma infraestrutura de alto nível de integração para implementar e testar aplicações na nuvem;</a:t>
            </a:r>
          </a:p>
          <a:p>
            <a:pPr algn="just"/>
            <a:r>
              <a:rPr lang="pt-BR" dirty="0"/>
              <a:t>O usuário não administra ou controla a infraestrutura:</a:t>
            </a:r>
          </a:p>
          <a:p>
            <a:pPr lvl="1" algn="just"/>
            <a:r>
              <a:rPr lang="pt-BR" dirty="0"/>
              <a:t> Rede, servidores, sistemas operacionais ou armazenamento; e</a:t>
            </a:r>
          </a:p>
          <a:p>
            <a:pPr lvl="1" algn="just"/>
            <a:r>
              <a:rPr lang="pt-BR" dirty="0"/>
              <a:t> Possui controle sobre as aplicações implantadas e as configurações de aplicações hospedadas nesta infraestrutura.</a:t>
            </a:r>
          </a:p>
          <a:p>
            <a:pPr algn="just"/>
            <a:r>
              <a:rPr lang="pt-BR" dirty="0"/>
              <a:t>A PaaS fornece: Sistema Operacional, Linguagens de Programação, Ambientes de Desenvolvimento.</a:t>
            </a:r>
          </a:p>
        </p:txBody>
      </p:sp>
      <p:sp>
        <p:nvSpPr>
          <p:cNvPr id="3" name="Título 2"/>
          <p:cNvSpPr>
            <a:spLocks noGrp="1"/>
          </p:cNvSpPr>
          <p:nvPr>
            <p:ph type="title"/>
          </p:nvPr>
        </p:nvSpPr>
        <p:spPr>
          <a:xfrm>
            <a:off x="1251995" y="403594"/>
            <a:ext cx="8229600" cy="709714"/>
          </a:xfrm>
        </p:spPr>
        <p:txBody>
          <a:bodyPr>
            <a:normAutofit/>
          </a:bodyPr>
          <a:lstStyle/>
          <a:p>
            <a:r>
              <a:rPr lang="pt-BR" dirty="0"/>
              <a:t>PaaS</a:t>
            </a:r>
          </a:p>
        </p:txBody>
      </p:sp>
      <p:sp>
        <p:nvSpPr>
          <p:cNvPr id="4" name="Retângulo 3">
            <a:extLst>
              <a:ext uri="{FF2B5EF4-FFF2-40B4-BE49-F238E27FC236}">
                <a16:creationId xmlns:a16="http://schemas.microsoft.com/office/drawing/2014/main" id="{EA5835AA-4AF5-7684-D44E-2E6567808B14}"/>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35C990F5-0071-45A7-9F39-CBC4F67AB0F5}"/>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3624452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1170972" y="461225"/>
            <a:ext cx="8229600" cy="709714"/>
          </a:xfrm>
        </p:spPr>
        <p:txBody>
          <a:bodyPr>
            <a:normAutofit/>
          </a:bodyPr>
          <a:lstStyle/>
          <a:p>
            <a:r>
              <a:rPr lang="pt-BR" dirty="0"/>
              <a:t>PaaS</a:t>
            </a:r>
          </a:p>
        </p:txBody>
      </p:sp>
      <p:pic>
        <p:nvPicPr>
          <p:cNvPr id="2" name="Imagem 1">
            <a:extLst>
              <a:ext uri="{FF2B5EF4-FFF2-40B4-BE49-F238E27FC236}">
                <a16:creationId xmlns:a16="http://schemas.microsoft.com/office/drawing/2014/main" id="{5CE0562C-0721-406B-8CDC-BA465FD44DC0}"/>
              </a:ext>
            </a:extLst>
          </p:cNvPr>
          <p:cNvPicPr>
            <a:picLocks noChangeAspect="1"/>
          </p:cNvPicPr>
          <p:nvPr/>
        </p:nvPicPr>
        <p:blipFill>
          <a:blip r:embed="rId3"/>
          <a:stretch>
            <a:fillRect/>
          </a:stretch>
        </p:blipFill>
        <p:spPr>
          <a:xfrm>
            <a:off x="946270" y="1170939"/>
            <a:ext cx="4620096" cy="2602654"/>
          </a:xfrm>
          <a:prstGeom prst="rect">
            <a:avLst/>
          </a:prstGeom>
        </p:spPr>
      </p:pic>
      <p:pic>
        <p:nvPicPr>
          <p:cNvPr id="4" name="Imagem 3">
            <a:extLst>
              <a:ext uri="{FF2B5EF4-FFF2-40B4-BE49-F238E27FC236}">
                <a16:creationId xmlns:a16="http://schemas.microsoft.com/office/drawing/2014/main" id="{9460F1B9-6685-4BE8-96C7-02B0B98315D1}"/>
              </a:ext>
            </a:extLst>
          </p:cNvPr>
          <p:cNvPicPr>
            <a:picLocks noChangeAspect="1"/>
          </p:cNvPicPr>
          <p:nvPr/>
        </p:nvPicPr>
        <p:blipFill>
          <a:blip r:embed="rId4"/>
          <a:stretch>
            <a:fillRect/>
          </a:stretch>
        </p:blipFill>
        <p:spPr>
          <a:xfrm>
            <a:off x="6417291" y="3225775"/>
            <a:ext cx="4973224" cy="2602654"/>
          </a:xfrm>
          <a:prstGeom prst="rect">
            <a:avLst/>
          </a:prstGeom>
        </p:spPr>
      </p:pic>
      <p:sp>
        <p:nvSpPr>
          <p:cNvPr id="5" name="Retângulo 4">
            <a:extLst>
              <a:ext uri="{FF2B5EF4-FFF2-40B4-BE49-F238E27FC236}">
                <a16:creationId xmlns:a16="http://schemas.microsoft.com/office/drawing/2014/main" id="{35457750-D44E-2806-AFE8-117069E1BDD8}"/>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Imagem 5">
            <a:extLst>
              <a:ext uri="{FF2B5EF4-FFF2-40B4-BE49-F238E27FC236}">
                <a16:creationId xmlns:a16="http://schemas.microsoft.com/office/drawing/2014/main" id="{F257B5F1-BEFA-04AA-79CC-94A6E0E60948}"/>
              </a:ext>
            </a:extLst>
          </p:cNvPr>
          <p:cNvPicPr>
            <a:picLocks noChangeAspect="1"/>
          </p:cNvPicPr>
          <p:nvPr/>
        </p:nvPicPr>
        <p:blipFill>
          <a:blip r:embed="rId5">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6489719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1032076" y="1261640"/>
            <a:ext cx="10716228" cy="4619087"/>
          </a:xfrm>
        </p:spPr>
        <p:txBody>
          <a:bodyPr>
            <a:noAutofit/>
          </a:bodyPr>
          <a:lstStyle/>
          <a:p>
            <a:pPr algn="just">
              <a:lnSpc>
                <a:spcPct val="150000"/>
              </a:lnSpc>
            </a:pPr>
            <a:r>
              <a:rPr lang="pt-BR" dirty="0" err="1"/>
              <a:t>Infrastructure</a:t>
            </a:r>
            <a:r>
              <a:rPr lang="pt-BR" dirty="0"/>
              <a:t> as a Service;</a:t>
            </a:r>
          </a:p>
          <a:p>
            <a:pPr algn="just">
              <a:lnSpc>
                <a:spcPct val="150000"/>
              </a:lnSpc>
            </a:pPr>
            <a:r>
              <a:rPr lang="pt-BR" dirty="0"/>
              <a:t>Responsável por prover toda a infraestrutura necessária para a PaaS e o SaaS; </a:t>
            </a:r>
          </a:p>
          <a:p>
            <a:pPr algn="just">
              <a:lnSpc>
                <a:spcPct val="150000"/>
              </a:lnSpc>
            </a:pPr>
            <a:r>
              <a:rPr lang="pt-BR" dirty="0"/>
              <a:t>O principal objetivo é tornar mais fácil e acessível o fornecimento de recursos computação (Servidores, rede, armazenamento) fundamentais para construir um ambiente de aplicação sob demanda;</a:t>
            </a:r>
          </a:p>
          <a:p>
            <a:pPr algn="just">
              <a:lnSpc>
                <a:spcPct val="150000"/>
              </a:lnSpc>
            </a:pPr>
            <a:r>
              <a:rPr lang="pt-BR" dirty="0"/>
              <a:t>Podem incluir Sistemas Operacionais e Aplicativo.</a:t>
            </a:r>
          </a:p>
        </p:txBody>
      </p:sp>
      <p:sp>
        <p:nvSpPr>
          <p:cNvPr id="3" name="Título 2"/>
          <p:cNvSpPr>
            <a:spLocks noGrp="1"/>
          </p:cNvSpPr>
          <p:nvPr>
            <p:ph type="title"/>
          </p:nvPr>
        </p:nvSpPr>
        <p:spPr>
          <a:xfrm>
            <a:off x="1032076" y="403594"/>
            <a:ext cx="8229600" cy="709714"/>
          </a:xfrm>
        </p:spPr>
        <p:txBody>
          <a:bodyPr>
            <a:normAutofit/>
          </a:bodyPr>
          <a:lstStyle/>
          <a:p>
            <a:r>
              <a:rPr lang="pt-BR" dirty="0"/>
              <a:t>IaaS</a:t>
            </a:r>
          </a:p>
        </p:txBody>
      </p:sp>
      <p:sp>
        <p:nvSpPr>
          <p:cNvPr id="4" name="Retângulo 3">
            <a:extLst>
              <a:ext uri="{FF2B5EF4-FFF2-40B4-BE49-F238E27FC236}">
                <a16:creationId xmlns:a16="http://schemas.microsoft.com/office/drawing/2014/main" id="{631581B7-BAF1-A81E-E920-483866890735}"/>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9216DF30-1B68-877A-C34E-B5618F0365B6}"/>
              </a:ext>
            </a:extLst>
          </p:cNvPr>
          <p:cNvPicPr>
            <a:picLocks noChangeAspect="1"/>
          </p:cNvPicPr>
          <p:nvPr/>
        </p:nvPicPr>
        <p:blipFill>
          <a:blip r:embed="rId3">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2724982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1250775" y="403594"/>
            <a:ext cx="8229600" cy="709714"/>
          </a:xfrm>
        </p:spPr>
        <p:txBody>
          <a:bodyPr>
            <a:normAutofit/>
          </a:bodyPr>
          <a:lstStyle/>
          <a:p>
            <a:r>
              <a:rPr lang="pt-BR" dirty="0"/>
              <a:t>Papéis na Nuvem</a:t>
            </a:r>
          </a:p>
        </p:txBody>
      </p:sp>
      <p:pic>
        <p:nvPicPr>
          <p:cNvPr id="7" name="Imagem 6">
            <a:extLst>
              <a:ext uri="{FF2B5EF4-FFF2-40B4-BE49-F238E27FC236}">
                <a16:creationId xmlns:a16="http://schemas.microsoft.com/office/drawing/2014/main" id="{8254469E-B8EB-48FA-B629-AC31A6BAD85E}"/>
              </a:ext>
            </a:extLst>
          </p:cNvPr>
          <p:cNvPicPr>
            <a:picLocks noChangeAspect="1"/>
          </p:cNvPicPr>
          <p:nvPr/>
        </p:nvPicPr>
        <p:blipFill rotWithShape="1">
          <a:blip r:embed="rId3"/>
          <a:srcRect l="22438" t="21987" r="24013" b="13583"/>
          <a:stretch/>
        </p:blipFill>
        <p:spPr>
          <a:xfrm>
            <a:off x="3032568" y="1384961"/>
            <a:ext cx="6721990" cy="4547230"/>
          </a:xfrm>
          <a:prstGeom prst="rect">
            <a:avLst/>
          </a:prstGeom>
        </p:spPr>
      </p:pic>
      <p:sp>
        <p:nvSpPr>
          <p:cNvPr id="2" name="Retângulo 1">
            <a:extLst>
              <a:ext uri="{FF2B5EF4-FFF2-40B4-BE49-F238E27FC236}">
                <a16:creationId xmlns:a16="http://schemas.microsoft.com/office/drawing/2014/main" id="{CBCC82D3-5764-EB71-9D20-F81CD6A44ED8}"/>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 name="Imagem 3">
            <a:extLst>
              <a:ext uri="{FF2B5EF4-FFF2-40B4-BE49-F238E27FC236}">
                <a16:creationId xmlns:a16="http://schemas.microsoft.com/office/drawing/2014/main" id="{37DEECAC-4A0C-1944-81D3-C8BB9EF5184F}"/>
              </a:ext>
            </a:extLst>
          </p:cNvPr>
          <p:cNvPicPr>
            <a:picLocks noChangeAspect="1"/>
          </p:cNvPicPr>
          <p:nvPr/>
        </p:nvPicPr>
        <p:blipFill>
          <a:blip r:embed="rId4">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4798448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858B343-1E5B-49E0-986E-1F0D98A6FD9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6529"/>
          <a:stretch/>
        </p:blipFill>
        <p:spPr bwMode="auto">
          <a:xfrm>
            <a:off x="2836961" y="362323"/>
            <a:ext cx="6745739" cy="5465551"/>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a:extLst>
              <a:ext uri="{FF2B5EF4-FFF2-40B4-BE49-F238E27FC236}">
                <a16:creationId xmlns:a16="http://schemas.microsoft.com/office/drawing/2014/main" id="{5577A9D5-989F-435A-3A53-13BB36E3E9CB}"/>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 name="Imagem 2">
            <a:extLst>
              <a:ext uri="{FF2B5EF4-FFF2-40B4-BE49-F238E27FC236}">
                <a16:creationId xmlns:a16="http://schemas.microsoft.com/office/drawing/2014/main" id="{EC739879-B213-F901-65D4-BD051E811AA0}"/>
              </a:ext>
            </a:extLst>
          </p:cNvPr>
          <p:cNvPicPr>
            <a:picLocks noChangeAspect="1"/>
          </p:cNvPicPr>
          <p:nvPr/>
        </p:nvPicPr>
        <p:blipFill>
          <a:blip r:embed="rId4">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23138741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858B343-1E5B-49E0-986E-1F0D98A6FD9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2849"/>
          <a:stretch/>
        </p:blipFill>
        <p:spPr bwMode="auto">
          <a:xfrm>
            <a:off x="2964276" y="783393"/>
            <a:ext cx="6850305" cy="4894242"/>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a:extLst>
              <a:ext uri="{FF2B5EF4-FFF2-40B4-BE49-F238E27FC236}">
                <a16:creationId xmlns:a16="http://schemas.microsoft.com/office/drawing/2014/main" id="{7BFB8654-C4E4-8F1E-8F4B-B7976FF3C40D}"/>
              </a:ext>
            </a:extLst>
          </p:cNvPr>
          <p:cNvSpPr/>
          <p:nvPr/>
        </p:nvSpPr>
        <p:spPr>
          <a:xfrm>
            <a:off x="587375" y="550313"/>
            <a:ext cx="103014" cy="416276"/>
          </a:xfrm>
          <a:prstGeom prst="rect">
            <a:avLst/>
          </a:prstGeom>
          <a:solidFill>
            <a:srgbClr val="FF7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 name="Imagem 2">
            <a:extLst>
              <a:ext uri="{FF2B5EF4-FFF2-40B4-BE49-F238E27FC236}">
                <a16:creationId xmlns:a16="http://schemas.microsoft.com/office/drawing/2014/main" id="{D9347A81-2388-6EAE-87C3-D52B283325B1}"/>
              </a:ext>
            </a:extLst>
          </p:cNvPr>
          <p:cNvPicPr>
            <a:picLocks noChangeAspect="1"/>
          </p:cNvPicPr>
          <p:nvPr/>
        </p:nvPicPr>
        <p:blipFill>
          <a:blip r:embed="rId4">
            <a:alphaModFix amt="35000"/>
          </a:blip>
          <a:stretch>
            <a:fillRect/>
          </a:stretch>
        </p:blipFill>
        <p:spPr>
          <a:xfrm>
            <a:off x="9582700" y="6070601"/>
            <a:ext cx="2016159" cy="425076"/>
          </a:xfrm>
          <a:prstGeom prst="rect">
            <a:avLst/>
          </a:prstGeom>
        </p:spPr>
      </p:pic>
    </p:spTree>
    <p:extLst>
      <p:ext uri="{BB962C8B-B14F-4D97-AF65-F5344CB8AC3E}">
        <p14:creationId xmlns:p14="http://schemas.microsoft.com/office/powerpoint/2010/main" val="248647116"/>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4345</TotalTime>
  <Words>2126</Words>
  <Application>Microsoft Office PowerPoint</Application>
  <PresentationFormat>Widescreen</PresentationFormat>
  <Paragraphs>187</Paragraphs>
  <Slides>44</Slides>
  <Notes>41</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44</vt:i4>
      </vt:variant>
    </vt:vector>
  </HeadingPairs>
  <TitlesOfParts>
    <vt:vector size="49" baseType="lpstr">
      <vt:lpstr>Arial</vt:lpstr>
      <vt:lpstr>Calibri</vt:lpstr>
      <vt:lpstr>Calibri Light</vt:lpstr>
      <vt:lpstr>Montserrat</vt:lpstr>
      <vt:lpstr>Tema do Office</vt:lpstr>
      <vt:lpstr>Apresentação do PowerPoint</vt:lpstr>
      <vt:lpstr>SIBC - Sistema de Informação Baseado em Computador</vt:lpstr>
      <vt:lpstr>Apresentação do PowerPoint</vt:lpstr>
      <vt:lpstr>Servidores</vt:lpstr>
      <vt:lpstr>O que é um Data Center?</vt:lpstr>
      <vt:lpstr>Componentes Básicos Data Center?</vt:lpstr>
      <vt:lpstr>Apresentação do PowerPoint</vt:lpstr>
      <vt:lpstr>O que é um Servidor?</vt:lpstr>
      <vt:lpstr>Servidores</vt:lpstr>
      <vt:lpstr>Data Center</vt:lpstr>
      <vt:lpstr>Apresentação do PowerPoint</vt:lpstr>
      <vt:lpstr>O que são Sistema Operacional?</vt:lpstr>
      <vt:lpstr>Servidores de Aplicações WEB?</vt:lpstr>
      <vt:lpstr>Características Servidores WEB?</vt:lpstr>
      <vt:lpstr>Registro de Domínio?</vt:lpstr>
      <vt:lpstr>Registro de Domínio?</vt:lpstr>
      <vt:lpstr>Servidor de DNS?</vt:lpstr>
      <vt:lpstr>Sistema Gerenciador de Banco de Dados?</vt:lpstr>
      <vt:lpstr>HTTP</vt:lpstr>
      <vt:lpstr>HTTPs</vt:lpstr>
      <vt:lpstr>Apresentação do PowerPoint</vt:lpstr>
      <vt:lpstr>Data Center</vt:lpstr>
      <vt:lpstr>Cloud Computing</vt:lpstr>
      <vt:lpstr>O que é um Cloud Computing?</vt:lpstr>
      <vt:lpstr>Características?</vt:lpstr>
      <vt:lpstr>Características?</vt:lpstr>
      <vt:lpstr>Tipos de Clouds?</vt:lpstr>
      <vt:lpstr>Com Cloud...</vt:lpstr>
      <vt:lpstr>A Virtualização contribuiu para Cloud Computing...</vt:lpstr>
      <vt:lpstr>Virtualização</vt:lpstr>
      <vt:lpstr>Virtualização</vt:lpstr>
      <vt:lpstr>Software Virtualização</vt:lpstr>
      <vt:lpstr>Gartner</vt:lpstr>
      <vt:lpstr>Distribuição Geográfica Azure</vt:lpstr>
      <vt:lpstr>Distribuição Geográfica AWS</vt:lpstr>
      <vt:lpstr>Modelos de Serviços</vt:lpstr>
      <vt:lpstr>SaaS</vt:lpstr>
      <vt:lpstr>SaaS</vt:lpstr>
      <vt:lpstr>PaaS</vt:lpstr>
      <vt:lpstr>PaaS</vt:lpstr>
      <vt:lpstr>IaaS</vt:lpstr>
      <vt:lpstr>Papéis na Nuvem</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Microsoft Office User</dc:creator>
  <cp:lastModifiedBy>Alisson Augusto Carnelos Kuhn</cp:lastModifiedBy>
  <cp:revision>318</cp:revision>
  <dcterms:created xsi:type="dcterms:W3CDTF">2019-11-06T12:21:33Z</dcterms:created>
  <dcterms:modified xsi:type="dcterms:W3CDTF">2025-02-27T01:09:21Z</dcterms:modified>
</cp:coreProperties>
</file>